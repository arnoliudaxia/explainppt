
<file path=[Content_Types].xml><?xml version="1.0" encoding="utf-8"?>
<Types xmlns="http://schemas.openxmlformats.org/package/2006/content-types">
  <Default Extension="png" ContentType="image/png"/>
  <Default Extension="emf" ContentType="image/x-emf"/>
  <Default Extension="wmf" ContentType="image/x-w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handoutMasterIdLst>
    <p:handoutMasterId r:id="rId59"/>
  </p:handoutMasterIdLst>
  <p:sldIdLst>
    <p:sldId id="533" r:id="rId2"/>
    <p:sldId id="535" r:id="rId3"/>
    <p:sldId id="536" r:id="rId4"/>
    <p:sldId id="537" r:id="rId5"/>
    <p:sldId id="538" r:id="rId6"/>
    <p:sldId id="539" r:id="rId7"/>
    <p:sldId id="540" r:id="rId8"/>
    <p:sldId id="542" r:id="rId9"/>
    <p:sldId id="543" r:id="rId10"/>
    <p:sldId id="544" r:id="rId11"/>
    <p:sldId id="561" r:id="rId12"/>
    <p:sldId id="477" r:id="rId13"/>
    <p:sldId id="478" r:id="rId14"/>
    <p:sldId id="479" r:id="rId15"/>
    <p:sldId id="480" r:id="rId16"/>
    <p:sldId id="481" r:id="rId17"/>
    <p:sldId id="482" r:id="rId18"/>
    <p:sldId id="483" r:id="rId19"/>
    <p:sldId id="484" r:id="rId20"/>
    <p:sldId id="485" r:id="rId21"/>
    <p:sldId id="486" r:id="rId22"/>
    <p:sldId id="487" r:id="rId23"/>
    <p:sldId id="488" r:id="rId24"/>
    <p:sldId id="546" r:id="rId25"/>
    <p:sldId id="545" r:id="rId26"/>
    <p:sldId id="547" r:id="rId27"/>
    <p:sldId id="548" r:id="rId28"/>
    <p:sldId id="553" r:id="rId29"/>
    <p:sldId id="550" r:id="rId30"/>
    <p:sldId id="551" r:id="rId31"/>
    <p:sldId id="562" r:id="rId32"/>
    <p:sldId id="501" r:id="rId33"/>
    <p:sldId id="502" r:id="rId34"/>
    <p:sldId id="555" r:id="rId35"/>
    <p:sldId id="554" r:id="rId36"/>
    <p:sldId id="506" r:id="rId37"/>
    <p:sldId id="507" r:id="rId38"/>
    <p:sldId id="508" r:id="rId39"/>
    <p:sldId id="509" r:id="rId40"/>
    <p:sldId id="510" r:id="rId41"/>
    <p:sldId id="511" r:id="rId42"/>
    <p:sldId id="512" r:id="rId43"/>
    <p:sldId id="513" r:id="rId44"/>
    <p:sldId id="514" r:id="rId45"/>
    <p:sldId id="518" r:id="rId46"/>
    <p:sldId id="519" r:id="rId47"/>
    <p:sldId id="520" r:id="rId48"/>
    <p:sldId id="522" r:id="rId49"/>
    <p:sldId id="524" r:id="rId50"/>
    <p:sldId id="525" r:id="rId51"/>
    <p:sldId id="526" r:id="rId52"/>
    <p:sldId id="527" r:id="rId53"/>
    <p:sldId id="557" r:id="rId54"/>
    <p:sldId id="531" r:id="rId55"/>
    <p:sldId id="559" r:id="rId56"/>
    <p:sldId id="560" r:id="rId57"/>
  </p:sldIdLst>
  <p:sldSz cx="9144000" cy="6858000" type="screen4x3"/>
  <p:notesSz cx="6858000" cy="9144000"/>
  <p:custDataLst>
    <p:tags r:id="rId6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FDB940"/>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578" autoAdjust="0"/>
    <p:restoredTop sz="74583" autoAdjust="0"/>
  </p:normalViewPr>
  <p:slideViewPr>
    <p:cSldViewPr>
      <p:cViewPr varScale="1">
        <p:scale>
          <a:sx n="123" d="100"/>
          <a:sy n="123" d="100"/>
        </p:scale>
        <p:origin x="2796" y="76"/>
      </p:cViewPr>
      <p:guideLst>
        <p:guide orient="horz" pos="2160"/>
        <p:guide pos="2880"/>
      </p:guideLst>
    </p:cSldViewPr>
  </p:slideViewPr>
  <p:outlineViewPr>
    <p:cViewPr>
      <p:scale>
        <a:sx n="33" d="100"/>
        <a:sy n="33" d="100"/>
      </p:scale>
      <p:origin x="0" y="-9864"/>
    </p:cViewPr>
  </p:outlineViewPr>
  <p:notesTextViewPr>
    <p:cViewPr>
      <p:scale>
        <a:sx n="1" d="1"/>
        <a:sy n="1" d="1"/>
      </p:scale>
      <p:origin x="0" y="0"/>
    </p:cViewPr>
  </p:notesTextViewPr>
  <p:notesViewPr>
    <p:cSldViewPr>
      <p:cViewPr varScale="1">
        <p:scale>
          <a:sx n="55" d="100"/>
          <a:sy n="55" d="100"/>
        </p:scale>
        <p:origin x="-225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88AF1265-D25D-4C60-A5A2-1F87C536786E}" type="doc">
      <dgm:prSet loTypeId="urn:microsoft.com/office/officeart/2005/8/layout/vList5" loCatId="list" qsTypeId="urn:microsoft.com/office/officeart/2005/8/quickstyle/simple1#1" qsCatId="simple" csTypeId="urn:microsoft.com/office/officeart/2005/8/colors/accent1_2#1" csCatId="accent1" phldr="1"/>
      <dgm:spPr/>
      <dgm:t>
        <a:bodyPr/>
        <a:lstStyle/>
        <a:p>
          <a:endParaRPr lang="en-US"/>
        </a:p>
      </dgm:t>
    </dgm:pt>
    <dgm:pt modelId="{BCCCD096-2834-4DE7-A1A8-28F3096AA0D0}">
      <dgm:prSet phldrT="[Text]"/>
      <dgm:spPr/>
      <dgm:t>
        <a:bodyPr/>
        <a:lstStyle/>
        <a:p>
          <a:r>
            <a:rPr lang="en-US" dirty="0" smtClean="0"/>
            <a:t>Missing account</a:t>
          </a:r>
          <a:endParaRPr lang="en-US" dirty="0"/>
        </a:p>
      </dgm:t>
    </dgm:pt>
    <dgm:pt modelId="{AFFC15F9-3862-4D97-A8AA-2B55A675E74D}" type="parTrans" cxnId="{311C6C7D-27AB-49A2-8B70-709CCC0DB387}">
      <dgm:prSet/>
      <dgm:spPr/>
      <dgm:t>
        <a:bodyPr/>
        <a:lstStyle/>
        <a:p>
          <a:endParaRPr lang="en-US"/>
        </a:p>
      </dgm:t>
    </dgm:pt>
    <dgm:pt modelId="{C7B1949D-DD8B-447C-AC99-C86CF2CB886A}" type="sibTrans" cxnId="{311C6C7D-27AB-49A2-8B70-709CCC0DB387}">
      <dgm:prSet/>
      <dgm:spPr/>
      <dgm:t>
        <a:bodyPr/>
        <a:lstStyle/>
        <a:p>
          <a:endParaRPr lang="en-US"/>
        </a:p>
      </dgm:t>
    </dgm:pt>
    <dgm:pt modelId="{72413251-DD19-464F-8193-14DC4669F29C}">
      <dgm:prSet phldrT="[Text]"/>
      <dgm:spPr/>
      <dgm:t>
        <a:bodyPr/>
        <a:lstStyle/>
        <a:p>
          <a:r>
            <a:rPr lang="en-US" dirty="0" smtClean="0"/>
            <a:t>Trace each account from journal to ledger</a:t>
          </a:r>
          <a:endParaRPr lang="en-US" dirty="0"/>
        </a:p>
      </dgm:t>
    </dgm:pt>
    <dgm:pt modelId="{4667009A-B8D7-4F76-8C68-579F85BD21A1}" type="parTrans" cxnId="{AA27F9FA-2502-4289-A033-48CDE2ECDB33}">
      <dgm:prSet/>
      <dgm:spPr/>
      <dgm:t>
        <a:bodyPr/>
        <a:lstStyle/>
        <a:p>
          <a:endParaRPr lang="en-US"/>
        </a:p>
      </dgm:t>
    </dgm:pt>
    <dgm:pt modelId="{448BE283-3D7B-4B74-AA33-FB693E022E04}" type="sibTrans" cxnId="{AA27F9FA-2502-4289-A033-48CDE2ECDB33}">
      <dgm:prSet/>
      <dgm:spPr/>
      <dgm:t>
        <a:bodyPr/>
        <a:lstStyle/>
        <a:p>
          <a:endParaRPr lang="en-US"/>
        </a:p>
      </dgm:t>
    </dgm:pt>
    <dgm:pt modelId="{94F2B7BF-487D-486C-85C4-F96F0E97EC23}">
      <dgm:prSet phldrT="[Text]"/>
      <dgm:spPr/>
      <dgm:t>
        <a:bodyPr/>
        <a:lstStyle/>
        <a:p>
          <a:r>
            <a:rPr lang="en-US" dirty="0" smtClean="0"/>
            <a:t>Divide out-of-balance amount by 2</a:t>
          </a:r>
          <a:endParaRPr lang="en-US" dirty="0"/>
        </a:p>
      </dgm:t>
    </dgm:pt>
    <dgm:pt modelId="{6901D54B-30BC-4E12-A418-7705CFB0470D}" type="parTrans" cxnId="{4F4528E7-394C-4F4E-B31C-3E606D12376E}">
      <dgm:prSet/>
      <dgm:spPr/>
      <dgm:t>
        <a:bodyPr/>
        <a:lstStyle/>
        <a:p>
          <a:endParaRPr lang="en-US"/>
        </a:p>
      </dgm:t>
    </dgm:pt>
    <dgm:pt modelId="{27563327-C23E-4F4B-8117-BFE85842182D}" type="sibTrans" cxnId="{4F4528E7-394C-4F4E-B31C-3E606D12376E}">
      <dgm:prSet/>
      <dgm:spPr/>
      <dgm:t>
        <a:bodyPr/>
        <a:lstStyle/>
        <a:p>
          <a:endParaRPr lang="en-US"/>
        </a:p>
      </dgm:t>
    </dgm:pt>
    <dgm:pt modelId="{5E9D9371-B710-48CE-8633-4AE22AB781E0}">
      <dgm:prSet phldrT="[Text]"/>
      <dgm:spPr/>
      <dgm:t>
        <a:bodyPr/>
        <a:lstStyle/>
        <a:p>
          <a:r>
            <a:rPr lang="en-US" dirty="0" smtClean="0"/>
            <a:t>Reversing debits and credits doubles the error</a:t>
          </a:r>
          <a:endParaRPr lang="en-US" dirty="0"/>
        </a:p>
      </dgm:t>
    </dgm:pt>
    <dgm:pt modelId="{124CD327-751F-4D59-A48D-32367B5A43A8}" type="parTrans" cxnId="{CDBB8D23-7073-4885-AE16-BD53DFF90BF0}">
      <dgm:prSet/>
      <dgm:spPr/>
      <dgm:t>
        <a:bodyPr/>
        <a:lstStyle/>
        <a:p>
          <a:endParaRPr lang="en-US"/>
        </a:p>
      </dgm:t>
    </dgm:pt>
    <dgm:pt modelId="{052FD772-1B2B-4DFE-9AFB-08EA5FCECA0E}" type="sibTrans" cxnId="{CDBB8D23-7073-4885-AE16-BD53DFF90BF0}">
      <dgm:prSet/>
      <dgm:spPr/>
      <dgm:t>
        <a:bodyPr/>
        <a:lstStyle/>
        <a:p>
          <a:endParaRPr lang="en-US"/>
        </a:p>
      </dgm:t>
    </dgm:pt>
    <dgm:pt modelId="{8A0B2A09-5F1D-4D55-826D-C1066E476326}">
      <dgm:prSet phldrT="[Text]"/>
      <dgm:spPr/>
      <dgm:t>
        <a:bodyPr/>
        <a:lstStyle/>
        <a:p>
          <a:r>
            <a:rPr lang="en-US" dirty="0" smtClean="0"/>
            <a:t>Divide out-of-balance amount by 9</a:t>
          </a:r>
          <a:endParaRPr lang="en-US" dirty="0"/>
        </a:p>
      </dgm:t>
    </dgm:pt>
    <dgm:pt modelId="{819026FD-FEE7-465C-8F01-5D2789846F96}" type="parTrans" cxnId="{CCD02255-0623-47D3-850B-13B2741D1241}">
      <dgm:prSet/>
      <dgm:spPr/>
      <dgm:t>
        <a:bodyPr/>
        <a:lstStyle/>
        <a:p>
          <a:endParaRPr lang="en-US"/>
        </a:p>
      </dgm:t>
    </dgm:pt>
    <dgm:pt modelId="{7EC9905E-403F-40CA-ACE0-18B6FC81C545}" type="sibTrans" cxnId="{CCD02255-0623-47D3-850B-13B2741D1241}">
      <dgm:prSet/>
      <dgm:spPr/>
      <dgm:t>
        <a:bodyPr/>
        <a:lstStyle/>
        <a:p>
          <a:endParaRPr lang="en-US"/>
        </a:p>
      </dgm:t>
    </dgm:pt>
    <dgm:pt modelId="{4EB4F9D6-0826-4B2C-A3F3-625CF383A9C2}">
      <dgm:prSet phldrT="[Text]"/>
      <dgm:spPr/>
      <dgm:t>
        <a:bodyPr/>
        <a:lstStyle/>
        <a:p>
          <a:r>
            <a:rPr lang="en-US" dirty="0" smtClean="0"/>
            <a:t>If even, error may be a</a:t>
          </a:r>
          <a:endParaRPr lang="en-US" dirty="0"/>
        </a:p>
      </dgm:t>
    </dgm:pt>
    <dgm:pt modelId="{DCE86182-B625-40A2-AA1D-41B647276069}" type="parTrans" cxnId="{5C03F1AD-3A24-437F-A2C5-EDED42746870}">
      <dgm:prSet/>
      <dgm:spPr/>
      <dgm:t>
        <a:bodyPr/>
        <a:lstStyle/>
        <a:p>
          <a:endParaRPr lang="en-US"/>
        </a:p>
      </dgm:t>
    </dgm:pt>
    <dgm:pt modelId="{B047E392-4C9A-4686-9D09-60E90BEC242E}" type="sibTrans" cxnId="{5C03F1AD-3A24-437F-A2C5-EDED42746870}">
      <dgm:prSet/>
      <dgm:spPr/>
      <dgm:t>
        <a:bodyPr/>
        <a:lstStyle/>
        <a:p>
          <a:endParaRPr lang="en-US"/>
        </a:p>
      </dgm:t>
    </dgm:pt>
    <dgm:pt modelId="{CBB25757-21EF-4879-96BB-D526DBDBEDEE}">
      <dgm:prSet phldrT="[Text]"/>
      <dgm:spPr/>
      <dgm:t>
        <a:bodyPr/>
        <a:lstStyle/>
        <a:p>
          <a:r>
            <a:rPr lang="en-US" dirty="0" smtClean="0"/>
            <a:t>Slide (writing $200 as $20) </a:t>
          </a:r>
          <a:endParaRPr lang="en-US" dirty="0"/>
        </a:p>
      </dgm:t>
    </dgm:pt>
    <dgm:pt modelId="{0C714A7A-6086-4BEB-9433-10D0C6CAF41D}" type="parTrans" cxnId="{86B6C395-F14C-4733-A96A-3FDA8E2ACACA}">
      <dgm:prSet/>
      <dgm:spPr/>
      <dgm:t>
        <a:bodyPr/>
        <a:lstStyle/>
        <a:p>
          <a:endParaRPr lang="en-US"/>
        </a:p>
      </dgm:t>
    </dgm:pt>
    <dgm:pt modelId="{55F562FF-E20D-4AB2-BFED-C5FA4BF241EA}" type="sibTrans" cxnId="{86B6C395-F14C-4733-A96A-3FDA8E2ACACA}">
      <dgm:prSet/>
      <dgm:spPr/>
      <dgm:t>
        <a:bodyPr/>
        <a:lstStyle/>
        <a:p>
          <a:endParaRPr lang="en-US"/>
        </a:p>
      </dgm:t>
    </dgm:pt>
    <dgm:pt modelId="{59C174F4-BC70-4F7B-AC0E-E4FCE9F2030E}">
      <dgm:prSet phldrT="[Text]"/>
      <dgm:spPr/>
      <dgm:t>
        <a:bodyPr/>
        <a:lstStyle/>
        <a:p>
          <a:r>
            <a:rPr lang="en-US" dirty="0" smtClean="0"/>
            <a:t>Transposition (writing $210 as $120)</a:t>
          </a:r>
          <a:endParaRPr lang="en-US" dirty="0"/>
        </a:p>
      </dgm:t>
    </dgm:pt>
    <dgm:pt modelId="{54D619B7-78F9-42CA-86CD-65FEB6BB5196}" type="parTrans" cxnId="{0A6A32B3-2AE1-4CCD-B097-88D425DB7D20}">
      <dgm:prSet/>
      <dgm:spPr/>
      <dgm:t>
        <a:bodyPr/>
        <a:lstStyle/>
        <a:p>
          <a:endParaRPr lang="en-US"/>
        </a:p>
      </dgm:t>
    </dgm:pt>
    <dgm:pt modelId="{BD7AC24D-FB77-4803-8520-E1D5796CB97B}" type="sibTrans" cxnId="{0A6A32B3-2AE1-4CCD-B097-88D425DB7D20}">
      <dgm:prSet/>
      <dgm:spPr/>
      <dgm:t>
        <a:bodyPr/>
        <a:lstStyle/>
        <a:p>
          <a:endParaRPr lang="en-US"/>
        </a:p>
      </dgm:t>
    </dgm:pt>
    <dgm:pt modelId="{59D32A7A-9972-415E-9C2A-5A43F129C9D4}" type="pres">
      <dgm:prSet presAssocID="{88AF1265-D25D-4C60-A5A2-1F87C536786E}" presName="Name0" presStyleCnt="0">
        <dgm:presLayoutVars>
          <dgm:dir/>
          <dgm:animLvl val="lvl"/>
          <dgm:resizeHandles val="exact"/>
        </dgm:presLayoutVars>
      </dgm:prSet>
      <dgm:spPr/>
      <dgm:t>
        <a:bodyPr/>
        <a:lstStyle/>
        <a:p>
          <a:endParaRPr lang="en-US"/>
        </a:p>
      </dgm:t>
    </dgm:pt>
    <dgm:pt modelId="{1B4D4910-A561-47A7-9891-E10A5C961023}" type="pres">
      <dgm:prSet presAssocID="{BCCCD096-2834-4DE7-A1A8-28F3096AA0D0}" presName="linNode" presStyleCnt="0"/>
      <dgm:spPr/>
    </dgm:pt>
    <dgm:pt modelId="{D2AA2B27-BB5E-4D2C-ADA6-6FDFFEC9509C}" type="pres">
      <dgm:prSet presAssocID="{BCCCD096-2834-4DE7-A1A8-28F3096AA0D0}" presName="parentText" presStyleLbl="node1" presStyleIdx="0" presStyleCnt="3">
        <dgm:presLayoutVars>
          <dgm:chMax val="1"/>
          <dgm:bulletEnabled val="1"/>
        </dgm:presLayoutVars>
      </dgm:prSet>
      <dgm:spPr/>
      <dgm:t>
        <a:bodyPr/>
        <a:lstStyle/>
        <a:p>
          <a:endParaRPr lang="en-US"/>
        </a:p>
      </dgm:t>
    </dgm:pt>
    <dgm:pt modelId="{A2D8F9AE-6E98-4A6F-8C2E-952BE4B2316B}" type="pres">
      <dgm:prSet presAssocID="{BCCCD096-2834-4DE7-A1A8-28F3096AA0D0}" presName="descendantText" presStyleLbl="alignAccFollowNode1" presStyleIdx="0" presStyleCnt="3">
        <dgm:presLayoutVars>
          <dgm:bulletEnabled val="1"/>
        </dgm:presLayoutVars>
      </dgm:prSet>
      <dgm:spPr/>
      <dgm:t>
        <a:bodyPr/>
        <a:lstStyle/>
        <a:p>
          <a:endParaRPr lang="en-US"/>
        </a:p>
      </dgm:t>
    </dgm:pt>
    <dgm:pt modelId="{654DF540-2BB7-4EB1-964C-AAE9FB854196}" type="pres">
      <dgm:prSet presAssocID="{C7B1949D-DD8B-447C-AC99-C86CF2CB886A}" presName="sp" presStyleCnt="0"/>
      <dgm:spPr/>
    </dgm:pt>
    <dgm:pt modelId="{6906C9F0-CC78-4D93-AE4E-A2FC02DC9443}" type="pres">
      <dgm:prSet presAssocID="{94F2B7BF-487D-486C-85C4-F96F0E97EC23}" presName="linNode" presStyleCnt="0"/>
      <dgm:spPr/>
    </dgm:pt>
    <dgm:pt modelId="{FF373153-B9EE-490F-9E96-A01B0886DB10}" type="pres">
      <dgm:prSet presAssocID="{94F2B7BF-487D-486C-85C4-F96F0E97EC23}" presName="parentText" presStyleLbl="node1" presStyleIdx="1" presStyleCnt="3">
        <dgm:presLayoutVars>
          <dgm:chMax val="1"/>
          <dgm:bulletEnabled val="1"/>
        </dgm:presLayoutVars>
      </dgm:prSet>
      <dgm:spPr/>
      <dgm:t>
        <a:bodyPr/>
        <a:lstStyle/>
        <a:p>
          <a:endParaRPr lang="en-US"/>
        </a:p>
      </dgm:t>
    </dgm:pt>
    <dgm:pt modelId="{CEED9426-1BD8-44A4-8ACA-D62515087989}" type="pres">
      <dgm:prSet presAssocID="{94F2B7BF-487D-486C-85C4-F96F0E97EC23}" presName="descendantText" presStyleLbl="alignAccFollowNode1" presStyleIdx="1" presStyleCnt="3">
        <dgm:presLayoutVars>
          <dgm:bulletEnabled val="1"/>
        </dgm:presLayoutVars>
      </dgm:prSet>
      <dgm:spPr/>
      <dgm:t>
        <a:bodyPr/>
        <a:lstStyle/>
        <a:p>
          <a:endParaRPr lang="en-US"/>
        </a:p>
      </dgm:t>
    </dgm:pt>
    <dgm:pt modelId="{9B61FAB0-FCF7-4ED3-A107-838A783ECEF2}" type="pres">
      <dgm:prSet presAssocID="{27563327-C23E-4F4B-8117-BFE85842182D}" presName="sp" presStyleCnt="0"/>
      <dgm:spPr/>
    </dgm:pt>
    <dgm:pt modelId="{D35183C4-46E7-453C-B482-FB05CEE566E6}" type="pres">
      <dgm:prSet presAssocID="{8A0B2A09-5F1D-4D55-826D-C1066E476326}" presName="linNode" presStyleCnt="0"/>
      <dgm:spPr/>
    </dgm:pt>
    <dgm:pt modelId="{C0C45A07-51BA-47C3-B933-5B21ECFC2188}" type="pres">
      <dgm:prSet presAssocID="{8A0B2A09-5F1D-4D55-826D-C1066E476326}" presName="parentText" presStyleLbl="node1" presStyleIdx="2" presStyleCnt="3">
        <dgm:presLayoutVars>
          <dgm:chMax val="1"/>
          <dgm:bulletEnabled val="1"/>
        </dgm:presLayoutVars>
      </dgm:prSet>
      <dgm:spPr/>
      <dgm:t>
        <a:bodyPr/>
        <a:lstStyle/>
        <a:p>
          <a:endParaRPr lang="en-US"/>
        </a:p>
      </dgm:t>
    </dgm:pt>
    <dgm:pt modelId="{2AC8B090-A13E-4762-817E-20B2AC500F13}" type="pres">
      <dgm:prSet presAssocID="{8A0B2A09-5F1D-4D55-826D-C1066E476326}" presName="descendantText" presStyleLbl="alignAccFollowNode1" presStyleIdx="2" presStyleCnt="3">
        <dgm:presLayoutVars>
          <dgm:bulletEnabled val="1"/>
        </dgm:presLayoutVars>
      </dgm:prSet>
      <dgm:spPr/>
      <dgm:t>
        <a:bodyPr/>
        <a:lstStyle/>
        <a:p>
          <a:endParaRPr lang="en-US"/>
        </a:p>
      </dgm:t>
    </dgm:pt>
  </dgm:ptLst>
  <dgm:cxnLst>
    <dgm:cxn modelId="{3C0A0ACB-D998-4B10-B8F4-730F62D15976}" type="presOf" srcId="{4EB4F9D6-0826-4B2C-A3F3-625CF383A9C2}" destId="{2AC8B090-A13E-4762-817E-20B2AC500F13}" srcOrd="0" destOrd="0" presId="urn:microsoft.com/office/officeart/2005/8/layout/vList5"/>
    <dgm:cxn modelId="{543EEA56-52E8-4A58-8441-39DD9BF872CB}" type="presOf" srcId="{72413251-DD19-464F-8193-14DC4669F29C}" destId="{A2D8F9AE-6E98-4A6F-8C2E-952BE4B2316B}" srcOrd="0" destOrd="0" presId="urn:microsoft.com/office/officeart/2005/8/layout/vList5"/>
    <dgm:cxn modelId="{6E1F2E90-CE19-4897-83BD-C52D4DA4B4B5}" type="presOf" srcId="{94F2B7BF-487D-486C-85C4-F96F0E97EC23}" destId="{FF373153-B9EE-490F-9E96-A01B0886DB10}" srcOrd="0" destOrd="0" presId="urn:microsoft.com/office/officeart/2005/8/layout/vList5"/>
    <dgm:cxn modelId="{0A6A32B3-2AE1-4CCD-B097-88D425DB7D20}" srcId="{4EB4F9D6-0826-4B2C-A3F3-625CF383A9C2}" destId="{59C174F4-BC70-4F7B-AC0E-E4FCE9F2030E}" srcOrd="1" destOrd="0" parTransId="{54D619B7-78F9-42CA-86CD-65FEB6BB5196}" sibTransId="{BD7AC24D-FB77-4803-8520-E1D5796CB97B}"/>
    <dgm:cxn modelId="{4F4528E7-394C-4F4E-B31C-3E606D12376E}" srcId="{88AF1265-D25D-4C60-A5A2-1F87C536786E}" destId="{94F2B7BF-487D-486C-85C4-F96F0E97EC23}" srcOrd="1" destOrd="0" parTransId="{6901D54B-30BC-4E12-A418-7705CFB0470D}" sibTransId="{27563327-C23E-4F4B-8117-BFE85842182D}"/>
    <dgm:cxn modelId="{0270FECF-6246-410A-9198-EE99BFC7AC69}" type="presOf" srcId="{59C174F4-BC70-4F7B-AC0E-E4FCE9F2030E}" destId="{2AC8B090-A13E-4762-817E-20B2AC500F13}" srcOrd="0" destOrd="2" presId="urn:microsoft.com/office/officeart/2005/8/layout/vList5"/>
    <dgm:cxn modelId="{5C03F1AD-3A24-437F-A2C5-EDED42746870}" srcId="{8A0B2A09-5F1D-4D55-826D-C1066E476326}" destId="{4EB4F9D6-0826-4B2C-A3F3-625CF383A9C2}" srcOrd="0" destOrd="0" parTransId="{DCE86182-B625-40A2-AA1D-41B647276069}" sibTransId="{B047E392-4C9A-4686-9D09-60E90BEC242E}"/>
    <dgm:cxn modelId="{D745B498-54FE-4B63-B87B-61DAF5E20069}" type="presOf" srcId="{88AF1265-D25D-4C60-A5A2-1F87C536786E}" destId="{59D32A7A-9972-415E-9C2A-5A43F129C9D4}" srcOrd="0" destOrd="0" presId="urn:microsoft.com/office/officeart/2005/8/layout/vList5"/>
    <dgm:cxn modelId="{299C8319-AC77-4A10-9B69-DF71E23CADE2}" type="presOf" srcId="{CBB25757-21EF-4879-96BB-D526DBDBEDEE}" destId="{2AC8B090-A13E-4762-817E-20B2AC500F13}" srcOrd="0" destOrd="1" presId="urn:microsoft.com/office/officeart/2005/8/layout/vList5"/>
    <dgm:cxn modelId="{86B6C395-F14C-4733-A96A-3FDA8E2ACACA}" srcId="{4EB4F9D6-0826-4B2C-A3F3-625CF383A9C2}" destId="{CBB25757-21EF-4879-96BB-D526DBDBEDEE}" srcOrd="0" destOrd="0" parTransId="{0C714A7A-6086-4BEB-9433-10D0C6CAF41D}" sibTransId="{55F562FF-E20D-4AB2-BFED-C5FA4BF241EA}"/>
    <dgm:cxn modelId="{AA27F9FA-2502-4289-A033-48CDE2ECDB33}" srcId="{BCCCD096-2834-4DE7-A1A8-28F3096AA0D0}" destId="{72413251-DD19-464F-8193-14DC4669F29C}" srcOrd="0" destOrd="0" parTransId="{4667009A-B8D7-4F76-8C68-579F85BD21A1}" sibTransId="{448BE283-3D7B-4B74-AA33-FB693E022E04}"/>
    <dgm:cxn modelId="{CCD02255-0623-47D3-850B-13B2741D1241}" srcId="{88AF1265-D25D-4C60-A5A2-1F87C536786E}" destId="{8A0B2A09-5F1D-4D55-826D-C1066E476326}" srcOrd="2" destOrd="0" parTransId="{819026FD-FEE7-465C-8F01-5D2789846F96}" sibTransId="{7EC9905E-403F-40CA-ACE0-18B6FC81C545}"/>
    <dgm:cxn modelId="{CDBB8D23-7073-4885-AE16-BD53DFF90BF0}" srcId="{94F2B7BF-487D-486C-85C4-F96F0E97EC23}" destId="{5E9D9371-B710-48CE-8633-4AE22AB781E0}" srcOrd="0" destOrd="0" parTransId="{124CD327-751F-4D59-A48D-32367B5A43A8}" sibTransId="{052FD772-1B2B-4DFE-9AFB-08EA5FCECA0E}"/>
    <dgm:cxn modelId="{311C6C7D-27AB-49A2-8B70-709CCC0DB387}" srcId="{88AF1265-D25D-4C60-A5A2-1F87C536786E}" destId="{BCCCD096-2834-4DE7-A1A8-28F3096AA0D0}" srcOrd="0" destOrd="0" parTransId="{AFFC15F9-3862-4D97-A8AA-2B55A675E74D}" sibTransId="{C7B1949D-DD8B-447C-AC99-C86CF2CB886A}"/>
    <dgm:cxn modelId="{672288C4-8868-4979-97A5-4F38C348BC15}" type="presOf" srcId="{8A0B2A09-5F1D-4D55-826D-C1066E476326}" destId="{C0C45A07-51BA-47C3-B933-5B21ECFC2188}" srcOrd="0" destOrd="0" presId="urn:microsoft.com/office/officeart/2005/8/layout/vList5"/>
    <dgm:cxn modelId="{4BC22157-4EEA-47D7-A74A-167AA467A0AF}" type="presOf" srcId="{5E9D9371-B710-48CE-8633-4AE22AB781E0}" destId="{CEED9426-1BD8-44A4-8ACA-D62515087989}" srcOrd="0" destOrd="0" presId="urn:microsoft.com/office/officeart/2005/8/layout/vList5"/>
    <dgm:cxn modelId="{A19D450E-B78F-4C3D-B124-799AEF1D6FEE}" type="presOf" srcId="{BCCCD096-2834-4DE7-A1A8-28F3096AA0D0}" destId="{D2AA2B27-BB5E-4D2C-ADA6-6FDFFEC9509C}" srcOrd="0" destOrd="0" presId="urn:microsoft.com/office/officeart/2005/8/layout/vList5"/>
    <dgm:cxn modelId="{C5913042-4DB6-4926-A59B-90E89679493C}" type="presParOf" srcId="{59D32A7A-9972-415E-9C2A-5A43F129C9D4}" destId="{1B4D4910-A561-47A7-9891-E10A5C961023}" srcOrd="0" destOrd="0" presId="urn:microsoft.com/office/officeart/2005/8/layout/vList5"/>
    <dgm:cxn modelId="{C3DFCDAF-721D-4501-9D9A-FC80ABCF42D8}" type="presParOf" srcId="{1B4D4910-A561-47A7-9891-E10A5C961023}" destId="{D2AA2B27-BB5E-4D2C-ADA6-6FDFFEC9509C}" srcOrd="0" destOrd="0" presId="urn:microsoft.com/office/officeart/2005/8/layout/vList5"/>
    <dgm:cxn modelId="{5616065D-CFB8-4A3A-ADAC-BA1EDCF64418}" type="presParOf" srcId="{1B4D4910-A561-47A7-9891-E10A5C961023}" destId="{A2D8F9AE-6E98-4A6F-8C2E-952BE4B2316B}" srcOrd="1" destOrd="0" presId="urn:microsoft.com/office/officeart/2005/8/layout/vList5"/>
    <dgm:cxn modelId="{A779183F-50F8-49CF-A52A-E2737B12A2C5}" type="presParOf" srcId="{59D32A7A-9972-415E-9C2A-5A43F129C9D4}" destId="{654DF540-2BB7-4EB1-964C-AAE9FB854196}" srcOrd="1" destOrd="0" presId="urn:microsoft.com/office/officeart/2005/8/layout/vList5"/>
    <dgm:cxn modelId="{E784D30A-5FCE-41B0-AE7D-21CC5A28445B}" type="presParOf" srcId="{59D32A7A-9972-415E-9C2A-5A43F129C9D4}" destId="{6906C9F0-CC78-4D93-AE4E-A2FC02DC9443}" srcOrd="2" destOrd="0" presId="urn:microsoft.com/office/officeart/2005/8/layout/vList5"/>
    <dgm:cxn modelId="{DDB15615-16DA-4DFF-BDE7-3FF9D3DA32C8}" type="presParOf" srcId="{6906C9F0-CC78-4D93-AE4E-A2FC02DC9443}" destId="{FF373153-B9EE-490F-9E96-A01B0886DB10}" srcOrd="0" destOrd="0" presId="urn:microsoft.com/office/officeart/2005/8/layout/vList5"/>
    <dgm:cxn modelId="{F34B1F4C-9844-4AA7-9F7F-5022547867D8}" type="presParOf" srcId="{6906C9F0-CC78-4D93-AE4E-A2FC02DC9443}" destId="{CEED9426-1BD8-44A4-8ACA-D62515087989}" srcOrd="1" destOrd="0" presId="urn:microsoft.com/office/officeart/2005/8/layout/vList5"/>
    <dgm:cxn modelId="{11E5988F-28E3-409C-8D63-616C685C9804}" type="presParOf" srcId="{59D32A7A-9972-415E-9C2A-5A43F129C9D4}" destId="{9B61FAB0-FCF7-4ED3-A107-838A783ECEF2}" srcOrd="3" destOrd="0" presId="urn:microsoft.com/office/officeart/2005/8/layout/vList5"/>
    <dgm:cxn modelId="{15A1FDB0-AC26-4B8C-ACD3-EFD50ACF3D25}" type="presParOf" srcId="{59D32A7A-9972-415E-9C2A-5A43F129C9D4}" destId="{D35183C4-46E7-453C-B482-FB05CEE566E6}" srcOrd="4" destOrd="0" presId="urn:microsoft.com/office/officeart/2005/8/layout/vList5"/>
    <dgm:cxn modelId="{DD2846E0-A68E-4A36-BB83-E550D769786A}" type="presParOf" srcId="{D35183C4-46E7-453C-B482-FB05CEE566E6}" destId="{C0C45A07-51BA-47C3-B933-5B21ECFC2188}" srcOrd="0" destOrd="0" presId="urn:microsoft.com/office/officeart/2005/8/layout/vList5"/>
    <dgm:cxn modelId="{38919CFA-4740-49C9-B5C6-7B31ABDFC8D6}" type="presParOf" srcId="{D35183C4-46E7-453C-B482-FB05CEE566E6}" destId="{2AC8B090-A13E-4762-817E-20B2AC500F13}"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D8F9AE-6E98-4A6F-8C2E-952BE4B2316B}">
      <dsp:nvSpPr>
        <dsp:cNvPr id="0" name=""/>
        <dsp:cNvSpPr/>
      </dsp:nvSpPr>
      <dsp:spPr>
        <a:xfrm rot="5400000">
          <a:off x="4502277" y="-1708419"/>
          <a:ext cx="1047750" cy="4730496"/>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36195" rIns="72390" bIns="36195" numCol="1" spcCol="1270" anchor="ctr" anchorCtr="0">
          <a:noAutofit/>
        </a:bodyPr>
        <a:lstStyle/>
        <a:p>
          <a:pPr marL="171450" lvl="1" indent="-171450" algn="l" defTabSz="844550">
            <a:lnSpc>
              <a:spcPct val="90000"/>
            </a:lnSpc>
            <a:spcBef>
              <a:spcPct val="0"/>
            </a:spcBef>
            <a:spcAft>
              <a:spcPct val="15000"/>
            </a:spcAft>
            <a:buChar char="••"/>
          </a:pPr>
          <a:r>
            <a:rPr lang="en-US" sz="1900" kern="1200" dirty="0" smtClean="0"/>
            <a:t>Trace each account from journal to ledger</a:t>
          </a:r>
          <a:endParaRPr lang="en-US" sz="1900" kern="1200" dirty="0"/>
        </a:p>
      </dsp:txBody>
      <dsp:txXfrm rot="-5400000">
        <a:off x="2660905" y="184100"/>
        <a:ext cx="4679349" cy="945456"/>
      </dsp:txXfrm>
    </dsp:sp>
    <dsp:sp modelId="{D2AA2B27-BB5E-4D2C-ADA6-6FDFFEC9509C}">
      <dsp:nvSpPr>
        <dsp:cNvPr id="0" name=""/>
        <dsp:cNvSpPr/>
      </dsp:nvSpPr>
      <dsp:spPr>
        <a:xfrm>
          <a:off x="0" y="1984"/>
          <a:ext cx="2660904" cy="130968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lvl="0" algn="ctr" defTabSz="1200150">
            <a:lnSpc>
              <a:spcPct val="90000"/>
            </a:lnSpc>
            <a:spcBef>
              <a:spcPct val="0"/>
            </a:spcBef>
            <a:spcAft>
              <a:spcPct val="35000"/>
            </a:spcAft>
          </a:pPr>
          <a:r>
            <a:rPr lang="en-US" sz="2700" kern="1200" dirty="0" smtClean="0"/>
            <a:t>Missing account</a:t>
          </a:r>
          <a:endParaRPr lang="en-US" sz="2700" kern="1200" dirty="0"/>
        </a:p>
      </dsp:txBody>
      <dsp:txXfrm>
        <a:off x="63934" y="65918"/>
        <a:ext cx="2533036" cy="1181819"/>
      </dsp:txXfrm>
    </dsp:sp>
    <dsp:sp modelId="{CEED9426-1BD8-44A4-8ACA-D62515087989}">
      <dsp:nvSpPr>
        <dsp:cNvPr id="0" name=""/>
        <dsp:cNvSpPr/>
      </dsp:nvSpPr>
      <dsp:spPr>
        <a:xfrm rot="5400000">
          <a:off x="4502277" y="-333248"/>
          <a:ext cx="1047750" cy="4730496"/>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36195" rIns="72390" bIns="36195" numCol="1" spcCol="1270" anchor="ctr" anchorCtr="0">
          <a:noAutofit/>
        </a:bodyPr>
        <a:lstStyle/>
        <a:p>
          <a:pPr marL="171450" lvl="1" indent="-171450" algn="l" defTabSz="844550">
            <a:lnSpc>
              <a:spcPct val="90000"/>
            </a:lnSpc>
            <a:spcBef>
              <a:spcPct val="0"/>
            </a:spcBef>
            <a:spcAft>
              <a:spcPct val="15000"/>
            </a:spcAft>
            <a:buChar char="••"/>
          </a:pPr>
          <a:r>
            <a:rPr lang="en-US" sz="1900" kern="1200" dirty="0" smtClean="0"/>
            <a:t>Reversing debits and credits doubles the error</a:t>
          </a:r>
          <a:endParaRPr lang="en-US" sz="1900" kern="1200" dirty="0"/>
        </a:p>
      </dsp:txBody>
      <dsp:txXfrm rot="-5400000">
        <a:off x="2660905" y="1559271"/>
        <a:ext cx="4679349" cy="945456"/>
      </dsp:txXfrm>
    </dsp:sp>
    <dsp:sp modelId="{FF373153-B9EE-490F-9E96-A01B0886DB10}">
      <dsp:nvSpPr>
        <dsp:cNvPr id="0" name=""/>
        <dsp:cNvSpPr/>
      </dsp:nvSpPr>
      <dsp:spPr>
        <a:xfrm>
          <a:off x="0" y="1377156"/>
          <a:ext cx="2660904" cy="130968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lvl="0" algn="ctr" defTabSz="1200150">
            <a:lnSpc>
              <a:spcPct val="90000"/>
            </a:lnSpc>
            <a:spcBef>
              <a:spcPct val="0"/>
            </a:spcBef>
            <a:spcAft>
              <a:spcPct val="35000"/>
            </a:spcAft>
          </a:pPr>
          <a:r>
            <a:rPr lang="en-US" sz="2700" kern="1200" dirty="0" smtClean="0"/>
            <a:t>Divide out-of-balance amount by 2</a:t>
          </a:r>
          <a:endParaRPr lang="en-US" sz="2700" kern="1200" dirty="0"/>
        </a:p>
      </dsp:txBody>
      <dsp:txXfrm>
        <a:off x="63934" y="1441090"/>
        <a:ext cx="2533036" cy="1181819"/>
      </dsp:txXfrm>
    </dsp:sp>
    <dsp:sp modelId="{2AC8B090-A13E-4762-817E-20B2AC500F13}">
      <dsp:nvSpPr>
        <dsp:cNvPr id="0" name=""/>
        <dsp:cNvSpPr/>
      </dsp:nvSpPr>
      <dsp:spPr>
        <a:xfrm rot="5400000">
          <a:off x="4502277" y="1041923"/>
          <a:ext cx="1047750" cy="4730496"/>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36195" rIns="72390" bIns="36195" numCol="1" spcCol="1270" anchor="ctr" anchorCtr="0">
          <a:noAutofit/>
        </a:bodyPr>
        <a:lstStyle/>
        <a:p>
          <a:pPr marL="171450" lvl="1" indent="-171450" algn="l" defTabSz="844550">
            <a:lnSpc>
              <a:spcPct val="90000"/>
            </a:lnSpc>
            <a:spcBef>
              <a:spcPct val="0"/>
            </a:spcBef>
            <a:spcAft>
              <a:spcPct val="15000"/>
            </a:spcAft>
            <a:buChar char="••"/>
          </a:pPr>
          <a:r>
            <a:rPr lang="en-US" sz="1900" kern="1200" dirty="0" smtClean="0"/>
            <a:t>If even, error may be a</a:t>
          </a:r>
          <a:endParaRPr lang="en-US" sz="1900" kern="1200" dirty="0"/>
        </a:p>
        <a:p>
          <a:pPr marL="342900" lvl="2" indent="-171450" algn="l" defTabSz="844550">
            <a:lnSpc>
              <a:spcPct val="90000"/>
            </a:lnSpc>
            <a:spcBef>
              <a:spcPct val="0"/>
            </a:spcBef>
            <a:spcAft>
              <a:spcPct val="15000"/>
            </a:spcAft>
            <a:buChar char="••"/>
          </a:pPr>
          <a:r>
            <a:rPr lang="en-US" sz="1900" kern="1200" dirty="0" smtClean="0"/>
            <a:t>Slide (writing $200 as $20) </a:t>
          </a:r>
          <a:endParaRPr lang="en-US" sz="1900" kern="1200" dirty="0"/>
        </a:p>
        <a:p>
          <a:pPr marL="342900" lvl="2" indent="-171450" algn="l" defTabSz="844550">
            <a:lnSpc>
              <a:spcPct val="90000"/>
            </a:lnSpc>
            <a:spcBef>
              <a:spcPct val="0"/>
            </a:spcBef>
            <a:spcAft>
              <a:spcPct val="15000"/>
            </a:spcAft>
            <a:buChar char="••"/>
          </a:pPr>
          <a:r>
            <a:rPr lang="en-US" sz="1900" kern="1200" dirty="0" smtClean="0"/>
            <a:t>Transposition (writing $210 as $120)</a:t>
          </a:r>
          <a:endParaRPr lang="en-US" sz="1900" kern="1200" dirty="0"/>
        </a:p>
      </dsp:txBody>
      <dsp:txXfrm rot="-5400000">
        <a:off x="2660905" y="2934443"/>
        <a:ext cx="4679349" cy="945456"/>
      </dsp:txXfrm>
    </dsp:sp>
    <dsp:sp modelId="{C0C45A07-51BA-47C3-B933-5B21ECFC2188}">
      <dsp:nvSpPr>
        <dsp:cNvPr id="0" name=""/>
        <dsp:cNvSpPr/>
      </dsp:nvSpPr>
      <dsp:spPr>
        <a:xfrm>
          <a:off x="0" y="2752328"/>
          <a:ext cx="2660904" cy="130968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lvl="0" algn="ctr" defTabSz="1200150">
            <a:lnSpc>
              <a:spcPct val="90000"/>
            </a:lnSpc>
            <a:spcBef>
              <a:spcPct val="0"/>
            </a:spcBef>
            <a:spcAft>
              <a:spcPct val="35000"/>
            </a:spcAft>
          </a:pPr>
          <a:r>
            <a:rPr lang="en-US" sz="2700" kern="1200" dirty="0" smtClean="0"/>
            <a:t>Divide out-of-balance amount by 9</a:t>
          </a:r>
          <a:endParaRPr lang="en-US" sz="2700" kern="1200" dirty="0"/>
        </a:p>
      </dsp:txBody>
      <dsp:txXfrm>
        <a:off x="63934" y="2816262"/>
        <a:ext cx="2533036" cy="1181819"/>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10/10/2025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10/10/2025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MathType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endParaRPr lang="en-US" dirty="0">
              <a:ea typeface="ＭＳ Ｐゴシック" pitchFamily="34"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28794559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6995FB2-4339-4295-993C-F847D93B091C}" type="slidenum">
              <a:rPr lang="en-US" smtClean="0"/>
              <a:t>2</a:t>
            </a:fld>
            <a:endParaRPr lang="en-US"/>
          </a:p>
        </p:txBody>
      </p:sp>
    </p:spTree>
    <p:extLst>
      <p:ext uri="{BB962C8B-B14F-4D97-AF65-F5344CB8AC3E}">
        <p14:creationId xmlns:p14="http://schemas.microsoft.com/office/powerpoint/2010/main" val="21039225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p:sp>
      <p:sp>
        <p:nvSpPr>
          <p:cNvPr id="49155" name="Notes Placeholder 2"/>
          <p:cNvSpPr>
            <a:spLocks noGrp="1"/>
          </p:cNvSpPr>
          <p:nvPr>
            <p:ph type="body" idx="1"/>
          </p:nvPr>
        </p:nvSpPr>
        <p:spPr>
          <a:noFill/>
        </p:spPr>
        <p:txBody>
          <a:bodyPr/>
          <a:lstStyle/>
          <a:p>
            <a:endParaRPr lang="en-US" dirty="0" smtClean="0">
              <a:latin typeface="Arial" panose="020B0604020202020204" pitchFamily="34" charset="0"/>
            </a:endParaRPr>
          </a:p>
        </p:txBody>
      </p:sp>
      <p:sp>
        <p:nvSpPr>
          <p:cNvPr id="49156" name="Slide Number Placeholder 3"/>
          <p:cNvSpPr>
            <a:spLocks noGrp="1"/>
          </p:cNvSpPr>
          <p:nvPr>
            <p:ph type="sldNum" sz="quarter" idx="5"/>
          </p:nvPr>
        </p:nvSpPr>
        <p:spPr>
          <a:noFill/>
        </p:spPr>
        <p:txBody>
          <a:bodyPr/>
          <a:lstStyle/>
          <a:p>
            <a:fld id="{48A0B2F5-6043-4087-A04C-CB8A5D54677E}" type="slidenum">
              <a:rPr lang="en-US" smtClean="0">
                <a:latin typeface="Arial" panose="020B0604020202020204" pitchFamily="34" charset="0"/>
                <a:cs typeface="Arial" panose="020B0604020202020204" pitchFamily="34" charset="0"/>
              </a:rPr>
              <a:t>5</a:t>
            </a:fld>
            <a:endParaRPr 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437483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p:sp>
      <p:sp>
        <p:nvSpPr>
          <p:cNvPr id="50179" name="Notes Placeholder 2"/>
          <p:cNvSpPr>
            <a:spLocks noGrp="1"/>
          </p:cNvSpPr>
          <p:nvPr>
            <p:ph type="body" idx="1"/>
          </p:nvPr>
        </p:nvSpPr>
        <p:spPr>
          <a:noFill/>
        </p:spPr>
        <p:txBody>
          <a:bodyPr/>
          <a:lstStyle/>
          <a:p>
            <a:endParaRPr lang="en-US" dirty="0" smtClean="0">
              <a:solidFill>
                <a:srgbClr val="FF0000"/>
              </a:solidFill>
              <a:latin typeface="Arial" panose="020B0604020202020204" pitchFamily="34" charset="0"/>
            </a:endParaRPr>
          </a:p>
        </p:txBody>
      </p:sp>
      <p:sp>
        <p:nvSpPr>
          <p:cNvPr id="50180" name="Slide Number Placeholder 3"/>
          <p:cNvSpPr>
            <a:spLocks noGrp="1"/>
          </p:cNvSpPr>
          <p:nvPr>
            <p:ph type="sldNum" sz="quarter" idx="5"/>
          </p:nvPr>
        </p:nvSpPr>
        <p:spPr>
          <a:noFill/>
        </p:spPr>
        <p:txBody>
          <a:bodyPr/>
          <a:lstStyle/>
          <a:p>
            <a:fld id="{91E78A34-08C2-40A8-93E3-F95CCF4CC7F3}" type="slidenum">
              <a:rPr lang="en-US" smtClean="0">
                <a:latin typeface="Arial" panose="020B0604020202020204" pitchFamily="34" charset="0"/>
                <a:cs typeface="Arial" panose="020B0604020202020204" pitchFamily="34" charset="0"/>
              </a:rPr>
              <a:t>7</a:t>
            </a:fld>
            <a:endParaRPr 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616228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you know, the ledger contains the accounts grouped under these headings:</a:t>
            </a:r>
          </a:p>
          <a:p>
            <a:pPr marL="800100" lvl="1" indent="-342900">
              <a:buFont typeface="+mj-lt"/>
              <a:buAutoNum type="arabicPeriod"/>
            </a:pPr>
            <a:r>
              <a:rPr lang="en-US" b="1" dirty="0"/>
              <a:t>Balance sheet accounts: Assets, Liabilities, and Shareholders’ Equity</a:t>
            </a:r>
          </a:p>
          <a:p>
            <a:pPr marL="800100" lvl="1" indent="-342900">
              <a:buFont typeface="+mj-lt"/>
              <a:buAutoNum type="arabicPeriod"/>
            </a:pPr>
            <a:r>
              <a:rPr lang="en-US" b="1" dirty="0"/>
              <a:t>Income statement accounts: Incomes</a:t>
            </a:r>
            <a:r>
              <a:rPr lang="en-US" b="1" baseline="0" dirty="0"/>
              <a:t> </a:t>
            </a:r>
            <a:r>
              <a:rPr lang="en-US" b="1" dirty="0"/>
              <a:t>and Expenses</a:t>
            </a:r>
          </a:p>
          <a:p>
            <a:r>
              <a:rPr lang="en-US" dirty="0"/>
              <a:t>Organizations use a </a:t>
            </a:r>
            <a:r>
              <a:rPr lang="en-US" b="1" dirty="0"/>
              <a:t>chart of accounts </a:t>
            </a:r>
            <a:r>
              <a:rPr lang="en-US" dirty="0"/>
              <a:t>to list all their accounts and account numbers. Account numbers usually have two or more digits. Asset account numbers may begin with 1, liabilities with 2, shareholders’ equity with 3, incomes with 4, and expenses with 5. The second, third, and higher digits in an account number indicate the position of the individual account within the category.</a:t>
            </a:r>
          </a:p>
          <a:p>
            <a:r>
              <a:rPr lang="en-US" dirty="0"/>
              <a:t>For example, Cash may be account number 101, which is the first asset account. Accounts Payable may be number 201, the first liability. All accounts are numbered by using this system.</a:t>
            </a:r>
            <a:endParaRPr lang="en-US" altLang="en-US" dirty="0"/>
          </a:p>
          <a:p>
            <a:endParaRPr lang="en-US" dirty="0"/>
          </a:p>
          <a:p>
            <a:endParaRPr lang="en-US"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11</a:t>
            </a:fld>
            <a:endParaRPr lang="en-US" dirty="0"/>
          </a:p>
        </p:txBody>
      </p:sp>
    </p:spTree>
    <p:extLst>
      <p:ext uri="{BB962C8B-B14F-4D97-AF65-F5344CB8AC3E}">
        <p14:creationId xmlns:p14="http://schemas.microsoft.com/office/powerpoint/2010/main" val="12916600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effect of this transaction is the receipt of cash and the issuance of ordinary share (common stock). Every transactions net amount on</a:t>
            </a:r>
            <a:r>
              <a:rPr lang="en-US" baseline="0" dirty="0"/>
              <a:t> the left side of the accounting equation must equal the net amount on the right side.</a:t>
            </a:r>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12</a:t>
            </a:fld>
            <a:endParaRPr lang="en-US" dirty="0"/>
          </a:p>
        </p:txBody>
      </p:sp>
    </p:spTree>
    <p:extLst>
      <p:ext uri="{BB962C8B-B14F-4D97-AF65-F5344CB8AC3E}">
        <p14:creationId xmlns:p14="http://schemas.microsoft.com/office/powerpoint/2010/main" val="36665075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purchase increases an asset, land, and decreases</a:t>
            </a:r>
            <a:r>
              <a:rPr lang="en-US" baseline="0" dirty="0"/>
              <a:t> another asset, cash. Keep in mind that total assets must always equal liabilities + equity.</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13</a:t>
            </a:fld>
            <a:endParaRPr lang="en-US" dirty="0"/>
          </a:p>
        </p:txBody>
      </p:sp>
    </p:spTree>
    <p:extLst>
      <p:ext uri="{BB962C8B-B14F-4D97-AF65-F5344CB8AC3E}">
        <p14:creationId xmlns:p14="http://schemas.microsoft.com/office/powerpoint/2010/main" val="23137812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transaction increases both assets and liabilities. The new asset is supplies and the new liability is the $3,700 which will be a credit to</a:t>
            </a:r>
            <a:r>
              <a:rPr lang="en-US" baseline="0" dirty="0"/>
              <a:t> Accounts Payable. Assets still equal Liabilities + Equity.</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14</a:t>
            </a:fld>
            <a:endParaRPr lang="en-US" dirty="0"/>
          </a:p>
        </p:txBody>
      </p:sp>
    </p:spTree>
    <p:extLst>
      <p:ext uri="{BB962C8B-B14F-4D97-AF65-F5344CB8AC3E}">
        <p14:creationId xmlns:p14="http://schemas.microsoft.com/office/powerpoint/2010/main" val="41709694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effect on the accounting equation is an increase in the asset Cash</a:t>
            </a:r>
            <a:r>
              <a:rPr lang="en-US" baseline="0" dirty="0"/>
              <a:t> and an increase in Retained Earnings. </a:t>
            </a:r>
            <a:endParaRPr lang="en-US" dirty="0"/>
          </a:p>
          <a:p>
            <a:endParaRPr lang="en-US"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15</a:t>
            </a:fld>
            <a:endParaRPr lang="en-US" dirty="0"/>
          </a:p>
        </p:txBody>
      </p:sp>
    </p:spTree>
    <p:extLst>
      <p:ext uri="{BB962C8B-B14F-4D97-AF65-F5344CB8AC3E}">
        <p14:creationId xmlns:p14="http://schemas.microsoft.com/office/powerpoint/2010/main" val="40460018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RedLotus</a:t>
            </a:r>
            <a:r>
              <a:rPr lang="en-US" dirty="0"/>
              <a:t> </a:t>
            </a:r>
            <a:r>
              <a:rPr lang="en-US" baseline="0" dirty="0"/>
              <a:t>earns revenues but does not receive cash immediately. This promise from the customers to pay represents an Accounts Receivable, an asset to </a:t>
            </a:r>
            <a:r>
              <a:rPr lang="en-US" dirty="0" err="1"/>
              <a:t>RedLotus</a:t>
            </a:r>
            <a:r>
              <a:rPr lang="en-US" dirty="0"/>
              <a:t> </a:t>
            </a:r>
            <a:r>
              <a:rPr lang="en-US" baseline="0" dirty="0"/>
              <a:t>Travel. Revenue is recorded when earned, in other words when the service is performed, regardless of when the cash is received.</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16</a:t>
            </a:fld>
            <a:endParaRPr lang="en-US" dirty="0"/>
          </a:p>
        </p:txBody>
      </p:sp>
    </p:spTree>
    <p:extLst>
      <p:ext uri="{BB962C8B-B14F-4D97-AF65-F5344CB8AC3E}">
        <p14:creationId xmlns:p14="http://schemas.microsoft.com/office/powerpoint/2010/main" val="5732413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These expenses decrease </a:t>
            </a:r>
            <a:r>
              <a:rPr lang="en-US" dirty="0" err="1"/>
              <a:t>RedLotus</a:t>
            </a:r>
            <a:r>
              <a:rPr lang="en-US" dirty="0"/>
              <a:t>’</a:t>
            </a:r>
            <a:r>
              <a:rPr lang="en-US" baseline="0" dirty="0"/>
              <a:t> Cash and Retained Earnings. List each expense separately to track the account and facilitate the preparation of the income statement later.</a:t>
            </a:r>
            <a:endParaRPr lang="en-US" dirty="0"/>
          </a:p>
          <a:p>
            <a:endParaRPr lang="en-US"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17</a:t>
            </a:fld>
            <a:endParaRPr lang="en-US" dirty="0"/>
          </a:p>
        </p:txBody>
      </p:sp>
    </p:spTree>
    <p:extLst>
      <p:ext uri="{BB962C8B-B14F-4D97-AF65-F5344CB8AC3E}">
        <p14:creationId xmlns:p14="http://schemas.microsoft.com/office/powerpoint/2010/main" val="41019454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transaction decreases Cash,</a:t>
            </a:r>
            <a:r>
              <a:rPr lang="en-US" baseline="0" dirty="0"/>
              <a:t> an asset, and Accounts Payable, a liability account.</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18</a:t>
            </a:fld>
            <a:endParaRPr lang="en-US" dirty="0"/>
          </a:p>
        </p:txBody>
      </p:sp>
    </p:spTree>
    <p:extLst>
      <p:ext uri="{BB962C8B-B14F-4D97-AF65-F5344CB8AC3E}">
        <p14:creationId xmlns:p14="http://schemas.microsoft.com/office/powerpoint/2010/main" val="36080110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a:t>
            </a:r>
            <a:r>
              <a:rPr lang="en-US" baseline="0" dirty="0"/>
              <a:t> is a personal event that would not effect the business.</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19</a:t>
            </a:fld>
            <a:endParaRPr lang="en-US" dirty="0"/>
          </a:p>
        </p:txBody>
      </p:sp>
    </p:spTree>
    <p:extLst>
      <p:ext uri="{BB962C8B-B14F-4D97-AF65-F5344CB8AC3E}">
        <p14:creationId xmlns:p14="http://schemas.microsoft.com/office/powerpoint/2010/main" val="14729723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t>RedLotus</a:t>
            </a:r>
            <a:r>
              <a:rPr lang="en-US" sz="1200" dirty="0"/>
              <a:t> </a:t>
            </a:r>
            <a:r>
              <a:rPr lang="en-US" dirty="0"/>
              <a:t>collected cash on account, which means that </a:t>
            </a:r>
            <a:r>
              <a:rPr lang="en-US" sz="1200" dirty="0" err="1"/>
              <a:t>RedLotus</a:t>
            </a:r>
            <a:r>
              <a:rPr lang="en-US" sz="1200" dirty="0"/>
              <a:t> </a:t>
            </a:r>
            <a:r>
              <a:rPr lang="en-US" dirty="0"/>
              <a:t>will record an increase in Cash and a decrease in Accounts Receivable,</a:t>
            </a:r>
            <a:r>
              <a:rPr lang="en-US" baseline="0" dirty="0"/>
              <a:t> both asset accounts.</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20</a:t>
            </a:fld>
            <a:endParaRPr lang="en-US" dirty="0"/>
          </a:p>
        </p:txBody>
      </p:sp>
    </p:spTree>
    <p:extLst>
      <p:ext uri="{BB962C8B-B14F-4D97-AF65-F5344CB8AC3E}">
        <p14:creationId xmlns:p14="http://schemas.microsoft.com/office/powerpoint/2010/main" val="28427473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Cash will increase by $22,000,</a:t>
            </a:r>
            <a:r>
              <a:rPr lang="en-US" baseline="0" dirty="0"/>
              <a:t> while Land decreases by $20,000. Retained Earnings will increase by $2,000. </a:t>
            </a:r>
            <a:endParaRPr lang="en-US" dirty="0"/>
          </a:p>
          <a:p>
            <a:endParaRPr lang="en-US"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21</a:t>
            </a:fld>
            <a:endParaRPr lang="en-US" dirty="0"/>
          </a:p>
        </p:txBody>
      </p:sp>
    </p:spTree>
    <p:extLst>
      <p:ext uri="{BB962C8B-B14F-4D97-AF65-F5344CB8AC3E}">
        <p14:creationId xmlns:p14="http://schemas.microsoft.com/office/powerpoint/2010/main" val="15695988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transactions decreases</a:t>
            </a:r>
            <a:r>
              <a:rPr lang="en-US" baseline="0" dirty="0"/>
              <a:t> both Cash and Retained Earnings of the business. However, dividends are NOT an expense. They are a separate shareholders’ equity account.</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22</a:t>
            </a:fld>
            <a:endParaRPr lang="en-US" dirty="0"/>
          </a:p>
        </p:txBody>
      </p:sp>
    </p:spTree>
    <p:extLst>
      <p:ext uri="{BB962C8B-B14F-4D97-AF65-F5344CB8AC3E}">
        <p14:creationId xmlns:p14="http://schemas.microsoft.com/office/powerpoint/2010/main" val="11166230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Exhibit 2-2</a:t>
            </a:r>
            <a:r>
              <a:rPr lang="en-US" baseline="0" dirty="0"/>
              <a:t> summarizes the 11 preceding transactions and provides a transaction analysis. Note that every transactions maintains the accounting equation: Assets = Liabilities + Equity.</a:t>
            </a:r>
          </a:p>
          <a:p>
            <a:endParaRPr lang="en-US" dirty="0"/>
          </a:p>
          <a:p>
            <a:endParaRPr lang="en-US"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23</a:t>
            </a:fld>
            <a:endParaRPr lang="en-US" dirty="0"/>
          </a:p>
        </p:txBody>
      </p:sp>
    </p:spTree>
    <p:extLst>
      <p:ext uri="{BB962C8B-B14F-4D97-AF65-F5344CB8AC3E}">
        <p14:creationId xmlns:p14="http://schemas.microsoft.com/office/powerpoint/2010/main" val="42386743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p:sp>
      <p:sp>
        <p:nvSpPr>
          <p:cNvPr id="59395" name="Notes Placeholder 2"/>
          <p:cNvSpPr>
            <a:spLocks noGrp="1"/>
          </p:cNvSpPr>
          <p:nvPr>
            <p:ph type="body" idx="1"/>
          </p:nvPr>
        </p:nvSpPr>
        <p:spPr>
          <a:noFill/>
        </p:spPr>
        <p:txBody>
          <a:bodyPr/>
          <a:lstStyle/>
          <a:p>
            <a:endParaRPr lang="en-US" dirty="0" smtClean="0">
              <a:latin typeface="Arial" panose="020B0604020202020204" pitchFamily="34" charset="0"/>
            </a:endParaRPr>
          </a:p>
        </p:txBody>
      </p:sp>
      <p:sp>
        <p:nvSpPr>
          <p:cNvPr id="59396" name="Slide Number Placeholder 3"/>
          <p:cNvSpPr>
            <a:spLocks noGrp="1"/>
          </p:cNvSpPr>
          <p:nvPr>
            <p:ph type="sldNum" sz="quarter" idx="5"/>
          </p:nvPr>
        </p:nvSpPr>
        <p:spPr>
          <a:noFill/>
        </p:spPr>
        <p:txBody>
          <a:bodyPr/>
          <a:lstStyle/>
          <a:p>
            <a:fld id="{A2B022D3-3DDC-4B84-855B-AF1C71FB501F}" type="slidenum">
              <a:rPr lang="en-US" smtClean="0">
                <a:latin typeface="Arial" panose="020B0604020202020204" pitchFamily="34" charset="0"/>
                <a:cs typeface="Arial" panose="020B0604020202020204" pitchFamily="34" charset="0"/>
              </a:rPr>
              <a:t>24</a:t>
            </a:fld>
            <a:endParaRPr 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107787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p:sp>
      <p:sp>
        <p:nvSpPr>
          <p:cNvPr id="60419" name="Notes Placeholder 2"/>
          <p:cNvSpPr>
            <a:spLocks noGrp="1"/>
          </p:cNvSpPr>
          <p:nvPr>
            <p:ph type="body" idx="1"/>
          </p:nvPr>
        </p:nvSpPr>
        <p:spPr>
          <a:noFill/>
        </p:spPr>
        <p:txBody>
          <a:bodyPr/>
          <a:lstStyle/>
          <a:p>
            <a:endParaRPr lang="en-US" dirty="0" smtClean="0">
              <a:latin typeface="Arial" panose="020B0604020202020204" pitchFamily="34" charset="0"/>
            </a:endParaRPr>
          </a:p>
        </p:txBody>
      </p:sp>
      <p:sp>
        <p:nvSpPr>
          <p:cNvPr id="60420" name="Slide Number Placeholder 3"/>
          <p:cNvSpPr>
            <a:spLocks noGrp="1"/>
          </p:cNvSpPr>
          <p:nvPr>
            <p:ph type="sldNum" sz="quarter" idx="5"/>
          </p:nvPr>
        </p:nvSpPr>
        <p:spPr>
          <a:noFill/>
        </p:spPr>
        <p:txBody>
          <a:bodyPr/>
          <a:lstStyle/>
          <a:p>
            <a:fld id="{F7D58287-D4FD-4D03-8CE7-79766981D1EF}" type="slidenum">
              <a:rPr lang="en-US" smtClean="0">
                <a:latin typeface="Arial" panose="020B0604020202020204" pitchFamily="34" charset="0"/>
                <a:cs typeface="Arial" panose="020B0604020202020204" pitchFamily="34" charset="0"/>
              </a:rPr>
              <a:t>26</a:t>
            </a:fld>
            <a:endParaRPr 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470099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p:sp>
      <p:sp>
        <p:nvSpPr>
          <p:cNvPr id="61443" name="Notes Placeholder 2"/>
          <p:cNvSpPr>
            <a:spLocks noGrp="1"/>
          </p:cNvSpPr>
          <p:nvPr>
            <p:ph type="body" idx="1"/>
          </p:nvPr>
        </p:nvSpPr>
        <p:spPr>
          <a:noFill/>
        </p:spPr>
        <p:txBody>
          <a:bodyPr/>
          <a:lstStyle/>
          <a:p>
            <a:endParaRPr lang="en-US" dirty="0" smtClean="0">
              <a:latin typeface="Arial" panose="020B0604020202020204" pitchFamily="34" charset="0"/>
            </a:endParaRPr>
          </a:p>
        </p:txBody>
      </p:sp>
      <p:sp>
        <p:nvSpPr>
          <p:cNvPr id="61444" name="Slide Number Placeholder 3"/>
          <p:cNvSpPr>
            <a:spLocks noGrp="1"/>
          </p:cNvSpPr>
          <p:nvPr>
            <p:ph type="sldNum" sz="quarter" idx="5"/>
          </p:nvPr>
        </p:nvSpPr>
        <p:spPr>
          <a:noFill/>
        </p:spPr>
        <p:txBody>
          <a:bodyPr/>
          <a:lstStyle/>
          <a:p>
            <a:fld id="{E39FEA82-C732-4C54-A45F-63F173D99657}" type="slidenum">
              <a:rPr lang="en-US" smtClean="0">
                <a:latin typeface="Arial" panose="020B0604020202020204" pitchFamily="34" charset="0"/>
                <a:cs typeface="Arial" panose="020B0604020202020204" pitchFamily="34" charset="0"/>
              </a:rPr>
              <a:t>27</a:t>
            </a:fld>
            <a:endParaRPr 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037510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Exhibit 2-7 shows how the accounting equation may be expanded. It is important to understand all</a:t>
            </a:r>
            <a:r>
              <a:rPr lang="en-US" baseline="0" dirty="0"/>
              <a:t> of these rules before proceeding. Shareholders’ equity includes share capital, retained earnings, dividends, and the net effect of revenues minus expenses, known as net income or net loss.</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28</a:t>
            </a:fld>
            <a:endParaRPr lang="en-US" dirty="0"/>
          </a:p>
        </p:txBody>
      </p:sp>
    </p:spTree>
    <p:extLst>
      <p:ext uri="{BB962C8B-B14F-4D97-AF65-F5344CB8AC3E}">
        <p14:creationId xmlns:p14="http://schemas.microsoft.com/office/powerpoint/2010/main" val="39078882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p:sp>
      <p:sp>
        <p:nvSpPr>
          <p:cNvPr id="63491" name="Notes Placeholder 2"/>
          <p:cNvSpPr>
            <a:spLocks noGrp="1"/>
          </p:cNvSpPr>
          <p:nvPr>
            <p:ph type="body" idx="1"/>
          </p:nvPr>
        </p:nvSpPr>
        <p:spPr>
          <a:noFill/>
        </p:spPr>
        <p:txBody>
          <a:bodyPr/>
          <a:lstStyle/>
          <a:p>
            <a:endParaRPr lang="en-US" dirty="0" smtClean="0">
              <a:latin typeface="Arial" panose="020B0604020202020204" pitchFamily="34" charset="0"/>
            </a:endParaRPr>
          </a:p>
        </p:txBody>
      </p:sp>
      <p:sp>
        <p:nvSpPr>
          <p:cNvPr id="63492" name="Slide Number Placeholder 3"/>
          <p:cNvSpPr>
            <a:spLocks noGrp="1"/>
          </p:cNvSpPr>
          <p:nvPr>
            <p:ph type="sldNum" sz="quarter" idx="5"/>
          </p:nvPr>
        </p:nvSpPr>
        <p:spPr>
          <a:noFill/>
        </p:spPr>
        <p:txBody>
          <a:bodyPr/>
          <a:lstStyle/>
          <a:p>
            <a:fld id="{272A9AB3-30C7-4CD0-BE32-3691276847F9}" type="slidenum">
              <a:rPr lang="en-US" smtClean="0">
                <a:latin typeface="Arial" panose="020B0604020202020204" pitchFamily="34" charset="0"/>
                <a:cs typeface="Arial" panose="020B0604020202020204" pitchFamily="34" charset="0"/>
              </a:rPr>
              <a:t>29</a:t>
            </a:fld>
            <a:endParaRPr 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993375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p:sp>
      <p:sp>
        <p:nvSpPr>
          <p:cNvPr id="77827" name="Notes Placeholder 2"/>
          <p:cNvSpPr>
            <a:spLocks noGrp="1"/>
          </p:cNvSpPr>
          <p:nvPr>
            <p:ph type="body" idx="1"/>
          </p:nvPr>
        </p:nvSpPr>
        <p:spPr>
          <a:noFill/>
        </p:spPr>
        <p:txBody>
          <a:bodyPr/>
          <a:lstStyle/>
          <a:p>
            <a:endParaRPr lang="en-US" dirty="0" smtClean="0">
              <a:latin typeface="Arial" panose="020B0604020202020204" pitchFamily="34" charset="0"/>
            </a:endParaRPr>
          </a:p>
        </p:txBody>
      </p:sp>
      <p:sp>
        <p:nvSpPr>
          <p:cNvPr id="77828" name="Slide Number Placeholder 3"/>
          <p:cNvSpPr>
            <a:spLocks noGrp="1"/>
          </p:cNvSpPr>
          <p:nvPr>
            <p:ph type="sldNum" sz="quarter" idx="5"/>
          </p:nvPr>
        </p:nvSpPr>
        <p:spPr>
          <a:noFill/>
        </p:spPr>
        <p:txBody>
          <a:bodyPr/>
          <a:lstStyle/>
          <a:p>
            <a:fld id="{06C63A43-C49C-4661-83F2-612B67F09FF8}" type="slidenum">
              <a:rPr lang="en-US" smtClean="0">
                <a:latin typeface="Arial" panose="020B0604020202020204" pitchFamily="34" charset="0"/>
                <a:cs typeface="Arial" panose="020B0604020202020204" pitchFamily="34" charset="0"/>
              </a:rPr>
              <a:t>30</a:t>
            </a:fld>
            <a:endParaRPr 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898564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Exhibit 2-11 above summarizes the flow of accounting data from when the transaction occurs</a:t>
            </a:r>
            <a:r>
              <a:rPr lang="en-US" baseline="0" dirty="0"/>
              <a:t> to the posting to the ledger. </a:t>
            </a:r>
            <a:endParaRPr lang="en-US" dirty="0"/>
          </a:p>
          <a:p>
            <a:endParaRPr lang="en-US"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31</a:t>
            </a:fld>
            <a:endParaRPr lang="en-US" dirty="0"/>
          </a:p>
        </p:txBody>
      </p:sp>
    </p:spTree>
    <p:extLst>
      <p:ext uri="{BB962C8B-B14F-4D97-AF65-F5344CB8AC3E}">
        <p14:creationId xmlns:p14="http://schemas.microsoft.com/office/powerpoint/2010/main" val="20050138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Accountants use a chronological record of transactions called a </a:t>
            </a:r>
            <a:r>
              <a:rPr lang="en-US" b="1" dirty="0"/>
              <a:t>journal</a:t>
            </a:r>
            <a:r>
              <a:rPr lang="en-US" dirty="0"/>
              <a:t>, also known as the </a:t>
            </a:r>
            <a:r>
              <a:rPr lang="en-US" i="1" dirty="0"/>
              <a:t>book of original entry</a:t>
            </a:r>
            <a:r>
              <a:rPr lang="en-US" dirty="0"/>
              <a:t>. The journalizing process follows three steps:</a:t>
            </a:r>
          </a:p>
          <a:p>
            <a:r>
              <a:rPr lang="en-US" dirty="0"/>
              <a:t>1. Specify each account affected by the transaction and classify each account by type (asset, liability, shareholders’ equity, income, or expense).</a:t>
            </a:r>
          </a:p>
          <a:p>
            <a:r>
              <a:rPr lang="en-US" dirty="0"/>
              <a:t>2. Determine whether each account is increased or decreased by the transaction. Use the rules of debit and credit to increase or decrease each account.</a:t>
            </a:r>
          </a:p>
          <a:p>
            <a:r>
              <a:rPr lang="en-US" dirty="0"/>
              <a:t>3. Record the transaction in the journal, including a brief explanation. The debit side is entered on the left margin, and the credit side is indented to the right.</a:t>
            </a:r>
          </a:p>
          <a:p>
            <a:r>
              <a:rPr lang="en-US" dirty="0"/>
              <a:t>Step</a:t>
            </a:r>
            <a:r>
              <a:rPr lang="en-US" baseline="0" dirty="0"/>
              <a:t> 3 is also known as “booking the journal entry” or “journalizing the transaction”</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32</a:t>
            </a:fld>
            <a:endParaRPr lang="en-US" dirty="0"/>
          </a:p>
        </p:txBody>
      </p:sp>
    </p:spTree>
    <p:extLst>
      <p:ext uri="{BB962C8B-B14F-4D97-AF65-F5344CB8AC3E}">
        <p14:creationId xmlns:p14="http://schemas.microsoft.com/office/powerpoint/2010/main" val="9079533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ltLang="en-US" dirty="0"/>
              <a:t>Let’s apply the steps to journalize a transaction in which a company issues stock for $50,000 cash on April 1.</a:t>
            </a:r>
          </a:p>
          <a:p>
            <a:r>
              <a:rPr lang="en-US" altLang="en-US" b="1" dirty="0"/>
              <a:t>Step 1 </a:t>
            </a:r>
            <a:r>
              <a:rPr lang="en-US" altLang="en-US" dirty="0"/>
              <a:t>The business receives cash and issues stock. Cash and Share Capital are affected. Cash is an asset, and Share Capital is equity.</a:t>
            </a:r>
          </a:p>
          <a:p>
            <a:r>
              <a:rPr lang="en-US" altLang="en-US" b="1" dirty="0"/>
              <a:t>Step 2 </a:t>
            </a:r>
            <a:r>
              <a:rPr lang="en-US" altLang="en-US" dirty="0"/>
              <a:t>Both Cash and Share Capital increase. Debit Cash to record an increase in this asset. Credit Share Capital to record an increase in this equity account.</a:t>
            </a:r>
          </a:p>
          <a:p>
            <a:r>
              <a:rPr lang="en-US" altLang="en-US" b="1" dirty="0"/>
              <a:t>Step 3 </a:t>
            </a:r>
            <a:r>
              <a:rPr lang="en-US" altLang="en-US" dirty="0"/>
              <a:t>Journalize the transaction as shown above.</a:t>
            </a:r>
          </a:p>
          <a:p>
            <a:endParaRPr lang="en-US" altLang="en-US" dirty="0">
              <a:solidFill>
                <a:srgbClr val="FF0000"/>
              </a:solidFill>
            </a:endParaRPr>
          </a:p>
          <a:p>
            <a:r>
              <a:rPr lang="en-US" altLang="en-US" dirty="0">
                <a:solidFill>
                  <a:srgbClr val="FF0000"/>
                </a:solidFill>
              </a:rPr>
              <a:t>To journalize, first pinpoint the effects (if any) on Cash,</a:t>
            </a:r>
            <a:r>
              <a:rPr lang="en-US" altLang="en-US" baseline="0" dirty="0">
                <a:solidFill>
                  <a:srgbClr val="FF0000"/>
                </a:solidFill>
              </a:rPr>
              <a:t> as these effects are normally the easiest to identify. Then identify the effects on other accounts.</a:t>
            </a:r>
            <a:endParaRPr lang="en-US" altLang="en-US" dirty="0">
              <a:solidFill>
                <a:srgbClr val="FF0000"/>
              </a:solidFill>
            </a:endParaRPr>
          </a:p>
          <a:p>
            <a:endParaRPr lang="en-US" dirty="0"/>
          </a:p>
          <a:p>
            <a:endParaRPr lang="en-US"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33</a:t>
            </a:fld>
            <a:endParaRPr lang="en-US" dirty="0"/>
          </a:p>
        </p:txBody>
      </p:sp>
    </p:spTree>
    <p:extLst>
      <p:ext uri="{BB962C8B-B14F-4D97-AF65-F5344CB8AC3E}">
        <p14:creationId xmlns:p14="http://schemas.microsoft.com/office/powerpoint/2010/main" val="5964458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Exhibit 2-10 shows how </a:t>
            </a:r>
            <a:r>
              <a:rPr lang="en-US" dirty="0" err="1"/>
              <a:t>RedLotus’s</a:t>
            </a:r>
            <a:r>
              <a:rPr lang="en-US" dirty="0"/>
              <a:t> share issuance transaction is posted to the accounts. Debits always remain</a:t>
            </a:r>
            <a:r>
              <a:rPr lang="en-US" baseline="0" dirty="0"/>
              <a:t> debits and credits remain credits.</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34</a:t>
            </a:fld>
            <a:endParaRPr lang="en-US" dirty="0"/>
          </a:p>
        </p:txBody>
      </p:sp>
    </p:spTree>
    <p:extLst>
      <p:ext uri="{BB962C8B-B14F-4D97-AF65-F5344CB8AC3E}">
        <p14:creationId xmlns:p14="http://schemas.microsoft.com/office/powerpoint/2010/main" val="42143409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a:t>
            </a:r>
            <a:r>
              <a:rPr lang="en-US" b="1" dirty="0"/>
              <a:t>ledger </a:t>
            </a:r>
            <a:r>
              <a:rPr lang="en-US" dirty="0"/>
              <a:t>is a grouping of all the T-accounts, with their balances.</a:t>
            </a:r>
            <a:r>
              <a:rPr lang="en-US" baseline="0" dirty="0"/>
              <a:t> </a:t>
            </a:r>
            <a:r>
              <a:rPr lang="en-US" dirty="0"/>
              <a:t>Exhibit 2-9 shows how asset, liability, and shareholders’ equity accounts are grouped in the ledger. Revenue and expense accounts also appear in the general ledger, which may contain hundreds or even thousands of accounts. Entering a</a:t>
            </a:r>
            <a:r>
              <a:rPr lang="en-US" baseline="0" dirty="0"/>
              <a:t> transaction into the journal does not get the data into the ledger. Data must be copied to the ledger through a process called </a:t>
            </a:r>
            <a:r>
              <a:rPr lang="en-US" b="1" baseline="0" dirty="0"/>
              <a:t>posting</a:t>
            </a:r>
            <a:r>
              <a:rPr lang="en-US" baseline="0" dirty="0"/>
              <a:t>. The next slide illustrates posting to the ledger.</a:t>
            </a:r>
            <a:endParaRPr lang="en-US" altLang="en-US" dirty="0"/>
          </a:p>
          <a:p>
            <a:endParaRPr lang="en-US" dirty="0"/>
          </a:p>
          <a:p>
            <a:endParaRPr lang="en-US"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35</a:t>
            </a:fld>
            <a:endParaRPr lang="en-US" dirty="0"/>
          </a:p>
        </p:txBody>
      </p:sp>
    </p:spTree>
    <p:extLst>
      <p:ext uri="{BB962C8B-B14F-4D97-AF65-F5344CB8AC3E}">
        <p14:creationId xmlns:p14="http://schemas.microsoft.com/office/powerpoint/2010/main" val="9308684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Exhibit 2-12 shows the accounts after all transactions have been posted to the ledger. Group the accounts under assets, liabilities, and shareholders’ equity.</a:t>
            </a:r>
          </a:p>
          <a:p>
            <a:endParaRPr lang="en-US" dirty="0"/>
          </a:p>
          <a:p>
            <a:r>
              <a:rPr lang="en-US" dirty="0"/>
              <a:t>Each account has a balance, denoted as Bal, which is the difference between the account’s total debits and its total credits. For example, the Accounts Payable’s balance of $1,800 is the difference between the credit ($3,700) and the debit ($1,900). Cash has a debit balance of $33,300.</a:t>
            </a:r>
            <a:endParaRPr lang="en-US" altLang="en-US" dirty="0"/>
          </a:p>
          <a:p>
            <a:endParaRPr lang="en-US" dirty="0"/>
          </a:p>
          <a:p>
            <a:endParaRPr lang="en-US"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47</a:t>
            </a:fld>
            <a:endParaRPr lang="en-US" dirty="0"/>
          </a:p>
        </p:txBody>
      </p:sp>
    </p:spTree>
    <p:extLst>
      <p:ext uri="{BB962C8B-B14F-4D97-AF65-F5344CB8AC3E}">
        <p14:creationId xmlns:p14="http://schemas.microsoft.com/office/powerpoint/2010/main" val="12364470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Exhibit 2-12 is </a:t>
            </a:r>
            <a:r>
              <a:rPr lang="en-US" dirty="0" err="1"/>
              <a:t>RedLotus</a:t>
            </a:r>
            <a:r>
              <a:rPr lang="en-US" baseline="0" dirty="0"/>
              <a:t> </a:t>
            </a:r>
            <a:r>
              <a:rPr lang="en-US" dirty="0" err="1"/>
              <a:t>Security</a:t>
            </a:r>
            <a:r>
              <a:rPr lang="en-US" baseline="0" dirty="0" err="1"/>
              <a:t>.’s</a:t>
            </a:r>
            <a:r>
              <a:rPr lang="en-US" baseline="0" dirty="0"/>
              <a:t> trial balance after all transactions have been posted for April 30, 20X8.</a:t>
            </a:r>
            <a:endParaRPr lang="en-US" dirty="0"/>
          </a:p>
          <a:p>
            <a:endParaRPr lang="en-US"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49</a:t>
            </a:fld>
            <a:endParaRPr lang="en-US" dirty="0"/>
          </a:p>
        </p:txBody>
      </p:sp>
    </p:spTree>
    <p:extLst>
      <p:ext uri="{BB962C8B-B14F-4D97-AF65-F5344CB8AC3E}">
        <p14:creationId xmlns:p14="http://schemas.microsoft.com/office/powerpoint/2010/main" val="400532023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You can often tell what a company did by analyzing its accounts. This is a powerful tool for a manager who knows accounting. For example, if you know the beginning and ending balances of Cash, and if you know total cash receipts, you can compute your total cash payments during the period.</a:t>
            </a:r>
            <a:endParaRPr lang="en-US" altLang="en-US" dirty="0"/>
          </a:p>
          <a:p>
            <a:endParaRPr lang="en-US" dirty="0"/>
          </a:p>
          <a:p>
            <a:endParaRPr lang="en-US"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50</a:t>
            </a:fld>
            <a:endParaRPr lang="en-US" dirty="0"/>
          </a:p>
        </p:txBody>
      </p:sp>
    </p:spTree>
    <p:extLst>
      <p:ext uri="{BB962C8B-B14F-4D97-AF65-F5344CB8AC3E}">
        <p14:creationId xmlns:p14="http://schemas.microsoft.com/office/powerpoint/2010/main" val="29026285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p:sp>
      <p:sp>
        <p:nvSpPr>
          <p:cNvPr id="75779" name="Notes Placeholder 2"/>
          <p:cNvSpPr>
            <a:spLocks noGrp="1"/>
          </p:cNvSpPr>
          <p:nvPr>
            <p:ph type="body" idx="1"/>
          </p:nvPr>
        </p:nvSpPr>
        <p:spPr>
          <a:noFill/>
        </p:spPr>
        <p:txBody>
          <a:bodyPr/>
          <a:lstStyle/>
          <a:p>
            <a:endParaRPr lang="en-US" dirty="0" smtClean="0">
              <a:latin typeface="Arial" panose="020B0604020202020204" pitchFamily="34" charset="0"/>
            </a:endParaRPr>
          </a:p>
        </p:txBody>
      </p:sp>
      <p:sp>
        <p:nvSpPr>
          <p:cNvPr id="75780" name="Slide Number Placeholder 3"/>
          <p:cNvSpPr>
            <a:spLocks noGrp="1"/>
          </p:cNvSpPr>
          <p:nvPr>
            <p:ph type="sldNum" sz="quarter" idx="5"/>
          </p:nvPr>
        </p:nvSpPr>
        <p:spPr>
          <a:noFill/>
        </p:spPr>
        <p:txBody>
          <a:bodyPr/>
          <a:lstStyle/>
          <a:p>
            <a:fld id="{091C2747-9A0E-4B15-ACD8-3D13B4CDAC0B}" type="slidenum">
              <a:rPr lang="en-US" smtClean="0">
                <a:latin typeface="Arial" panose="020B0604020202020204" pitchFamily="34" charset="0"/>
                <a:cs typeface="Arial" panose="020B0604020202020204" pitchFamily="34" charset="0"/>
              </a:rPr>
              <a:t>53</a:t>
            </a:fld>
            <a:endParaRPr 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6626970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far we have only</a:t>
            </a:r>
            <a:r>
              <a:rPr lang="en-US" baseline="0" dirty="0"/>
              <a:t> discussed</a:t>
            </a:r>
            <a:r>
              <a:rPr lang="en-US" dirty="0"/>
              <a:t> accounts in a two-column T-account format, with the debit column on the left and the credit column on the right.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Another format has four </a:t>
            </a:r>
            <a:r>
              <a:rPr lang="en-US" i="1" dirty="0"/>
              <a:t>amount </a:t>
            </a:r>
            <a:r>
              <a:rPr lang="en-US" dirty="0"/>
              <a:t>columns, as illustrated for the Cash account in </a:t>
            </a:r>
            <a:r>
              <a:rPr lang="en-US"/>
              <a:t>Exhibit 2-16. </a:t>
            </a:r>
            <a:r>
              <a:rPr lang="en-US" dirty="0"/>
              <a:t>The first pair of amount columns on the left are for the debit and credit amounts of individual transactions. The last two columns are for the account balance. This four-column format keeps a running balance in the two right columns.</a:t>
            </a:r>
            <a:endParaRPr lang="en-US" altLang="en-US" dirty="0"/>
          </a:p>
          <a:p>
            <a:endParaRPr lang="en-US" dirty="0"/>
          </a:p>
          <a:p>
            <a:endParaRPr lang="en-US"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54</a:t>
            </a:fld>
            <a:endParaRPr lang="en-US" dirty="0"/>
          </a:p>
        </p:txBody>
      </p:sp>
    </p:spTree>
    <p:extLst>
      <p:ext uri="{BB962C8B-B14F-4D97-AF65-F5344CB8AC3E}">
        <p14:creationId xmlns:p14="http://schemas.microsoft.com/office/powerpoint/2010/main" val="24914515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10/10/2025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pic>
        <p:nvPicPr>
          <p:cNvPr id="8" name="Picture 7"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85800" y="6434394"/>
            <a:ext cx="918000" cy="279915"/>
          </a:xfrm>
          <a:prstGeom prst="rect">
            <a:avLst/>
          </a:prstGeom>
        </p:spPr>
      </p:pic>
      <p:sp>
        <p:nvSpPr>
          <p:cNvPr id="9" name="TextBox 8"/>
          <p:cNvSpPr txBox="1"/>
          <p:nvPr userDrawn="1"/>
        </p:nvSpPr>
        <p:spPr>
          <a:xfrm>
            <a:off x="2743200" y="6400800"/>
            <a:ext cx="6277895"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2024 Pearson Education Ltd. All Rights Reserved.</a:t>
            </a:r>
          </a:p>
        </p:txBody>
      </p:sp>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pic>
        <p:nvPicPr>
          <p:cNvPr id="15" name="Picture 14"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3600" y="6434394"/>
            <a:ext cx="918000" cy="279915"/>
          </a:xfrm>
          <a:prstGeom prst="rect">
            <a:avLst/>
          </a:prstGeom>
        </p:spPr>
      </p:pic>
      <p:sp>
        <p:nvSpPr>
          <p:cNvPr id="8" name="Text Placeholder 22"/>
          <p:cNvSpPr>
            <a:spLocks noGrp="1"/>
          </p:cNvSpPr>
          <p:nvPr>
            <p:ph type="body" sz="quarter" idx="16" hasCustomPrompt="1"/>
          </p:nvPr>
        </p:nvSpPr>
        <p:spPr>
          <a:xfrm>
            <a:off x="2834640" y="6400800"/>
            <a:ext cx="5852160" cy="274320"/>
          </a:xfrm>
        </p:spPr>
        <p:txBody>
          <a:bodyPr/>
          <a:lstStyle>
            <a:lvl1pPr marL="0" indent="0">
              <a:spcBef>
                <a:spcPts val="0"/>
              </a:spcBef>
              <a:buFontTx/>
              <a:buNone/>
              <a:defRPr/>
            </a:lvl1pPr>
          </a:lstStyle>
          <a:p>
            <a:pPr lvl="0"/>
            <a:r>
              <a:rPr lang="en-US" dirty="0"/>
              <a:t>Copyright</a:t>
            </a:r>
          </a:p>
        </p:txBody>
      </p:sp>
    </p:spTree>
    <p:extLst>
      <p:ext uri="{BB962C8B-B14F-4D97-AF65-F5344CB8AC3E}">
        <p14:creationId xmlns:p14="http://schemas.microsoft.com/office/powerpoint/2010/main" val="2981062836"/>
      </p:ext>
    </p:extLst>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10/10/2025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10/10/2025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10/10/2025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10/10/2025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10/10/2025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6434394"/>
            <a:ext cx="918000" cy="279915"/>
          </a:xfrm>
          <a:prstGeom prst="rect">
            <a:avLst/>
          </a:prstGeom>
        </p:spPr>
      </p:pic>
      <p:sp>
        <p:nvSpPr>
          <p:cNvPr id="13" name="TextBox 12"/>
          <p:cNvSpPr txBox="1"/>
          <p:nvPr userDrawn="1"/>
        </p:nvSpPr>
        <p:spPr>
          <a:xfrm>
            <a:off x="95799" y="6438054"/>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2024 Pearson Education Ltd. All Rights Reserved.</a:t>
            </a:r>
          </a:p>
        </p:txBody>
      </p:sp>
    </p:spTree>
    <p:extLst>
      <p:ext uri="{BB962C8B-B14F-4D97-AF65-F5344CB8AC3E}">
        <p14:creationId xmlns:p14="http://schemas.microsoft.com/office/powerpoint/2010/main" val="2203796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10/10/2025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10/10/2025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6" name="Title 7"/>
          <p:cNvSpPr>
            <a:spLocks noGrp="1"/>
          </p:cNvSpPr>
          <p:nvPr>
            <p:ph type="title"/>
          </p:nvPr>
        </p:nvSpPr>
        <p:spPr>
          <a:xfrm>
            <a:off x="457200" y="215372"/>
            <a:ext cx="8229600" cy="1097280"/>
          </a:xfrm>
        </p:spPr>
        <p:txBody>
          <a:bodyPr/>
          <a:lstStyle/>
          <a:p>
            <a:r>
              <a:rPr lang="en-US" dirty="0"/>
              <a:t>Click to edit Master title style</a:t>
            </a:r>
          </a:p>
        </p:txBody>
      </p:sp>
      <p:sp>
        <p:nvSpPr>
          <p:cNvPr id="7" name="Content Placeholder 2"/>
          <p:cNvSpPr>
            <a:spLocks noGrp="1"/>
          </p:cNvSpPr>
          <p:nvPr>
            <p:ph idx="1"/>
          </p:nvPr>
        </p:nvSpPr>
        <p:spPr>
          <a:xfrm>
            <a:off x="457200" y="1600201"/>
            <a:ext cx="8229600" cy="914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idx="13"/>
          </p:nvPr>
        </p:nvSpPr>
        <p:spPr>
          <a:xfrm>
            <a:off x="457200" y="2667000"/>
            <a:ext cx="3886200" cy="2438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4"/>
          </p:nvPr>
        </p:nvSpPr>
        <p:spPr>
          <a:xfrm>
            <a:off x="4419600" y="2667000"/>
            <a:ext cx="4267200" cy="2438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14" name="Date Placeholder 13"/>
          <p:cNvSpPr>
            <a:spLocks noGrp="1"/>
          </p:cNvSpPr>
          <p:nvPr>
            <p:ph type="dt" sz="half" idx="10"/>
          </p:nvPr>
        </p:nvSpPr>
        <p:spPr/>
        <p:txBody>
          <a:bodyPr/>
          <a:lstStyle/>
          <a:p>
            <a:fld id="{A9DF6EFB-3F44-496C-A842-1E0B3D3B975A}" type="datetimeFigureOut">
              <a:rPr lang="en-US" smtClean="0"/>
              <a:pPr/>
              <a:t>10/10/2025</a:t>
            </a:fld>
            <a:endParaRPr lang="en-US" dirty="0"/>
          </a:p>
        </p:txBody>
      </p:sp>
      <p:sp>
        <p:nvSpPr>
          <p:cNvPr id="15" name="Slide Number Placeholder 14"/>
          <p:cNvSpPr>
            <a:spLocks noGrp="1"/>
          </p:cNvSpPr>
          <p:nvPr>
            <p:ph type="sldNum" sz="quarter" idx="11"/>
          </p:nvPr>
        </p:nvSpPr>
        <p:spPr/>
        <p:txBody>
          <a:bodyPr/>
          <a:lstStyle/>
          <a:p>
            <a:fld id="{200B2350-5261-4F5C-9DF5-EF0D264FC8D2}" type="slidenum">
              <a:rPr lang="en-US" smtClean="0"/>
              <a:pPr/>
              <a:t>‹#›</a:t>
            </a:fld>
            <a:endParaRPr lang="en-US" dirty="0"/>
          </a:p>
        </p:txBody>
      </p:sp>
      <p:sp>
        <p:nvSpPr>
          <p:cNvPr id="16" name="Footer Placeholder 15"/>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10/10/2025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10/10/2025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6434394"/>
            <a:ext cx="918000" cy="279915"/>
          </a:xfrm>
          <a:prstGeom prst="rect">
            <a:avLst/>
          </a:prstGeom>
        </p:spPr>
      </p:pic>
      <p:sp>
        <p:nvSpPr>
          <p:cNvPr id="11" name="TextBox 10"/>
          <p:cNvSpPr txBox="1"/>
          <p:nvPr userDrawn="1"/>
        </p:nvSpPr>
        <p:spPr>
          <a:xfrm>
            <a:off x="95799" y="6438054"/>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2024 Pearson Education Ltd.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10/10/2025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20" name="Text Placeholder 17"/>
          <p:cNvSpPr>
            <a:spLocks noGrp="1"/>
          </p:cNvSpPr>
          <p:nvPr>
            <p:ph type="body" sz="quarter" idx="16" hasCustomPrompt="1"/>
          </p:nvPr>
        </p:nvSpPr>
        <p:spPr>
          <a:xfrm>
            <a:off x="3048000" y="6529254"/>
            <a:ext cx="5867400" cy="187537"/>
          </a:xfrm>
        </p:spPr>
        <p:txBody>
          <a:bodyPr/>
          <a:lstStyle>
            <a:lvl1pPr marL="0" indent="0" algn="r">
              <a:buNone/>
              <a:defRPr sz="800" baseline="0"/>
            </a:lvl1pPr>
          </a:lstStyle>
          <a:p>
            <a:pPr lvl="0"/>
            <a:r>
              <a:rPr lang="en-US" dirty="0"/>
              <a:t>Click to add copyright line</a:t>
            </a:r>
            <a:endParaRPr lang="en-IN"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434394"/>
            <a:ext cx="918000" cy="279915"/>
          </a:xfrm>
          <a:prstGeom prst="rect">
            <a:avLst/>
          </a:prstGeom>
        </p:spPr>
      </p:pic>
    </p:spTree>
    <p:extLst>
      <p:ext uri="{BB962C8B-B14F-4D97-AF65-F5344CB8AC3E}">
        <p14:creationId xmlns:p14="http://schemas.microsoft.com/office/powerpoint/2010/main" val="28840947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10/10/2025</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sp>
        <p:nvSpPr>
          <p:cNvPr id="8" name="TextBox 7"/>
          <p:cNvSpPr txBox="1"/>
          <p:nvPr userDrawn="1"/>
        </p:nvSpPr>
        <p:spPr>
          <a:xfrm>
            <a:off x="2743200" y="6400800"/>
            <a:ext cx="60960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2024 Pearson Education Ltd. All Rights Reserved.</a:t>
            </a:r>
          </a:p>
        </p:txBody>
      </p:sp>
      <p:pic>
        <p:nvPicPr>
          <p:cNvPr id="9" name="Picture 8" descr="Pearson Logo"/>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457200" y="6434394"/>
            <a:ext cx="918000" cy="279915"/>
          </a:xfrm>
          <a:prstGeom prst="rect">
            <a:avLst/>
          </a:prstGeom>
        </p:spPr>
      </p:pic>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61" r:id="rId3"/>
    <p:sldLayoutId id="2147483656" r:id="rId4"/>
    <p:sldLayoutId id="2147483650" r:id="rId5"/>
    <p:sldLayoutId id="2147483659" r:id="rId6"/>
    <p:sldLayoutId id="2147483658" r:id="rId7"/>
    <p:sldLayoutId id="2147483660" r:id="rId8"/>
    <p:sldLayoutId id="2147483662" r:id="rId9"/>
    <p:sldLayoutId id="2147483651" r:id="rId10"/>
    <p:sldLayoutId id="2147483654" r:id="rId11"/>
    <p:sldLayoutId id="2147483655" r:id="rId12"/>
    <p:sldLayoutId id="2147483663" r:id="rId13"/>
  </p:sldLayoutIdLst>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2.xml"/><Relationship Id="rId1" Type="http://schemas.openxmlformats.org/officeDocument/2006/relationships/slideLayout" Target="../slideLayouts/slideLayout1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60533"/>
            <a:ext cx="8353718" cy="806267"/>
          </a:xfrm>
        </p:spPr>
        <p:txBody>
          <a:bodyPr anchor="b"/>
          <a:lstStyle/>
          <a:p>
            <a:pPr>
              <a:defRPr/>
            </a:pPr>
            <a:r>
              <a:rPr lang="en-US" sz="3600">
                <a:latin typeface="+mj-lt"/>
              </a:rPr>
              <a:t>Financial Accounting, IFRS</a:t>
            </a:r>
            <a:endParaRPr lang="en-US" sz="3600" dirty="0">
              <a:latin typeface="+mj-lt"/>
              <a:cs typeface="Aharoni" panose="02010803020104030203" pitchFamily="2" charset="-79"/>
            </a:endParaRPr>
          </a:p>
        </p:txBody>
      </p:sp>
      <p:sp>
        <p:nvSpPr>
          <p:cNvPr id="3" name="Text Placeholder 2"/>
          <p:cNvSpPr>
            <a:spLocks noGrp="1"/>
          </p:cNvSpPr>
          <p:nvPr>
            <p:ph type="body" sz="quarter" idx="13"/>
          </p:nvPr>
        </p:nvSpPr>
        <p:spPr>
          <a:xfrm>
            <a:off x="457202" y="1219200"/>
            <a:ext cx="8229598" cy="349068"/>
          </a:xfrm>
        </p:spPr>
        <p:txBody>
          <a:bodyPr/>
          <a:lstStyle/>
          <a:p>
            <a:r>
              <a:rPr lang="en-IN" sz="2400" dirty="0"/>
              <a:t>Twelfth Edition</a:t>
            </a:r>
          </a:p>
          <a:p>
            <a:r>
              <a:rPr lang="en-IN" sz="2400" dirty="0"/>
              <a:t>Global Edition</a:t>
            </a:r>
          </a:p>
        </p:txBody>
      </p:sp>
      <p:sp>
        <p:nvSpPr>
          <p:cNvPr id="4" name="Text Placeholder 3"/>
          <p:cNvSpPr>
            <a:spLocks noGrp="1"/>
          </p:cNvSpPr>
          <p:nvPr>
            <p:ph type="body" sz="quarter" idx="14"/>
          </p:nvPr>
        </p:nvSpPr>
        <p:spPr>
          <a:xfrm>
            <a:off x="4572000" y="1906850"/>
            <a:ext cx="3657600" cy="1282979"/>
          </a:xfrm>
        </p:spPr>
        <p:txBody>
          <a:bodyPr/>
          <a:lstStyle/>
          <a:p>
            <a:pPr algn="ctr"/>
            <a:r>
              <a:rPr lang="en-IN" sz="3600" b="1" dirty="0"/>
              <a:t>Chapter 2</a:t>
            </a:r>
            <a:endParaRPr lang="en-IN" sz="3600" dirty="0"/>
          </a:p>
        </p:txBody>
      </p:sp>
      <p:sp>
        <p:nvSpPr>
          <p:cNvPr id="5" name="Text Placeholder 4"/>
          <p:cNvSpPr>
            <a:spLocks noGrp="1"/>
          </p:cNvSpPr>
          <p:nvPr>
            <p:ph type="body" sz="quarter" idx="15"/>
          </p:nvPr>
        </p:nvSpPr>
        <p:spPr>
          <a:xfrm>
            <a:off x="4569864" y="3398837"/>
            <a:ext cx="3657600" cy="2163763"/>
          </a:xfrm>
        </p:spPr>
        <p:txBody>
          <a:bodyPr/>
          <a:lstStyle/>
          <a:p>
            <a:pPr algn="ctr"/>
            <a:r>
              <a:rPr lang="en-US" sz="3600" dirty="0"/>
              <a:t>  Recording Business</a:t>
            </a:r>
          </a:p>
          <a:p>
            <a:pPr algn="ctr"/>
            <a:r>
              <a:rPr lang="en-US" sz="3600" dirty="0"/>
              <a:t>Transactions</a:t>
            </a:r>
          </a:p>
        </p:txBody>
      </p:sp>
      <p:sp>
        <p:nvSpPr>
          <p:cNvPr id="11" name="Text Placeholder 3"/>
          <p:cNvSpPr>
            <a:spLocks noGrp="1"/>
          </p:cNvSpPr>
          <p:nvPr>
            <p:ph type="body" sz="quarter" idx="14"/>
          </p:nvPr>
        </p:nvSpPr>
        <p:spPr>
          <a:xfrm>
            <a:off x="2829448" y="6436833"/>
            <a:ext cx="5848350" cy="197740"/>
          </a:xfrm>
        </p:spPr>
        <p:txBody>
          <a:bodyPr/>
          <a:lstStyle/>
          <a:p>
            <a:pPr algn="r">
              <a:buClrTx/>
              <a:defRPr/>
            </a:pPr>
            <a:r>
              <a:rPr lang="en-US" altLang="en-US" sz="1200" dirty="0">
                <a:latin typeface="Verdana" panose="020B0604030504040204" pitchFamily="34" charset="0"/>
                <a:ea typeface="Verdana" panose="020B0604030504040204" pitchFamily="34" charset="0"/>
                <a:cs typeface="Verdana" panose="020B0604030504040204" pitchFamily="34" charset="0"/>
              </a:rPr>
              <a:t>Copyright © 2024 Pearson Education Ltd. All Rights Reserved.</a:t>
            </a:r>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2694" y="2053735"/>
            <a:ext cx="3090672" cy="3955286"/>
          </a:xfrm>
          <a:prstGeom prst="rect">
            <a:avLst/>
          </a:prstGeom>
        </p:spPr>
      </p:pic>
    </p:spTree>
    <p:extLst>
      <p:ext uri="{BB962C8B-B14F-4D97-AF65-F5344CB8AC3E}">
        <p14:creationId xmlns:p14="http://schemas.microsoft.com/office/powerpoint/2010/main" val="60760273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Chapter 1 Review</a:t>
            </a:r>
            <a:endParaRPr lang="en-US" dirty="0"/>
          </a:p>
        </p:txBody>
      </p:sp>
      <p:sp>
        <p:nvSpPr>
          <p:cNvPr id="5" name="Content Placeholder 4"/>
          <p:cNvSpPr>
            <a:spLocks noGrp="1"/>
          </p:cNvSpPr>
          <p:nvPr>
            <p:ph idx="1"/>
          </p:nvPr>
        </p:nvSpPr>
        <p:spPr/>
        <p:txBody>
          <a:bodyPr/>
          <a:lstStyle/>
          <a:p>
            <a:r>
              <a:rPr lang="en-US" sz="2000" dirty="0" smtClean="0">
                <a:latin typeface="Times New Roman" panose="02020603050405020304" pitchFamily="18" charset="0"/>
                <a:cs typeface="Times New Roman" panose="02020603050405020304" pitchFamily="18" charset="0"/>
              </a:rPr>
              <a:t>What is Accounting?</a:t>
            </a:r>
          </a:p>
          <a:p>
            <a:endParaRPr lang="en-US" sz="2000" dirty="0" smtClean="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B</a:t>
            </a:r>
            <a:r>
              <a:rPr lang="en-US" sz="2000" dirty="0" smtClean="0">
                <a:latin typeface="Times New Roman" panose="02020603050405020304" pitchFamily="18" charset="0"/>
                <a:cs typeface="Times New Roman" panose="02020603050405020304" pitchFamily="18" charset="0"/>
              </a:rPr>
              <a:t>asic assumptions?</a:t>
            </a:r>
          </a:p>
          <a:p>
            <a:r>
              <a:rPr lang="en-US" sz="2000" dirty="0">
                <a:latin typeface="Times New Roman" panose="02020603050405020304" pitchFamily="18" charset="0"/>
                <a:cs typeface="Times New Roman" panose="02020603050405020304" pitchFamily="18" charset="0"/>
              </a:rPr>
              <a:t>F</a:t>
            </a:r>
            <a:r>
              <a:rPr lang="en-US" sz="2000" dirty="0" smtClean="0">
                <a:latin typeface="Times New Roman" panose="02020603050405020304" pitchFamily="18" charset="0"/>
                <a:cs typeface="Times New Roman" panose="02020603050405020304" pitchFamily="18" charset="0"/>
              </a:rPr>
              <a:t>undamental qualitative characteristics?</a:t>
            </a:r>
          </a:p>
          <a:p>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Accounting elements?</a:t>
            </a:r>
          </a:p>
          <a:p>
            <a:r>
              <a:rPr lang="en-US" sz="2000" dirty="0" smtClean="0">
                <a:latin typeface="Times New Roman" panose="02020603050405020304" pitchFamily="18" charset="0"/>
                <a:cs typeface="Times New Roman" panose="02020603050405020304" pitchFamily="18" charset="0"/>
              </a:rPr>
              <a:t>Basic Accounting equations?</a:t>
            </a:r>
          </a:p>
          <a:p>
            <a:endParaRPr lang="en-US" sz="2000" dirty="0" smtClean="0">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0"/>
          </p:nvPr>
        </p:nvSpPr>
        <p:spPr/>
        <p:txBody>
          <a:bodyPr/>
          <a:lstStyle/>
          <a:p>
            <a:pPr>
              <a:defRPr/>
            </a:pPr>
            <a:r>
              <a:rPr lang="en-US" smtClean="0"/>
              <a:t>©2010 Pearson Prentice Hall. All rights reserved.</a:t>
            </a:r>
            <a:endParaRPr lang="en-US"/>
          </a:p>
        </p:txBody>
      </p:sp>
      <p:sp>
        <p:nvSpPr>
          <p:cNvPr id="3" name="Slide Number Placeholder 2"/>
          <p:cNvSpPr>
            <a:spLocks noGrp="1"/>
          </p:cNvSpPr>
          <p:nvPr>
            <p:ph type="sldNum" sz="quarter" idx="11"/>
          </p:nvPr>
        </p:nvSpPr>
        <p:spPr/>
        <p:txBody>
          <a:bodyPr/>
          <a:lstStyle/>
          <a:p>
            <a:pPr>
              <a:defRPr/>
            </a:pPr>
            <a:r>
              <a:rPr lang="en-US" smtClean="0"/>
              <a:t>1-</a:t>
            </a:r>
            <a:fld id="{D2362BE1-FB08-4E63-8B5A-5F7179461BBE}" type="slidenum">
              <a:rPr lang="en-US" smtClean="0"/>
              <a:t>2</a:t>
            </a:fld>
            <a:endParaRPr lang="en-US"/>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0" y="549834"/>
            <a:ext cx="3200400" cy="3047456"/>
          </a:xfrm>
          <a:prstGeom prst="rect">
            <a:avLst/>
          </a:prstGeom>
        </p:spPr>
      </p:pic>
    </p:spTree>
    <p:extLst>
      <p:ext uri="{BB962C8B-B14F-4D97-AF65-F5344CB8AC3E}">
        <p14:creationId xmlns:p14="http://schemas.microsoft.com/office/powerpoint/2010/main" val="3583451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Chapter 1 Review</a:t>
            </a:r>
            <a:endParaRPr lang="en-US" dirty="0"/>
          </a:p>
        </p:txBody>
      </p:sp>
      <p:sp>
        <p:nvSpPr>
          <p:cNvPr id="5" name="Content Placeholder 4"/>
          <p:cNvSpPr>
            <a:spLocks noGrp="1"/>
          </p:cNvSpPr>
          <p:nvPr>
            <p:ph idx="1"/>
          </p:nvPr>
        </p:nvSpPr>
        <p:spPr/>
        <p:txBody>
          <a:bodyPr/>
          <a:lstStyle/>
          <a:p>
            <a:r>
              <a:rPr lang="en-US" sz="2000" dirty="0">
                <a:latin typeface="Times New Roman" panose="02020603050405020304" pitchFamily="18" charset="0"/>
                <a:cs typeface="Times New Roman" panose="02020603050405020304" pitchFamily="18" charset="0"/>
              </a:rPr>
              <a:t>The statement that shows transactions with shareholders and records changes in retained earnings is called…</a:t>
            </a:r>
          </a:p>
          <a:p>
            <a:r>
              <a:rPr lang="en-US" sz="2000" dirty="0">
                <a:latin typeface="Times New Roman" panose="02020603050405020304" pitchFamily="18" charset="0"/>
                <a:cs typeface="Times New Roman" panose="02020603050405020304" pitchFamily="18" charset="0"/>
              </a:rPr>
              <a:t>Which statement is (are) stated at a point in time?</a:t>
            </a:r>
          </a:p>
          <a:p>
            <a:r>
              <a:rPr lang="en-US" sz="2000" dirty="0">
                <a:latin typeface="Times New Roman" panose="02020603050405020304" pitchFamily="18" charset="0"/>
                <a:cs typeface="Times New Roman" panose="02020603050405020304" pitchFamily="18" charset="0"/>
              </a:rPr>
              <a:t>Which statement is (are) stated over a period of time?</a:t>
            </a:r>
          </a:p>
          <a:p>
            <a:r>
              <a:rPr lang="en-US" sz="2000" dirty="0">
                <a:latin typeface="Times New Roman" panose="02020603050405020304" pitchFamily="18" charset="0"/>
                <a:cs typeface="Times New Roman" panose="02020603050405020304" pitchFamily="18" charset="0"/>
              </a:rPr>
              <a:t>What are the 3 categories of cash flows?</a:t>
            </a:r>
          </a:p>
        </p:txBody>
      </p:sp>
      <p:sp>
        <p:nvSpPr>
          <p:cNvPr id="2" name="Footer Placeholder 1"/>
          <p:cNvSpPr>
            <a:spLocks noGrp="1"/>
          </p:cNvSpPr>
          <p:nvPr>
            <p:ph type="ftr" sz="quarter" idx="10"/>
          </p:nvPr>
        </p:nvSpPr>
        <p:spPr/>
        <p:txBody>
          <a:bodyPr/>
          <a:lstStyle/>
          <a:p>
            <a:pPr>
              <a:defRPr/>
            </a:pPr>
            <a:r>
              <a:rPr lang="en-US" smtClean="0"/>
              <a:t>©2010 Pearson Prentice Hall. All rights reserved.</a:t>
            </a:r>
            <a:endParaRPr lang="en-US"/>
          </a:p>
        </p:txBody>
      </p:sp>
      <p:sp>
        <p:nvSpPr>
          <p:cNvPr id="3" name="Slide Number Placeholder 2"/>
          <p:cNvSpPr>
            <a:spLocks noGrp="1"/>
          </p:cNvSpPr>
          <p:nvPr>
            <p:ph type="sldNum" sz="quarter" idx="11"/>
          </p:nvPr>
        </p:nvSpPr>
        <p:spPr/>
        <p:txBody>
          <a:bodyPr/>
          <a:lstStyle/>
          <a:p>
            <a:pPr>
              <a:defRPr/>
            </a:pPr>
            <a:r>
              <a:rPr lang="en-US" smtClean="0"/>
              <a:t>1-</a:t>
            </a:r>
            <a:fld id="{D2362BE1-FB08-4E63-8B5A-5F7179461BBE}" type="slidenum">
              <a:rPr lang="en-US" smtClean="0"/>
              <a:t>3</a:t>
            </a:fld>
            <a:endParaRPr lang="en-US"/>
          </a:p>
        </p:txBody>
      </p:sp>
      <p:sp>
        <p:nvSpPr>
          <p:cNvPr id="10" name="TextBox 9"/>
          <p:cNvSpPr txBox="1"/>
          <p:nvPr/>
        </p:nvSpPr>
        <p:spPr>
          <a:xfrm>
            <a:off x="5791200" y="5257800"/>
            <a:ext cx="2819400" cy="646331"/>
          </a:xfrm>
          <a:prstGeom prst="rect">
            <a:avLst/>
          </a:prstGeom>
          <a:noFill/>
        </p:spPr>
        <p:txBody>
          <a:bodyPr wrap="square" rtlCol="0">
            <a:spAutoFit/>
          </a:bodyPr>
          <a:lstStyle/>
          <a:p>
            <a:r>
              <a:rPr lang="en-US" sz="3600" dirty="0">
                <a:solidFill>
                  <a:srgbClr val="FF0000"/>
                </a:solidFill>
              </a:rPr>
              <a:t>T</a:t>
            </a:r>
            <a:r>
              <a:rPr lang="en-US" sz="3600" dirty="0" smtClean="0">
                <a:solidFill>
                  <a:srgbClr val="FF0000"/>
                </a:solidFill>
              </a:rPr>
              <a:t>he order?</a:t>
            </a:r>
            <a:endParaRPr lang="en-US" sz="3600" dirty="0">
              <a:solidFill>
                <a:srgbClr val="FF0000"/>
              </a:solidFill>
            </a:endParaRPr>
          </a:p>
        </p:txBody>
      </p:sp>
    </p:spTree>
    <p:extLst>
      <p:ext uri="{BB962C8B-B14F-4D97-AF65-F5344CB8AC3E}">
        <p14:creationId xmlns:p14="http://schemas.microsoft.com/office/powerpoint/2010/main" val="40161258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smtClean="0"/>
              <a:t>©2010 Pearson Prentice Hall. All rights reserved.</a:t>
            </a:r>
            <a:endParaRPr lang="en-US"/>
          </a:p>
        </p:txBody>
      </p:sp>
      <p:sp>
        <p:nvSpPr>
          <p:cNvPr id="3" name="灯片编号占位符 2"/>
          <p:cNvSpPr>
            <a:spLocks noGrp="1"/>
          </p:cNvSpPr>
          <p:nvPr>
            <p:ph type="sldNum" sz="quarter" idx="11"/>
          </p:nvPr>
        </p:nvSpPr>
        <p:spPr/>
        <p:txBody>
          <a:bodyPr/>
          <a:lstStyle/>
          <a:p>
            <a:pPr>
              <a:defRPr/>
            </a:pPr>
            <a:r>
              <a:rPr lang="en-US" smtClean="0"/>
              <a:t>1-</a:t>
            </a:r>
            <a:fld id="{D2362BE1-FB08-4E63-8B5A-5F7179461BBE}" type="slidenum">
              <a:rPr lang="en-US" smtClean="0"/>
              <a:t>4</a:t>
            </a:fld>
            <a:endParaRPr lang="en-US"/>
          </a:p>
        </p:txBody>
      </p:sp>
      <p:sp>
        <p:nvSpPr>
          <p:cNvPr id="5" name="TextBox 4"/>
          <p:cNvSpPr txBox="1"/>
          <p:nvPr/>
        </p:nvSpPr>
        <p:spPr>
          <a:xfrm>
            <a:off x="457200" y="2057400"/>
            <a:ext cx="8496300" cy="4154984"/>
          </a:xfrm>
          <a:prstGeom prst="rect">
            <a:avLst/>
          </a:prstGeom>
          <a:noFill/>
        </p:spPr>
        <p:txBody>
          <a:bodyPr wrap="square" rtlCol="0">
            <a:spAutoFit/>
          </a:bodyPr>
          <a:lstStyle/>
          <a:p>
            <a:pPr marL="342900" indent="-342900">
              <a:buFont typeface="Arial" panose="020B0604020202020204" pitchFamily="34" charset="0"/>
              <a:buChar char="•"/>
            </a:pPr>
            <a:r>
              <a:rPr lang="en-US" altLang="zh-CN" sz="2400" dirty="0" smtClean="0"/>
              <a:t>How to record business transactions?</a:t>
            </a:r>
          </a:p>
          <a:p>
            <a:endParaRPr lang="en-US" altLang="zh-CN" sz="2400" dirty="0"/>
          </a:p>
          <a:p>
            <a:pPr marL="342900" indent="-342900">
              <a:buFont typeface="Arial" panose="020B0604020202020204" pitchFamily="34" charset="0"/>
              <a:buChar char="•"/>
            </a:pPr>
            <a:r>
              <a:rPr lang="en-US" altLang="zh-CN" sz="2400" dirty="0" smtClean="0">
                <a:solidFill>
                  <a:srgbClr val="FF0000"/>
                </a:solidFill>
              </a:rPr>
              <a:t>Double-entry system, rules of debit and credit</a:t>
            </a:r>
          </a:p>
          <a:p>
            <a:endParaRPr lang="en-US" altLang="zh-CN" sz="2400" dirty="0" smtClean="0"/>
          </a:p>
          <a:p>
            <a:pPr marL="342900" indent="-342900">
              <a:buFont typeface="Arial" panose="020B0604020202020204" pitchFamily="34" charset="0"/>
              <a:buChar char="•"/>
            </a:pPr>
            <a:r>
              <a:rPr lang="en-US" altLang="zh-CN" sz="2400" dirty="0" smtClean="0"/>
              <a:t>T- account </a:t>
            </a:r>
          </a:p>
          <a:p>
            <a:endParaRPr lang="en-US" altLang="zh-CN" sz="2400" dirty="0"/>
          </a:p>
          <a:p>
            <a:pPr marL="342900" indent="-342900">
              <a:buFont typeface="Wingdings" panose="05000000000000000000" pitchFamily="2" charset="2"/>
              <a:buChar char="l"/>
            </a:pPr>
            <a:endParaRPr lang="en-US" altLang="zh-CN" sz="2400" dirty="0" smtClean="0"/>
          </a:p>
          <a:p>
            <a:endParaRPr lang="en-US" altLang="zh-CN" sz="2400" dirty="0"/>
          </a:p>
          <a:p>
            <a:endParaRPr lang="en-US" altLang="zh-CN" dirty="0" smtClean="0"/>
          </a:p>
          <a:p>
            <a:endParaRPr lang="en-US" altLang="zh-CN" dirty="0"/>
          </a:p>
          <a:p>
            <a:endParaRPr lang="en-US" altLang="zh-CN" dirty="0" smtClean="0"/>
          </a:p>
          <a:p>
            <a:endParaRPr lang="zh-CN" altLang="en-US" dirty="0"/>
          </a:p>
        </p:txBody>
      </p:sp>
      <p:sp>
        <p:nvSpPr>
          <p:cNvPr id="7" name="Title 1"/>
          <p:cNvSpPr txBox="1"/>
          <p:nvPr/>
        </p:nvSpPr>
        <p:spPr bwMode="auto">
          <a:xfrm>
            <a:off x="590550" y="990600"/>
            <a:ext cx="8229600" cy="1066800"/>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Trebuchet MS" panose="020B0603020202020204" pitchFamily="34" charset="0"/>
              </a:defRPr>
            </a:lvl2pPr>
            <a:lvl3pPr algn="l" rtl="0" eaLnBrk="0" fontAlgn="base" hangingPunct="0">
              <a:spcBef>
                <a:spcPct val="0"/>
              </a:spcBef>
              <a:spcAft>
                <a:spcPct val="0"/>
              </a:spcAft>
              <a:defRPr sz="4000">
                <a:solidFill>
                  <a:schemeClr val="tx2"/>
                </a:solidFill>
                <a:latin typeface="Trebuchet MS" panose="020B0603020202020204" pitchFamily="34" charset="0"/>
              </a:defRPr>
            </a:lvl3pPr>
            <a:lvl4pPr algn="l" rtl="0" eaLnBrk="0" fontAlgn="base" hangingPunct="0">
              <a:spcBef>
                <a:spcPct val="0"/>
              </a:spcBef>
              <a:spcAft>
                <a:spcPct val="0"/>
              </a:spcAft>
              <a:defRPr sz="4000">
                <a:solidFill>
                  <a:schemeClr val="tx2"/>
                </a:solidFill>
                <a:latin typeface="Trebuchet MS" panose="020B0603020202020204" pitchFamily="34" charset="0"/>
              </a:defRPr>
            </a:lvl4pPr>
            <a:lvl5pPr algn="l" rtl="0" eaLnBrk="0" fontAlgn="base" hangingPunct="0">
              <a:spcBef>
                <a:spcPct val="0"/>
              </a:spcBef>
              <a:spcAft>
                <a:spcPct val="0"/>
              </a:spcAft>
              <a:defRPr sz="4000">
                <a:solidFill>
                  <a:schemeClr val="tx2"/>
                </a:solidFill>
                <a:latin typeface="Trebuchet MS" panose="020B0603020202020204" pitchFamily="34" charset="0"/>
              </a:defRPr>
            </a:lvl5pPr>
            <a:lvl6pPr marL="457200" algn="l" rtl="0" eaLnBrk="0" fontAlgn="base" hangingPunct="0">
              <a:spcBef>
                <a:spcPct val="0"/>
              </a:spcBef>
              <a:spcAft>
                <a:spcPct val="0"/>
              </a:spcAft>
              <a:defRPr sz="4000">
                <a:solidFill>
                  <a:schemeClr val="tx2"/>
                </a:solidFill>
                <a:latin typeface="Trebuchet MS" panose="020B0603020202020204" pitchFamily="34" charset="0"/>
              </a:defRPr>
            </a:lvl6pPr>
            <a:lvl7pPr marL="914400" algn="l" rtl="0" eaLnBrk="0" fontAlgn="base" hangingPunct="0">
              <a:spcBef>
                <a:spcPct val="0"/>
              </a:spcBef>
              <a:spcAft>
                <a:spcPct val="0"/>
              </a:spcAft>
              <a:defRPr sz="4000">
                <a:solidFill>
                  <a:schemeClr val="tx2"/>
                </a:solidFill>
                <a:latin typeface="Trebuchet MS" panose="020B0603020202020204" pitchFamily="34" charset="0"/>
              </a:defRPr>
            </a:lvl7pPr>
            <a:lvl8pPr marL="1371600" algn="l" rtl="0" eaLnBrk="0" fontAlgn="base" hangingPunct="0">
              <a:spcBef>
                <a:spcPct val="0"/>
              </a:spcBef>
              <a:spcAft>
                <a:spcPct val="0"/>
              </a:spcAft>
              <a:defRPr sz="4000">
                <a:solidFill>
                  <a:schemeClr val="tx2"/>
                </a:solidFill>
                <a:latin typeface="Trebuchet MS" panose="020B0603020202020204" pitchFamily="34" charset="0"/>
              </a:defRPr>
            </a:lvl8pPr>
            <a:lvl9pPr marL="1828800" algn="l" rtl="0" eaLnBrk="0" fontAlgn="base" hangingPunct="0">
              <a:spcBef>
                <a:spcPct val="0"/>
              </a:spcBef>
              <a:spcAft>
                <a:spcPct val="0"/>
              </a:spcAft>
              <a:defRPr sz="4000">
                <a:solidFill>
                  <a:schemeClr val="tx2"/>
                </a:solidFill>
                <a:latin typeface="Trebuchet MS" panose="020B0603020202020204" pitchFamily="34" charset="0"/>
              </a:defRPr>
            </a:lvl9pPr>
          </a:lstStyle>
          <a:p>
            <a:pPr eaLnBrk="1" hangingPunct="1"/>
            <a:r>
              <a:rPr lang="en-US" kern="0" dirty="0" smtClean="0"/>
              <a:t>Today’s key points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829" y="4104412"/>
            <a:ext cx="8439151" cy="2723108"/>
          </a:xfrm>
          <a:prstGeom prst="rect">
            <a:avLst/>
          </a:prstGeom>
        </p:spPr>
      </p:pic>
    </p:spTree>
    <p:extLst>
      <p:ext uri="{BB962C8B-B14F-4D97-AF65-F5344CB8AC3E}">
        <p14:creationId xmlns:p14="http://schemas.microsoft.com/office/powerpoint/2010/main" val="206857750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idx="4294967295"/>
          </p:nvPr>
        </p:nvSpPr>
        <p:spPr/>
        <p:txBody>
          <a:bodyPr/>
          <a:lstStyle/>
          <a:p>
            <a:pPr eaLnBrk="1" hangingPunct="1"/>
            <a:r>
              <a:rPr lang="en-US" dirty="0" smtClean="0"/>
              <a:t>Transactions</a:t>
            </a:r>
          </a:p>
        </p:txBody>
      </p:sp>
      <p:sp>
        <p:nvSpPr>
          <p:cNvPr id="11267" name="Content Placeholder 2"/>
          <p:cNvSpPr>
            <a:spLocks noGrp="1"/>
          </p:cNvSpPr>
          <p:nvPr>
            <p:ph idx="4294967295"/>
          </p:nvPr>
        </p:nvSpPr>
        <p:spPr/>
        <p:txBody>
          <a:bodyPr/>
          <a:lstStyle/>
          <a:p>
            <a:r>
              <a:rPr lang="en-US" sz="2000" dirty="0" smtClean="0">
                <a:latin typeface="Times New Roman" panose="02020603050405020304" pitchFamily="18" charset="0"/>
                <a:cs typeface="Times New Roman" panose="02020603050405020304" pitchFamily="18" charset="0"/>
              </a:rPr>
              <a:t>ALL Events that have a </a:t>
            </a:r>
            <a:r>
              <a:rPr lang="en-US" sz="2000" u="sng" dirty="0">
                <a:latin typeface="Times New Roman" panose="02020603050405020304" pitchFamily="18" charset="0"/>
                <a:cs typeface="Times New Roman" panose="02020603050405020304" pitchFamily="18" charset="0"/>
              </a:rPr>
              <a:t> </a:t>
            </a:r>
            <a:r>
              <a:rPr lang="en-US" sz="2000" u="sng" dirty="0" smtClean="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on the business and </a:t>
            </a:r>
            <a:r>
              <a:rPr lang="en-US" altLang="zh-CN" sz="2000" u="sng" dirty="0">
                <a:latin typeface="Times New Roman" panose="02020603050405020304" pitchFamily="18" charset="0"/>
                <a:cs typeface="Times New Roman" panose="02020603050405020304" pitchFamily="18" charset="0"/>
              </a:rPr>
              <a:t> </a:t>
            </a:r>
            <a:r>
              <a:rPr lang="en-US" altLang="zh-CN" sz="2000" u="sng" dirty="0" smtClean="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reliably</a:t>
            </a:r>
          </a:p>
          <a:p>
            <a:pPr lvl="1" eaLnBrk="1" hangingPunct="1"/>
            <a:r>
              <a:rPr lang="en-US" sz="2000" dirty="0" smtClean="0">
                <a:latin typeface="Times New Roman" panose="02020603050405020304" pitchFamily="18" charset="0"/>
                <a:cs typeface="Times New Roman" panose="02020603050405020304" pitchFamily="18" charset="0"/>
              </a:rPr>
              <a:t>Selling products</a:t>
            </a:r>
          </a:p>
          <a:p>
            <a:pPr lvl="1" eaLnBrk="1" hangingPunct="1"/>
            <a:r>
              <a:rPr lang="en-US" sz="2000" dirty="0" smtClean="0">
                <a:latin typeface="Times New Roman" panose="02020603050405020304" pitchFamily="18" charset="0"/>
                <a:cs typeface="Times New Roman" panose="02020603050405020304" pitchFamily="18" charset="0"/>
              </a:rPr>
              <a:t>Paying expenses</a:t>
            </a:r>
          </a:p>
          <a:p>
            <a:pPr eaLnBrk="1" hangingPunct="1"/>
            <a:r>
              <a:rPr lang="en-US" sz="2000" dirty="0" smtClean="0">
                <a:latin typeface="Times New Roman" panose="02020603050405020304" pitchFamily="18" charset="0"/>
                <a:cs typeface="Times New Roman" panose="02020603050405020304" pitchFamily="18" charset="0"/>
              </a:rPr>
              <a:t>Have two sides:</a:t>
            </a:r>
          </a:p>
          <a:p>
            <a:pPr lvl="1" eaLnBrk="1" hangingPunct="1"/>
            <a:r>
              <a:rPr lang="en-US" sz="2000" dirty="0" smtClean="0">
                <a:latin typeface="Times New Roman" panose="02020603050405020304" pitchFamily="18" charset="0"/>
                <a:cs typeface="Times New Roman" panose="02020603050405020304" pitchFamily="18" charset="0"/>
              </a:rPr>
              <a:t>Giving</a:t>
            </a:r>
          </a:p>
          <a:p>
            <a:pPr lvl="1" eaLnBrk="1" hangingPunct="1"/>
            <a:r>
              <a:rPr lang="en-US" sz="2000" dirty="0" smtClean="0">
                <a:latin typeface="Times New Roman" panose="02020603050405020304" pitchFamily="18" charset="0"/>
                <a:cs typeface="Times New Roman" panose="02020603050405020304" pitchFamily="18" charset="0"/>
              </a:rPr>
              <a:t>Receiving</a:t>
            </a:r>
          </a:p>
          <a:p>
            <a:pPr eaLnBrk="1" hangingPunct="1"/>
            <a:r>
              <a:rPr lang="en-US" sz="2000" dirty="0" smtClean="0">
                <a:latin typeface="Times New Roman" panose="02020603050405020304" pitchFamily="18" charset="0"/>
                <a:cs typeface="Times New Roman" panose="02020603050405020304" pitchFamily="18" charset="0"/>
              </a:rPr>
              <a:t>Accounting records both sides of transactions</a:t>
            </a:r>
          </a:p>
          <a:p>
            <a:pPr lvl="1"/>
            <a:r>
              <a:rPr lang="en-US" sz="2000" dirty="0" smtClean="0">
                <a:latin typeface="Times New Roman" panose="02020603050405020304" pitchFamily="18" charset="0"/>
                <a:cs typeface="Times New Roman" panose="02020603050405020304" pitchFamily="18" charset="0"/>
              </a:rPr>
              <a:t>Often called</a:t>
            </a:r>
            <a:r>
              <a:rPr lang="en-US" altLang="zh-CN" sz="2000" dirty="0">
                <a:latin typeface="Times New Roman" panose="02020603050405020304" pitchFamily="18" charset="0"/>
                <a:cs typeface="Times New Roman" panose="02020603050405020304" pitchFamily="18" charset="0"/>
              </a:rPr>
              <a:t> </a:t>
            </a:r>
            <a:r>
              <a:rPr lang="en-US" altLang="zh-CN" sz="2000" dirty="0" smtClean="0">
                <a:latin typeface="Times New Roman" panose="02020603050405020304" pitchFamily="18" charset="0"/>
                <a:cs typeface="Times New Roman" panose="02020603050405020304" pitchFamily="18" charset="0"/>
              </a:rPr>
              <a:t> </a:t>
            </a:r>
            <a:r>
              <a:rPr lang="en-US" altLang="zh-CN" sz="2000" u="sng" dirty="0" smtClean="0">
                <a:latin typeface="Times New Roman" panose="02020603050405020304" pitchFamily="18" charset="0"/>
                <a:cs typeface="Times New Roman" panose="02020603050405020304" pitchFamily="18" charset="0"/>
              </a:rPr>
              <a:t>                      Accounting</a:t>
            </a:r>
            <a:r>
              <a:rPr lang="en-US" sz="2000" dirty="0" smtClean="0">
                <a:latin typeface="Times New Roman" panose="02020603050405020304" pitchFamily="18" charset="0"/>
                <a:cs typeface="Times New Roman" panose="02020603050405020304" pitchFamily="18" charset="0"/>
              </a:rPr>
              <a:t> </a:t>
            </a:r>
            <a:r>
              <a:rPr lang="en-US" altLang="zh-CN" sz="2000" u="sng" dirty="0" smtClean="0">
                <a:latin typeface="Times New Roman" panose="02020603050405020304" pitchFamily="18" charset="0"/>
                <a:cs typeface="Times New Roman" panose="02020603050405020304" pitchFamily="18" charset="0"/>
              </a:rPr>
              <a:t>                                </a:t>
            </a:r>
            <a:endParaRPr lang="en-US" sz="2000" dirty="0" smtClean="0">
              <a:latin typeface="Times New Roman" panose="02020603050405020304" pitchFamily="18" charset="0"/>
              <a:cs typeface="Times New Roman" panose="02020603050405020304" pitchFamily="18" charset="0"/>
            </a:endParaRPr>
          </a:p>
        </p:txBody>
      </p:sp>
      <p:sp>
        <p:nvSpPr>
          <p:cNvPr id="11268" name="Slide Number Placeholder 4"/>
          <p:cNvSpPr>
            <a:spLocks noGrp="1"/>
          </p:cNvSpPr>
          <p:nvPr>
            <p:ph type="sldNum" sz="quarter" idx="11"/>
          </p:nvPr>
        </p:nvSpPr>
        <p:spPr bwMode="auto">
          <a:xfrm>
            <a:off x="8382000" y="6491288"/>
            <a:ext cx="762000" cy="366712"/>
          </a:xfrm>
          <a:noFill/>
          <a:ln>
            <a:miter lim="800000"/>
          </a:ln>
        </p:spPr>
        <p:txBody>
          <a:bodyPr/>
          <a:lstStyle/>
          <a:p>
            <a:fld id="{5CD44B19-D7E9-4330-A1C9-C23ECE215992}" type="slidenum">
              <a:rPr lang="en-US" sz="1000" smtClean="0">
                <a:solidFill>
                  <a:schemeClr val="accent2"/>
                </a:solidFill>
                <a:latin typeface="Arial" panose="020B0604020202020204" pitchFamily="34" charset="0"/>
                <a:cs typeface="Arial" panose="020B0604020202020204" pitchFamily="34" charset="0"/>
              </a:rPr>
              <a:t>5</a:t>
            </a:fld>
            <a:endParaRPr lang="en-US" sz="1000" smtClean="0">
              <a:solidFill>
                <a:schemeClr val="accent2"/>
              </a:solidFill>
              <a:latin typeface="Arial" panose="020B0604020202020204" pitchFamily="34" charset="0"/>
              <a:cs typeface="Arial" panose="020B0604020202020204" pitchFamily="34" charset="0"/>
            </a:endParaRPr>
          </a:p>
        </p:txBody>
      </p:sp>
      <p:sp>
        <p:nvSpPr>
          <p:cNvPr id="11269" name="Footer Placeholder 4"/>
          <p:cNvSpPr txBox="1"/>
          <p:nvPr/>
        </p:nvSpPr>
        <p:spPr bwMode="auto">
          <a:xfrm>
            <a:off x="2438400" y="6553200"/>
            <a:ext cx="4343400" cy="304800"/>
          </a:xfrm>
          <a:prstGeom prst="rect">
            <a:avLst/>
          </a:prstGeom>
          <a:noFill/>
          <a:ln w="9525">
            <a:noFill/>
            <a:miter lim="800000"/>
          </a:ln>
        </p:spPr>
        <p:txBody>
          <a:bodyPr anchor="b"/>
          <a:lstStyle/>
          <a:p>
            <a:pPr algn="r"/>
            <a:r>
              <a:rPr lang="en-US" sz="1000">
                <a:solidFill>
                  <a:schemeClr val="accent2"/>
                </a:solidFill>
              </a:rPr>
              <a:t>Copyright ©2014 Pearson Education</a:t>
            </a:r>
          </a:p>
        </p:txBody>
      </p:sp>
      <p:sp>
        <p:nvSpPr>
          <p:cNvPr id="11270" name="Footer Placeholder 4"/>
          <p:cNvSpPr txBox="1"/>
          <p:nvPr/>
        </p:nvSpPr>
        <p:spPr bwMode="auto">
          <a:xfrm>
            <a:off x="2590800" y="6705600"/>
            <a:ext cx="4343400" cy="304800"/>
          </a:xfrm>
          <a:prstGeom prst="rect">
            <a:avLst/>
          </a:prstGeom>
          <a:noFill/>
          <a:ln w="9525">
            <a:noFill/>
            <a:miter lim="800000"/>
          </a:ln>
        </p:spPr>
        <p:txBody>
          <a:bodyPr anchor="b"/>
          <a:lstStyle/>
          <a:p>
            <a:pPr algn="r"/>
            <a:endParaRPr lang="en-GB" sz="1000">
              <a:solidFill>
                <a:schemeClr val="accent2"/>
              </a:solidFill>
            </a:endParaRPr>
          </a:p>
        </p:txBody>
      </p:sp>
    </p:spTree>
    <p:extLst>
      <p:ext uri="{BB962C8B-B14F-4D97-AF65-F5344CB8AC3E}">
        <p14:creationId xmlns:p14="http://schemas.microsoft.com/office/powerpoint/2010/main" val="150778152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pPr>
              <a:defRPr/>
            </a:pPr>
            <a:r>
              <a:rPr lang="en-US" smtClean="0"/>
              <a:t>©2010 Pearson Prentice Hall. All rights reserved.</a:t>
            </a:r>
            <a:endParaRPr lang="en-US"/>
          </a:p>
        </p:txBody>
      </p:sp>
      <p:sp>
        <p:nvSpPr>
          <p:cNvPr id="3" name="Slide Number Placeholder 2"/>
          <p:cNvSpPr>
            <a:spLocks noGrp="1"/>
          </p:cNvSpPr>
          <p:nvPr>
            <p:ph type="sldNum" sz="quarter" idx="11"/>
          </p:nvPr>
        </p:nvSpPr>
        <p:spPr/>
        <p:txBody>
          <a:bodyPr/>
          <a:lstStyle/>
          <a:p>
            <a:pPr>
              <a:defRPr/>
            </a:pPr>
            <a:r>
              <a:rPr lang="en-US" smtClean="0"/>
              <a:t>1-</a:t>
            </a:r>
            <a:fld id="{D2362BE1-FB08-4E63-8B5A-5F7179461BBE}" type="slidenum">
              <a:rPr lang="en-US" smtClean="0"/>
              <a:t>6</a:t>
            </a:fld>
            <a:endParaRPr lang="en-US"/>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3999" cy="6858000"/>
          </a:xfrm>
          <a:prstGeom prst="rect">
            <a:avLst/>
          </a:prstGeom>
        </p:spPr>
      </p:pic>
    </p:spTree>
    <p:extLst>
      <p:ext uri="{BB962C8B-B14F-4D97-AF65-F5344CB8AC3E}">
        <p14:creationId xmlns:p14="http://schemas.microsoft.com/office/powerpoint/2010/main" val="294421394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Content Placeholder 2"/>
          <p:cNvSpPr>
            <a:spLocks noGrp="1"/>
          </p:cNvSpPr>
          <p:nvPr>
            <p:ph idx="4294967295"/>
          </p:nvPr>
        </p:nvSpPr>
        <p:spPr>
          <a:xfrm>
            <a:off x="457200" y="2667000"/>
            <a:ext cx="8229600" cy="3459163"/>
          </a:xfrm>
        </p:spPr>
        <p:txBody>
          <a:bodyPr/>
          <a:lstStyle/>
          <a:p>
            <a:pPr eaLnBrk="1" hangingPunct="1"/>
            <a:endParaRPr lang="en-US" dirty="0" smtClean="0"/>
          </a:p>
          <a:p>
            <a:pPr eaLnBrk="1" hangingPunct="1"/>
            <a:endParaRPr lang="en-US" dirty="0" smtClean="0"/>
          </a:p>
          <a:p>
            <a:pPr eaLnBrk="1" hangingPunct="1"/>
            <a:endParaRPr lang="en-US" dirty="0" smtClean="0"/>
          </a:p>
          <a:p>
            <a:pPr eaLnBrk="1" hangingPunct="1"/>
            <a:endParaRPr lang="en-US" dirty="0"/>
          </a:p>
          <a:p>
            <a:pPr eaLnBrk="1" hangingPunct="1"/>
            <a:endParaRPr lang="en-US" dirty="0" smtClean="0"/>
          </a:p>
          <a:p>
            <a:pPr eaLnBrk="1" hangingPunct="1"/>
            <a:r>
              <a:rPr lang="en-US" sz="2000" dirty="0" smtClean="0">
                <a:solidFill>
                  <a:srgbClr val="FF0000"/>
                </a:solidFill>
              </a:rPr>
              <a:t>An Account </a:t>
            </a:r>
            <a:r>
              <a:rPr lang="en-US" sz="2000" dirty="0" smtClean="0"/>
              <a:t>is a record of all the changes in </a:t>
            </a:r>
            <a:r>
              <a:rPr lang="en-US" sz="2000" b="1" u="sng" dirty="0" smtClean="0"/>
              <a:t>a particular</a:t>
            </a:r>
            <a:r>
              <a:rPr lang="en-US" sz="2000" dirty="0" smtClean="0"/>
              <a:t> asset, liability and shareholders’ equity element</a:t>
            </a:r>
          </a:p>
          <a:p>
            <a:pPr lvl="1" eaLnBrk="1" hangingPunct="1"/>
            <a:r>
              <a:rPr lang="en-US" sz="2000" dirty="0" smtClean="0"/>
              <a:t>Basic </a:t>
            </a:r>
            <a:r>
              <a:rPr lang="en-US" sz="2000" u="sng" dirty="0" smtClean="0"/>
              <a:t>summary device </a:t>
            </a:r>
            <a:r>
              <a:rPr lang="en-US" sz="2000" dirty="0" smtClean="0"/>
              <a:t>of accounting</a:t>
            </a:r>
          </a:p>
        </p:txBody>
      </p:sp>
      <p:sp>
        <p:nvSpPr>
          <p:cNvPr id="12292" name="Slide Number Placeholder 4"/>
          <p:cNvSpPr>
            <a:spLocks noGrp="1"/>
          </p:cNvSpPr>
          <p:nvPr>
            <p:ph type="sldNum" sz="quarter" idx="11"/>
          </p:nvPr>
        </p:nvSpPr>
        <p:spPr bwMode="auto">
          <a:xfrm>
            <a:off x="8382000" y="6491288"/>
            <a:ext cx="762000" cy="366712"/>
          </a:xfrm>
          <a:noFill/>
          <a:ln>
            <a:miter lim="800000"/>
          </a:ln>
        </p:spPr>
        <p:txBody>
          <a:bodyPr/>
          <a:lstStyle/>
          <a:p>
            <a:fld id="{4CC04F83-FE1C-4E12-81D9-3D337A3351E0}" type="slidenum">
              <a:rPr lang="en-US" sz="1000" smtClean="0">
                <a:solidFill>
                  <a:schemeClr val="accent2"/>
                </a:solidFill>
                <a:latin typeface="Arial" panose="020B0604020202020204" pitchFamily="34" charset="0"/>
                <a:cs typeface="Arial" panose="020B0604020202020204" pitchFamily="34" charset="0"/>
              </a:rPr>
              <a:t>7</a:t>
            </a:fld>
            <a:endParaRPr lang="en-US" sz="1000" smtClean="0">
              <a:solidFill>
                <a:schemeClr val="accent2"/>
              </a:solidFill>
              <a:latin typeface="Arial" panose="020B0604020202020204" pitchFamily="34" charset="0"/>
              <a:cs typeface="Arial" panose="020B0604020202020204" pitchFamily="34" charset="0"/>
            </a:endParaRPr>
          </a:p>
        </p:txBody>
      </p:sp>
      <p:sp>
        <p:nvSpPr>
          <p:cNvPr id="12298" name="Footer Placeholder 4"/>
          <p:cNvSpPr txBox="1"/>
          <p:nvPr/>
        </p:nvSpPr>
        <p:spPr bwMode="auto">
          <a:xfrm>
            <a:off x="2438400" y="6553200"/>
            <a:ext cx="4343400" cy="304800"/>
          </a:xfrm>
          <a:prstGeom prst="rect">
            <a:avLst/>
          </a:prstGeom>
          <a:noFill/>
          <a:ln w="9525">
            <a:noFill/>
            <a:miter lim="800000"/>
          </a:ln>
        </p:spPr>
        <p:txBody>
          <a:bodyPr anchor="b"/>
          <a:lstStyle/>
          <a:p>
            <a:pPr algn="r"/>
            <a:r>
              <a:rPr lang="en-US" sz="1000">
                <a:solidFill>
                  <a:schemeClr val="accent2"/>
                </a:solidFill>
              </a:rPr>
              <a:t>Copyright ©2014 Pearson Education</a:t>
            </a:r>
          </a:p>
        </p:txBody>
      </p:sp>
      <p:sp>
        <p:nvSpPr>
          <p:cNvPr id="12299" name="Footer Placeholder 4"/>
          <p:cNvSpPr txBox="1"/>
          <p:nvPr/>
        </p:nvSpPr>
        <p:spPr bwMode="auto">
          <a:xfrm>
            <a:off x="2590800" y="6705600"/>
            <a:ext cx="4343400" cy="304800"/>
          </a:xfrm>
          <a:prstGeom prst="rect">
            <a:avLst/>
          </a:prstGeom>
          <a:noFill/>
          <a:ln w="9525">
            <a:noFill/>
            <a:miter lim="800000"/>
          </a:ln>
        </p:spPr>
        <p:txBody>
          <a:bodyPr anchor="b"/>
          <a:lstStyle/>
          <a:p>
            <a:pPr algn="r"/>
            <a:endParaRPr lang="en-GB" sz="1000">
              <a:solidFill>
                <a:schemeClr val="accent2"/>
              </a:solidFill>
            </a:endParaRPr>
          </a:p>
        </p:txBody>
      </p:sp>
      <p:pic>
        <p:nvPicPr>
          <p:cNvPr id="17" name="Picture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5400" y="533400"/>
            <a:ext cx="5958841" cy="3874321"/>
          </a:xfrm>
          <a:prstGeom prst="rect">
            <a:avLst/>
          </a:prstGeom>
        </p:spPr>
      </p:pic>
    </p:spTree>
    <p:extLst>
      <p:ext uri="{BB962C8B-B14F-4D97-AF65-F5344CB8AC3E}">
        <p14:creationId xmlns:p14="http://schemas.microsoft.com/office/powerpoint/2010/main" val="125120696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3"/>
          <p:cNvSpPr>
            <a:spLocks noGrp="1"/>
          </p:cNvSpPr>
          <p:nvPr>
            <p:ph type="title"/>
          </p:nvPr>
        </p:nvSpPr>
        <p:spPr>
          <a:xfrm>
            <a:off x="276849" y="137130"/>
            <a:ext cx="8229600" cy="609600"/>
          </a:xfrm>
        </p:spPr>
        <p:txBody>
          <a:bodyPr/>
          <a:lstStyle/>
          <a:p>
            <a:r>
              <a:rPr lang="en-US" dirty="0" smtClean="0"/>
              <a:t>Assets</a:t>
            </a:r>
          </a:p>
        </p:txBody>
      </p:sp>
      <p:sp>
        <p:nvSpPr>
          <p:cNvPr id="2" name="Footer Placeholder 1"/>
          <p:cNvSpPr>
            <a:spLocks noGrp="1"/>
          </p:cNvSpPr>
          <p:nvPr>
            <p:ph type="ftr" sz="quarter" idx="10"/>
          </p:nvPr>
        </p:nvSpPr>
        <p:spPr>
          <a:xfrm>
            <a:off x="3124200" y="6553200"/>
            <a:ext cx="2895600" cy="457200"/>
          </a:xfrm>
        </p:spPr>
        <p:txBody>
          <a:bodyPr/>
          <a:lstStyle/>
          <a:p>
            <a:pPr>
              <a:defRPr/>
            </a:pPr>
            <a:r>
              <a:rPr lang="en-US" dirty="0" smtClean="0"/>
              <a:t>©2010 Pearson Prentice Hall. All rights reserved.</a:t>
            </a:r>
            <a:endParaRPr lang="en-US" dirty="0"/>
          </a:p>
        </p:txBody>
      </p:sp>
      <p:sp>
        <p:nvSpPr>
          <p:cNvPr id="14341" name="Slide Number Placeholder 2"/>
          <p:cNvSpPr>
            <a:spLocks noGrp="1"/>
          </p:cNvSpPr>
          <p:nvPr>
            <p:ph type="sldNum" sz="quarter" idx="11"/>
          </p:nvPr>
        </p:nvSpPr>
        <p:spPr bwMode="auto">
          <a:noFill/>
          <a:ln>
            <a:miter lim="800000"/>
          </a:ln>
        </p:spPr>
        <p:txBody>
          <a:bodyPr/>
          <a:lstStyle/>
          <a:p>
            <a:r>
              <a:rPr lang="en-US" smtClean="0">
                <a:latin typeface="Arial" panose="020B0604020202020204" pitchFamily="34" charset="0"/>
                <a:cs typeface="Arial" panose="020B0604020202020204" pitchFamily="34" charset="0"/>
              </a:rPr>
              <a:t>1-</a:t>
            </a:r>
            <a:fld id="{CCBCBFF8-7D13-44D5-85CE-CDA2FD26B935}" type="slidenum">
              <a:rPr lang="en-US" smtClean="0">
                <a:latin typeface="Arial" panose="020B0604020202020204" pitchFamily="34" charset="0"/>
                <a:cs typeface="Arial" panose="020B0604020202020204" pitchFamily="34" charset="0"/>
              </a:rPr>
              <a:t>8</a:t>
            </a:fld>
            <a:endParaRPr lang="en-US" smtClean="0">
              <a:latin typeface="Arial" panose="020B0604020202020204" pitchFamily="34" charset="0"/>
              <a:cs typeface="Arial" panose="020B0604020202020204" pitchFamily="34" charset="0"/>
            </a:endParaRPr>
          </a:p>
        </p:txBody>
      </p:sp>
      <p:graphicFrame>
        <p:nvGraphicFramePr>
          <p:cNvPr id="3" name="Table 2"/>
          <p:cNvGraphicFramePr>
            <a:graphicFrameLocks noGrp="1"/>
          </p:cNvGraphicFramePr>
          <p:nvPr>
            <p:extLst>
              <p:ext uri="{D42A27DB-BD31-4B8C-83A1-F6EECF244321}">
                <p14:modId xmlns:p14="http://schemas.microsoft.com/office/powerpoint/2010/main" val="3545053995"/>
              </p:ext>
            </p:extLst>
          </p:nvPr>
        </p:nvGraphicFramePr>
        <p:xfrm>
          <a:off x="228600" y="819498"/>
          <a:ext cx="8763001" cy="5962302"/>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6477001">
                  <a:extLst>
                    <a:ext uri="{9D8B030D-6E8A-4147-A177-3AD203B41FA5}">
                      <a16:colId xmlns:a16="http://schemas.microsoft.com/office/drawing/2014/main" val="20001"/>
                    </a:ext>
                  </a:extLst>
                </a:gridCol>
              </a:tblGrid>
              <a:tr h="222973">
                <a:tc>
                  <a:txBody>
                    <a:bodyPr/>
                    <a:lstStyle/>
                    <a:p>
                      <a:r>
                        <a:rPr lang="en-US" sz="1600" dirty="0" smtClean="0"/>
                        <a:t>Asset</a:t>
                      </a:r>
                      <a:r>
                        <a:rPr lang="en-US" sz="1600" baseline="0" dirty="0" smtClean="0"/>
                        <a:t> Name</a:t>
                      </a:r>
                      <a:endParaRPr lang="en-US" sz="1600" dirty="0"/>
                    </a:p>
                  </a:txBody>
                  <a:tcPr/>
                </a:tc>
                <a:tc>
                  <a:txBody>
                    <a:bodyPr/>
                    <a:lstStyle/>
                    <a:p>
                      <a:r>
                        <a:rPr lang="en-US" sz="1600" dirty="0" smtClean="0"/>
                        <a:t>Description</a:t>
                      </a:r>
                      <a:endParaRPr lang="en-US" sz="1600" dirty="0"/>
                    </a:p>
                  </a:txBody>
                  <a:tcPr/>
                </a:tc>
                <a:extLst>
                  <a:ext uri="{0D108BD9-81ED-4DB2-BD59-A6C34878D82A}">
                    <a16:rowId xmlns:a16="http://schemas.microsoft.com/office/drawing/2014/main" val="10000"/>
                  </a:ext>
                </a:extLst>
              </a:tr>
              <a:tr h="724663">
                <a:tc>
                  <a:txBody>
                    <a:bodyPr/>
                    <a:lstStyle/>
                    <a:p>
                      <a:r>
                        <a:rPr lang="en-US" sz="1600" dirty="0" smtClean="0"/>
                        <a:t>Cash</a:t>
                      </a:r>
                      <a:endParaRPr 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1600" dirty="0" smtClean="0">
                          <a:solidFill>
                            <a:srgbClr val="0070C0"/>
                          </a:solidFill>
                          <a:latin typeface="Times New Roman" panose="02020603050405020304" pitchFamily="18" charset="0"/>
                          <a:cs typeface="Times New Roman" panose="02020603050405020304" pitchFamily="18" charset="0"/>
                        </a:rPr>
                        <a:t>Money and any medium of exchange</a:t>
                      </a:r>
                      <a:r>
                        <a:rPr lang="en-US" sz="1600" dirty="0" smtClean="0">
                          <a:latin typeface="Times New Roman" panose="02020603050405020304" pitchFamily="18" charset="0"/>
                          <a:cs typeface="Times New Roman" panose="02020603050405020304" pitchFamily="18" charset="0"/>
                        </a:rPr>
                        <a:t> including bank account balances, paper currency, coins, certificates of deposit, and checks.</a:t>
                      </a:r>
                    </a:p>
                  </a:txBody>
                  <a:tcPr/>
                </a:tc>
                <a:extLst>
                  <a:ext uri="{0D108BD9-81ED-4DB2-BD59-A6C34878D82A}">
                    <a16:rowId xmlns:a16="http://schemas.microsoft.com/office/drawing/2014/main" val="10001"/>
                  </a:ext>
                </a:extLst>
              </a:tr>
              <a:tr h="724663">
                <a:tc>
                  <a:txBody>
                    <a:bodyPr/>
                    <a:lstStyle/>
                    <a:p>
                      <a:r>
                        <a:rPr lang="en-US" sz="1600" dirty="0" smtClean="0">
                          <a:solidFill>
                            <a:srgbClr val="FF0000"/>
                          </a:solidFill>
                        </a:rPr>
                        <a:t>Accounts Receivable</a:t>
                      </a:r>
                      <a:endParaRPr lang="en-US" sz="1600" dirty="0">
                        <a:solidFill>
                          <a:srgbClr val="FF0000"/>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1600" dirty="0" smtClean="0">
                          <a:latin typeface="Times New Roman" panose="02020603050405020304" pitchFamily="18" charset="0"/>
                          <a:cs typeface="Times New Roman" panose="02020603050405020304" pitchFamily="18" charset="0"/>
                        </a:rPr>
                        <a:t>Companies sell their goods and services and receives a promise for </a:t>
                      </a:r>
                      <a:r>
                        <a:rPr lang="en-US" sz="1600" dirty="0" smtClean="0">
                          <a:solidFill>
                            <a:srgbClr val="0070C0"/>
                          </a:solidFill>
                          <a:latin typeface="Times New Roman" panose="02020603050405020304" pitchFamily="18" charset="0"/>
                          <a:cs typeface="Times New Roman" panose="02020603050405020304" pitchFamily="18" charset="0"/>
                        </a:rPr>
                        <a:t>future collection of cash</a:t>
                      </a:r>
                      <a:r>
                        <a:rPr lang="en-US" sz="1600" dirty="0" smtClean="0">
                          <a:latin typeface="Times New Roman" panose="02020603050405020304" pitchFamily="18" charset="0"/>
                          <a:cs typeface="Times New Roman" panose="02020603050405020304" pitchFamily="18" charset="0"/>
                        </a:rPr>
                        <a:t>. The Accounts receivable account holds these amounts. (from </a:t>
                      </a:r>
                      <a:r>
                        <a:rPr lang="en-US" altLang="zh-CN" sz="1600" u="sng" dirty="0" smtClean="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10002"/>
                  </a:ext>
                </a:extLst>
              </a:tr>
              <a:tr h="891893">
                <a:tc>
                  <a:txBody>
                    <a:bodyPr/>
                    <a:lstStyle/>
                    <a:p>
                      <a:r>
                        <a:rPr lang="en-US" sz="1600" dirty="0" smtClean="0">
                          <a:solidFill>
                            <a:srgbClr val="FF0000"/>
                          </a:solidFill>
                        </a:rPr>
                        <a:t>Notes Receivable</a:t>
                      </a:r>
                      <a:endParaRPr lang="en-US" sz="1600" dirty="0">
                        <a:solidFill>
                          <a:srgbClr val="FF0000"/>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1600" dirty="0" smtClean="0">
                          <a:latin typeface="Times New Roman" panose="02020603050405020304" pitchFamily="18" charset="0"/>
                          <a:cs typeface="Times New Roman" panose="02020603050405020304" pitchFamily="18" charset="0"/>
                        </a:rPr>
                        <a:t>A note receivable is similar to an account receivable, but a note receivable is more binding because the borrower signs a note, </a:t>
                      </a:r>
                      <a:r>
                        <a:rPr lang="en-US" sz="1600" dirty="0" smtClean="0">
                          <a:solidFill>
                            <a:srgbClr val="0070C0"/>
                          </a:solidFill>
                          <a:latin typeface="Times New Roman" panose="02020603050405020304" pitchFamily="18" charset="0"/>
                          <a:cs typeface="Times New Roman" panose="02020603050405020304" pitchFamily="18" charset="0"/>
                        </a:rPr>
                        <a:t>often with a specific interest rate</a:t>
                      </a:r>
                      <a:r>
                        <a:rPr lang="en-US" sz="1600" dirty="0" smtClean="0">
                          <a:latin typeface="Times New Roman" panose="02020603050405020304" pitchFamily="18" charset="0"/>
                          <a:cs typeface="Times New Roman" panose="02020603050405020304" pitchFamily="18" charset="0"/>
                        </a:rPr>
                        <a:t>. (from </a:t>
                      </a:r>
                      <a:r>
                        <a:rPr lang="en-US" altLang="zh-CN" sz="1600" u="sng" dirty="0" smtClean="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10003"/>
                  </a:ext>
                </a:extLst>
              </a:tr>
              <a:tr h="557433">
                <a:tc>
                  <a:txBody>
                    <a:bodyPr/>
                    <a:lstStyle/>
                    <a:p>
                      <a:r>
                        <a:rPr lang="en-US" sz="1600" dirty="0" smtClean="0"/>
                        <a:t>Inventory</a:t>
                      </a:r>
                      <a:endParaRPr lang="en-US" sz="1600" dirty="0"/>
                    </a:p>
                  </a:txBody>
                  <a:tcPr/>
                </a:tc>
                <a:tc>
                  <a:txBody>
                    <a:bodyPr/>
                    <a:lstStyle/>
                    <a:p>
                      <a:r>
                        <a:rPr lang="en-US" sz="1600" dirty="0" smtClean="0">
                          <a:latin typeface="Times New Roman" panose="02020603050405020304" pitchFamily="18" charset="0"/>
                          <a:cs typeface="Times New Roman" panose="02020603050405020304" pitchFamily="18" charset="0"/>
                        </a:rPr>
                        <a:t>The </a:t>
                      </a:r>
                      <a:r>
                        <a:rPr lang="en-US" sz="1600" dirty="0" smtClean="0">
                          <a:solidFill>
                            <a:srgbClr val="0070C0"/>
                          </a:solidFill>
                          <a:latin typeface="Times New Roman" panose="02020603050405020304" pitchFamily="18" charset="0"/>
                          <a:cs typeface="Times New Roman" panose="02020603050405020304" pitchFamily="18" charset="0"/>
                        </a:rPr>
                        <a:t>products</a:t>
                      </a:r>
                      <a:r>
                        <a:rPr lang="en-US" sz="1600" dirty="0" smtClean="0">
                          <a:latin typeface="Times New Roman" panose="02020603050405020304" pitchFamily="18" charset="0"/>
                          <a:cs typeface="Times New Roman" panose="02020603050405020304" pitchFamily="18" charset="0"/>
                        </a:rPr>
                        <a:t> a company sells to customers. Other titles for this account include </a:t>
                      </a:r>
                      <a:r>
                        <a:rPr lang="en-US" altLang="zh-CN" sz="1600" u="sng" dirty="0" smtClean="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 and </a:t>
                      </a:r>
                      <a:r>
                        <a:rPr lang="en-US" sz="1600" u="sng" dirty="0" smtClean="0">
                          <a:latin typeface="Times New Roman" panose="02020603050405020304" pitchFamily="18" charset="0"/>
                          <a:cs typeface="Times New Roman" panose="02020603050405020304" pitchFamily="18" charset="0"/>
                        </a:rPr>
                        <a:t>Merchandise inventory</a:t>
                      </a:r>
                      <a:r>
                        <a:rPr lang="en-US" sz="1600" dirty="0" smtClean="0">
                          <a:latin typeface="Times New Roman" panose="02020603050405020304" pitchFamily="18" charset="0"/>
                          <a:cs typeface="Times New Roman" panose="02020603050405020304" pitchFamily="18" charset="0"/>
                        </a:rPr>
                        <a:t>.</a:t>
                      </a:r>
                      <a:endParaRPr lang="en-US" sz="1600" dirty="0"/>
                    </a:p>
                  </a:txBody>
                  <a:tcPr/>
                </a:tc>
                <a:extLst>
                  <a:ext uri="{0D108BD9-81ED-4DB2-BD59-A6C34878D82A}">
                    <a16:rowId xmlns:a16="http://schemas.microsoft.com/office/drawing/2014/main" val="10004"/>
                  </a:ext>
                </a:extLst>
              </a:tr>
              <a:tr h="724663">
                <a:tc>
                  <a:txBody>
                    <a:bodyPr/>
                    <a:lstStyle/>
                    <a:p>
                      <a:r>
                        <a:rPr lang="en-US" sz="1600" dirty="0" smtClean="0">
                          <a:solidFill>
                            <a:srgbClr val="FF0000"/>
                          </a:solidFill>
                        </a:rPr>
                        <a:t>Prepaid</a:t>
                      </a:r>
                      <a:r>
                        <a:rPr lang="en-US" sz="1600" baseline="0" dirty="0" smtClean="0">
                          <a:solidFill>
                            <a:srgbClr val="FF0000"/>
                          </a:solidFill>
                        </a:rPr>
                        <a:t> Expenses</a:t>
                      </a:r>
                      <a:endParaRPr lang="en-US" sz="1600" dirty="0">
                        <a:solidFill>
                          <a:srgbClr val="FF0000"/>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1600" dirty="0" smtClean="0">
                          <a:latin typeface="Times New Roman" panose="02020603050405020304" pitchFamily="18" charset="0"/>
                          <a:cs typeface="Times New Roman" panose="02020603050405020304" pitchFamily="18" charset="0"/>
                        </a:rPr>
                        <a:t>A future expense that </a:t>
                      </a:r>
                      <a:r>
                        <a:rPr lang="en-US" sz="1600" dirty="0" smtClean="0">
                          <a:solidFill>
                            <a:srgbClr val="0070C0"/>
                          </a:solidFill>
                          <a:latin typeface="Times New Roman" panose="02020603050405020304" pitchFamily="18" charset="0"/>
                          <a:cs typeface="Times New Roman" panose="02020603050405020304" pitchFamily="18" charset="0"/>
                        </a:rPr>
                        <a:t>has already been paid</a:t>
                      </a:r>
                      <a:r>
                        <a:rPr lang="en-US" sz="1600" dirty="0" smtClean="0">
                          <a:latin typeface="Times New Roman" panose="02020603050405020304" pitchFamily="18" charset="0"/>
                          <a:cs typeface="Times New Roman" panose="02020603050405020304" pitchFamily="18" charset="0"/>
                        </a:rPr>
                        <a:t>. Examples: Prepaid rent, Prepaid insurance, and Supplies.</a:t>
                      </a:r>
                      <a:endParaRPr lang="en-US" sz="1600" dirty="0"/>
                    </a:p>
                  </a:txBody>
                  <a:tcPr/>
                </a:tc>
                <a:extLst>
                  <a:ext uri="{0D108BD9-81ED-4DB2-BD59-A6C34878D82A}">
                    <a16:rowId xmlns:a16="http://schemas.microsoft.com/office/drawing/2014/main" val="10005"/>
                  </a:ext>
                </a:extLst>
              </a:tr>
              <a:tr h="390203">
                <a:tc>
                  <a:txBody>
                    <a:bodyPr/>
                    <a:lstStyle/>
                    <a:p>
                      <a:r>
                        <a:rPr lang="en-US" sz="1600" dirty="0" smtClean="0"/>
                        <a:t>Land</a:t>
                      </a:r>
                      <a:endParaRPr 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1600" dirty="0" smtClean="0">
                          <a:latin typeface="Times New Roman" panose="02020603050405020304" pitchFamily="18" charset="0"/>
                          <a:cs typeface="Times New Roman" panose="02020603050405020304" pitchFamily="18" charset="0"/>
                        </a:rPr>
                        <a:t>The Land account shows the cost of the land a company uses in its operations.</a:t>
                      </a:r>
                    </a:p>
                  </a:txBody>
                  <a:tcPr/>
                </a:tc>
                <a:extLst>
                  <a:ext uri="{0D108BD9-81ED-4DB2-BD59-A6C34878D82A}">
                    <a16:rowId xmlns:a16="http://schemas.microsoft.com/office/drawing/2014/main" val="10006"/>
                  </a:ext>
                </a:extLst>
              </a:tr>
              <a:tr h="390203">
                <a:tc>
                  <a:txBody>
                    <a:bodyPr/>
                    <a:lstStyle/>
                    <a:p>
                      <a:r>
                        <a:rPr lang="en-US" sz="1600" dirty="0" smtClean="0"/>
                        <a:t>Buildings</a:t>
                      </a:r>
                      <a:endParaRPr 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1600" dirty="0" smtClean="0">
                          <a:latin typeface="Times New Roman" panose="02020603050405020304" pitchFamily="18" charset="0"/>
                          <a:cs typeface="Times New Roman" panose="02020603050405020304" pitchFamily="18" charset="0"/>
                        </a:rPr>
                        <a:t>The costs of office buildings, manufacturing plants, etc.</a:t>
                      </a:r>
                    </a:p>
                  </a:txBody>
                  <a:tcPr/>
                </a:tc>
                <a:extLst>
                  <a:ext uri="{0D108BD9-81ED-4DB2-BD59-A6C34878D82A}">
                    <a16:rowId xmlns:a16="http://schemas.microsoft.com/office/drawing/2014/main" val="10007"/>
                  </a:ext>
                </a:extLst>
              </a:tr>
              <a:tr h="557433">
                <a:tc>
                  <a:txBody>
                    <a:bodyPr/>
                    <a:lstStyle/>
                    <a:p>
                      <a:r>
                        <a:rPr lang="en-US" sz="1600" dirty="0" smtClean="0"/>
                        <a:t>Equipment, Furniture, and Fixtures</a:t>
                      </a:r>
                      <a:endParaRPr lang="en-US" sz="1600" dirty="0"/>
                    </a:p>
                  </a:txBody>
                  <a:tcPr/>
                </a:tc>
                <a:tc>
                  <a:txBody>
                    <a:bodyPr/>
                    <a:lstStyle/>
                    <a:p>
                      <a:r>
                        <a:rPr lang="en-US" sz="1600" dirty="0" smtClean="0">
                          <a:latin typeface="Times New Roman" panose="02020603050405020304" pitchFamily="18" charset="0"/>
                          <a:cs typeface="Times New Roman" panose="02020603050405020304" pitchFamily="18" charset="0"/>
                        </a:rPr>
                        <a:t>These asset accounts includes items such as computers, office furniture and store shelving.</a:t>
                      </a:r>
                      <a:endParaRPr lang="en-US" sz="1600" dirty="0"/>
                    </a:p>
                  </a:txBody>
                  <a:tcPr/>
                </a:tc>
                <a:extLst>
                  <a:ext uri="{0D108BD9-81ED-4DB2-BD59-A6C34878D82A}">
                    <a16:rowId xmlns:a16="http://schemas.microsoft.com/office/drawing/2014/main" val="10008"/>
                  </a:ext>
                </a:extLst>
              </a:tr>
              <a:tr h="226070">
                <a:tc>
                  <a:txBody>
                    <a:bodyPr/>
                    <a:lstStyle/>
                    <a:p>
                      <a:endParaRPr lang="en-US" sz="1600" dirty="0"/>
                    </a:p>
                  </a:txBody>
                  <a:tcPr/>
                </a:tc>
                <a:tc>
                  <a:txBody>
                    <a:bodyPr/>
                    <a:lstStyle/>
                    <a:p>
                      <a:r>
                        <a:rPr lang="en-US" sz="1600" dirty="0" smtClean="0"/>
                        <a:t>(Land,</a:t>
                      </a:r>
                      <a:r>
                        <a:rPr lang="en-US" sz="1600" baseline="0" dirty="0" smtClean="0"/>
                        <a:t> Buildings, Equipment are commonly combined into </a:t>
                      </a:r>
                      <a:r>
                        <a:rPr lang="en-US" sz="1600" baseline="0" dirty="0" smtClean="0">
                          <a:solidFill>
                            <a:srgbClr val="0070C0"/>
                          </a:solidFill>
                        </a:rPr>
                        <a:t>PPE</a:t>
                      </a:r>
                      <a:r>
                        <a:rPr lang="en-US" sz="1600" baseline="0" dirty="0" smtClean="0"/>
                        <a:t>)</a:t>
                      </a:r>
                      <a:endParaRPr lang="en-US" sz="1600" dirty="0"/>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88159383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3"/>
          <p:cNvSpPr>
            <a:spLocks noGrp="1"/>
          </p:cNvSpPr>
          <p:nvPr>
            <p:ph type="title"/>
          </p:nvPr>
        </p:nvSpPr>
        <p:spPr>
          <a:xfrm>
            <a:off x="392151" y="0"/>
            <a:ext cx="8229600" cy="1066800"/>
          </a:xfrm>
        </p:spPr>
        <p:txBody>
          <a:bodyPr/>
          <a:lstStyle/>
          <a:p>
            <a:r>
              <a:rPr lang="en-US" dirty="0" smtClean="0"/>
              <a:t>Liabilities</a:t>
            </a:r>
          </a:p>
        </p:txBody>
      </p:sp>
      <p:sp>
        <p:nvSpPr>
          <p:cNvPr id="2" name="Footer Placeholder 1"/>
          <p:cNvSpPr>
            <a:spLocks noGrp="1"/>
          </p:cNvSpPr>
          <p:nvPr>
            <p:ph type="ftr" sz="quarter" idx="10"/>
          </p:nvPr>
        </p:nvSpPr>
        <p:spPr>
          <a:xfrm>
            <a:off x="3124200" y="6553200"/>
            <a:ext cx="2895600" cy="457200"/>
          </a:xfrm>
        </p:spPr>
        <p:txBody>
          <a:bodyPr/>
          <a:lstStyle/>
          <a:p>
            <a:pPr>
              <a:defRPr/>
            </a:pPr>
            <a:r>
              <a:rPr lang="en-US" dirty="0" smtClean="0"/>
              <a:t>©2010 Pearson Prentice Hall. All rights reserved.</a:t>
            </a:r>
            <a:endParaRPr lang="en-US" dirty="0"/>
          </a:p>
        </p:txBody>
      </p:sp>
      <p:sp>
        <p:nvSpPr>
          <p:cNvPr id="16389" name="Slide Number Placeholder 2"/>
          <p:cNvSpPr>
            <a:spLocks noGrp="1"/>
          </p:cNvSpPr>
          <p:nvPr>
            <p:ph type="sldNum" sz="quarter" idx="11"/>
          </p:nvPr>
        </p:nvSpPr>
        <p:spPr bwMode="auto">
          <a:noFill/>
          <a:ln>
            <a:miter lim="800000"/>
          </a:ln>
        </p:spPr>
        <p:txBody>
          <a:bodyPr/>
          <a:lstStyle/>
          <a:p>
            <a:r>
              <a:rPr lang="en-US" smtClean="0">
                <a:latin typeface="Arial" panose="020B0604020202020204" pitchFamily="34" charset="0"/>
                <a:cs typeface="Arial" panose="020B0604020202020204" pitchFamily="34" charset="0"/>
              </a:rPr>
              <a:t>1-</a:t>
            </a:r>
            <a:fld id="{FCFFFF90-A607-4432-A851-7C5895E584F6}" type="slidenum">
              <a:rPr lang="en-US" smtClean="0">
                <a:latin typeface="Arial" panose="020B0604020202020204" pitchFamily="34" charset="0"/>
                <a:cs typeface="Arial" panose="020B0604020202020204" pitchFamily="34" charset="0"/>
              </a:rPr>
              <a:t>9</a:t>
            </a:fld>
            <a:endParaRPr lang="en-US" smtClean="0">
              <a:latin typeface="Arial" panose="020B0604020202020204" pitchFamily="34" charset="0"/>
              <a:cs typeface="Arial" panose="020B0604020202020204" pitchFamily="34" charset="0"/>
            </a:endParaRPr>
          </a:p>
        </p:txBody>
      </p:sp>
      <p:graphicFrame>
        <p:nvGraphicFramePr>
          <p:cNvPr id="3" name="Table 2"/>
          <p:cNvGraphicFramePr>
            <a:graphicFrameLocks noGrp="1"/>
          </p:cNvGraphicFramePr>
          <p:nvPr>
            <p:extLst>
              <p:ext uri="{D42A27DB-BD31-4B8C-83A1-F6EECF244321}">
                <p14:modId xmlns:p14="http://schemas.microsoft.com/office/powerpoint/2010/main" val="1878128536"/>
              </p:ext>
            </p:extLst>
          </p:nvPr>
        </p:nvGraphicFramePr>
        <p:xfrm>
          <a:off x="381000" y="1447800"/>
          <a:ext cx="8382000" cy="4876800"/>
        </p:xfrm>
        <a:graphic>
          <a:graphicData uri="http://schemas.openxmlformats.org/drawingml/2006/table">
            <a:tbl>
              <a:tblPr firstRow="1" bandRow="1">
                <a:tableStyleId>{5C22544A-7EE6-4342-B048-85BDC9FD1C3A}</a:tableStyleId>
              </a:tblPr>
              <a:tblGrid>
                <a:gridCol w="2538840">
                  <a:extLst>
                    <a:ext uri="{9D8B030D-6E8A-4147-A177-3AD203B41FA5}">
                      <a16:colId xmlns:a16="http://schemas.microsoft.com/office/drawing/2014/main" val="20000"/>
                    </a:ext>
                  </a:extLst>
                </a:gridCol>
                <a:gridCol w="5843160">
                  <a:extLst>
                    <a:ext uri="{9D8B030D-6E8A-4147-A177-3AD203B41FA5}">
                      <a16:colId xmlns:a16="http://schemas.microsoft.com/office/drawing/2014/main" val="20001"/>
                    </a:ext>
                  </a:extLst>
                </a:gridCol>
              </a:tblGrid>
              <a:tr h="389219">
                <a:tc>
                  <a:txBody>
                    <a:bodyPr/>
                    <a:lstStyle/>
                    <a:p>
                      <a:r>
                        <a:rPr lang="en-US" dirty="0" smtClean="0"/>
                        <a:t>Liability</a:t>
                      </a:r>
                      <a:r>
                        <a:rPr lang="en-US" baseline="0" dirty="0" smtClean="0"/>
                        <a:t> Name</a:t>
                      </a:r>
                      <a:endParaRPr lang="en-US" dirty="0"/>
                    </a:p>
                  </a:txBody>
                  <a:tcPr/>
                </a:tc>
                <a:tc>
                  <a:txBody>
                    <a:bodyPr/>
                    <a:lstStyle/>
                    <a:p>
                      <a:r>
                        <a:rPr lang="en-US" dirty="0" smtClean="0"/>
                        <a:t>Description</a:t>
                      </a:r>
                      <a:endParaRPr lang="en-US" dirty="0"/>
                    </a:p>
                  </a:txBody>
                  <a:tcPr/>
                </a:tc>
                <a:extLst>
                  <a:ext uri="{0D108BD9-81ED-4DB2-BD59-A6C34878D82A}">
                    <a16:rowId xmlns:a16="http://schemas.microsoft.com/office/drawing/2014/main" val="10000"/>
                  </a:ext>
                </a:extLst>
              </a:tr>
              <a:tr h="973049">
                <a:tc>
                  <a:txBody>
                    <a:bodyPr/>
                    <a:lstStyle/>
                    <a:p>
                      <a:r>
                        <a:rPr lang="en-US" dirty="0" smtClean="0"/>
                        <a:t>Accounts Payable</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dirty="0" smtClean="0"/>
                        <a:t>The direct opposite of </a:t>
                      </a:r>
                      <a:r>
                        <a:rPr lang="en-US" altLang="zh-CN" sz="1800" u="sng" dirty="0" smtClean="0">
                          <a:latin typeface="Times New Roman" panose="02020603050405020304" pitchFamily="18" charset="0"/>
                          <a:cs typeface="Times New Roman" panose="02020603050405020304" pitchFamily="18" charset="0"/>
                        </a:rPr>
                        <a:t>                            </a:t>
                      </a:r>
                      <a:r>
                        <a:rPr lang="en-US" dirty="0" smtClean="0"/>
                        <a:t>. A company’s </a:t>
                      </a:r>
                      <a:r>
                        <a:rPr lang="en-US" dirty="0" smtClean="0">
                          <a:solidFill>
                            <a:srgbClr val="0070C0"/>
                          </a:solidFill>
                        </a:rPr>
                        <a:t>promise to pay a debt</a:t>
                      </a:r>
                      <a:r>
                        <a:rPr lang="en-US" dirty="0" smtClean="0"/>
                        <a:t> arising from a </a:t>
                      </a:r>
                      <a:r>
                        <a:rPr lang="en-US" altLang="zh-CN" sz="1800" u="sng" dirty="0" smtClean="0">
                          <a:latin typeface="Times New Roman" panose="02020603050405020304" pitchFamily="18" charset="0"/>
                          <a:cs typeface="Times New Roman" panose="02020603050405020304" pitchFamily="18" charset="0"/>
                        </a:rPr>
                        <a:t>               </a:t>
                      </a:r>
                      <a:r>
                        <a:rPr lang="en-US" dirty="0" smtClean="0"/>
                        <a:t>purchase.</a:t>
                      </a:r>
                    </a:p>
                  </a:txBody>
                  <a:tcPr/>
                </a:tc>
                <a:extLst>
                  <a:ext uri="{0D108BD9-81ED-4DB2-BD59-A6C34878D82A}">
                    <a16:rowId xmlns:a16="http://schemas.microsoft.com/office/drawing/2014/main" val="10001"/>
                  </a:ext>
                </a:extLst>
              </a:tr>
              <a:tr h="1665739">
                <a:tc>
                  <a:txBody>
                    <a:bodyPr/>
                    <a:lstStyle/>
                    <a:p>
                      <a:r>
                        <a:rPr lang="en-US" dirty="0" smtClean="0"/>
                        <a:t>Notes Payable</a:t>
                      </a:r>
                      <a:endParaRPr lang="en-US" dirty="0"/>
                    </a:p>
                  </a:txBody>
                  <a:tcPr/>
                </a:tc>
                <a:tc>
                  <a:txBody>
                    <a:bodyPr/>
                    <a:lstStyle/>
                    <a:p>
                      <a:r>
                        <a:rPr lang="en-US" dirty="0" smtClean="0"/>
                        <a:t>A note payable is the opposite of a </a:t>
                      </a:r>
                      <a:r>
                        <a:rPr lang="en-US" altLang="zh-CN" sz="1800" u="sng" dirty="0" smtClean="0">
                          <a:latin typeface="Times New Roman" panose="02020603050405020304" pitchFamily="18" charset="0"/>
                          <a:cs typeface="Times New Roman" panose="02020603050405020304" pitchFamily="18" charset="0"/>
                        </a:rPr>
                        <a:t>                   </a:t>
                      </a:r>
                      <a:r>
                        <a:rPr lang="en-US" dirty="0" smtClean="0"/>
                        <a:t>. The Notes payable account includes the amounts a company must pay because it signed notes promising to pay a future amount, typically </a:t>
                      </a:r>
                      <a:r>
                        <a:rPr lang="en-US" dirty="0" smtClean="0">
                          <a:solidFill>
                            <a:srgbClr val="0070C0"/>
                          </a:solidFill>
                        </a:rPr>
                        <a:t>with </a:t>
                      </a:r>
                      <a:r>
                        <a:rPr lang="en-US" altLang="zh-CN" sz="1800" u="sng" dirty="0" smtClean="0">
                          <a:latin typeface="Times New Roman" panose="02020603050405020304" pitchFamily="18" charset="0"/>
                          <a:cs typeface="Times New Roman" panose="02020603050405020304" pitchFamily="18" charset="0"/>
                        </a:rPr>
                        <a:t>             </a:t>
                      </a:r>
                      <a:r>
                        <a:rPr lang="en-US" dirty="0" smtClean="0"/>
                        <a:t>.</a:t>
                      </a:r>
                      <a:endParaRPr lang="en-US" dirty="0"/>
                    </a:p>
                  </a:txBody>
                  <a:tcPr/>
                </a:tc>
                <a:extLst>
                  <a:ext uri="{0D108BD9-81ED-4DB2-BD59-A6C34878D82A}">
                    <a16:rowId xmlns:a16="http://schemas.microsoft.com/office/drawing/2014/main" val="10002"/>
                  </a:ext>
                </a:extLst>
              </a:tr>
              <a:tr h="1848793">
                <a:tc>
                  <a:txBody>
                    <a:bodyPr/>
                    <a:lstStyle/>
                    <a:p>
                      <a:r>
                        <a:rPr lang="en-US" dirty="0" smtClean="0"/>
                        <a:t>Accrued</a:t>
                      </a:r>
                      <a:r>
                        <a:rPr lang="en-US" baseline="0" dirty="0" smtClean="0"/>
                        <a:t> Liabilities</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dirty="0" smtClean="0"/>
                        <a:t>An accrued liability is a liability for an </a:t>
                      </a:r>
                      <a:r>
                        <a:rPr lang="en-US" altLang="zh-CN" sz="1800" u="sng" dirty="0" smtClean="0">
                          <a:latin typeface="Times New Roman" panose="02020603050405020304" pitchFamily="18" charset="0"/>
                          <a:cs typeface="Times New Roman" panose="02020603050405020304" pitchFamily="18" charset="0"/>
                        </a:rPr>
                        <a:t>            </a:t>
                      </a:r>
                      <a:r>
                        <a:rPr lang="en-US" dirty="0" smtClean="0"/>
                        <a:t> </a:t>
                      </a:r>
                      <a:r>
                        <a:rPr lang="en-US" dirty="0" smtClean="0">
                          <a:solidFill>
                            <a:schemeClr val="tx1"/>
                          </a:solidFill>
                        </a:rPr>
                        <a:t>you </a:t>
                      </a:r>
                      <a:r>
                        <a:rPr lang="en-US" dirty="0" smtClean="0">
                          <a:solidFill>
                            <a:srgbClr val="FF0000"/>
                          </a:solidFill>
                        </a:rPr>
                        <a:t>have not yet paid</a:t>
                      </a:r>
                      <a:r>
                        <a:rPr lang="en-US" dirty="0" smtClean="0"/>
                        <a:t>. </a:t>
                      </a:r>
                      <a:r>
                        <a:rPr lang="en-US" dirty="0" smtClean="0">
                          <a:solidFill>
                            <a:srgbClr val="0070C0"/>
                          </a:solidFill>
                        </a:rPr>
                        <a:t>Interest payable</a:t>
                      </a:r>
                      <a:r>
                        <a:rPr lang="en-US" dirty="0" smtClean="0">
                          <a:solidFill>
                            <a:srgbClr val="FF0000"/>
                          </a:solidFill>
                        </a:rPr>
                        <a:t> </a:t>
                      </a:r>
                      <a:r>
                        <a:rPr lang="en-US" dirty="0" smtClean="0"/>
                        <a:t>and </a:t>
                      </a:r>
                      <a:r>
                        <a:rPr lang="en-US" dirty="0" smtClean="0">
                          <a:solidFill>
                            <a:srgbClr val="0070C0"/>
                          </a:solidFill>
                        </a:rPr>
                        <a:t>Salary payable</a:t>
                      </a:r>
                      <a:r>
                        <a:rPr lang="en-US" dirty="0" smtClean="0"/>
                        <a:t> are accrued liability accounts for most companies. </a:t>
                      </a:r>
                      <a:r>
                        <a:rPr lang="en-US" dirty="0" smtClean="0">
                          <a:solidFill>
                            <a:srgbClr val="0070C0"/>
                          </a:solidFill>
                        </a:rPr>
                        <a:t>Income tax payable</a:t>
                      </a:r>
                      <a:r>
                        <a:rPr lang="en-US" dirty="0" smtClean="0"/>
                        <a:t> is another accrued liability. </a:t>
                      </a:r>
                    </a:p>
                    <a:p>
                      <a:endParaRPr lang="en-US"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13408827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6849" y="-76200"/>
            <a:ext cx="8229600" cy="1066800"/>
          </a:xfrm>
        </p:spPr>
        <p:txBody>
          <a:bodyPr/>
          <a:lstStyle/>
          <a:p>
            <a:r>
              <a:rPr lang="en-US" dirty="0" smtClean="0"/>
              <a:t>Shareholders’ Equity</a:t>
            </a:r>
            <a:endParaRPr lang="en-US" dirty="0"/>
          </a:p>
        </p:txBody>
      </p:sp>
      <p:sp>
        <p:nvSpPr>
          <p:cNvPr id="2" name="Footer Placeholder 1"/>
          <p:cNvSpPr>
            <a:spLocks noGrp="1"/>
          </p:cNvSpPr>
          <p:nvPr>
            <p:ph type="ftr" sz="quarter" idx="10"/>
          </p:nvPr>
        </p:nvSpPr>
        <p:spPr/>
        <p:txBody>
          <a:bodyPr/>
          <a:lstStyle/>
          <a:p>
            <a:pPr>
              <a:defRPr/>
            </a:pPr>
            <a:r>
              <a:rPr lang="en-US" smtClean="0"/>
              <a:t>©2010 Pearson Prentice Hall. All rights reserved.</a:t>
            </a:r>
            <a:endParaRPr lang="en-US"/>
          </a:p>
        </p:txBody>
      </p:sp>
      <p:sp>
        <p:nvSpPr>
          <p:cNvPr id="3" name="Slide Number Placeholder 2"/>
          <p:cNvSpPr>
            <a:spLocks noGrp="1"/>
          </p:cNvSpPr>
          <p:nvPr>
            <p:ph type="sldNum" sz="quarter" idx="11"/>
          </p:nvPr>
        </p:nvSpPr>
        <p:spPr/>
        <p:txBody>
          <a:bodyPr/>
          <a:lstStyle/>
          <a:p>
            <a:pPr>
              <a:defRPr/>
            </a:pPr>
            <a:r>
              <a:rPr lang="en-US" smtClean="0"/>
              <a:t>1-</a:t>
            </a:r>
            <a:fld id="{D2362BE1-FB08-4E63-8B5A-5F7179461BBE}" type="slidenum">
              <a:rPr lang="en-US" smtClean="0"/>
              <a:t>10</a:t>
            </a:fld>
            <a:endParaRPr lang="en-US"/>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763660953"/>
              </p:ext>
            </p:extLst>
          </p:nvPr>
        </p:nvGraphicFramePr>
        <p:xfrm>
          <a:off x="152398" y="1219202"/>
          <a:ext cx="8839201" cy="5055750"/>
        </p:xfrm>
        <a:graphic>
          <a:graphicData uri="http://schemas.openxmlformats.org/drawingml/2006/table">
            <a:tbl>
              <a:tblPr firstRow="1" bandRow="1">
                <a:tableStyleId>{5C22544A-7EE6-4342-B048-85BDC9FD1C3A}</a:tableStyleId>
              </a:tblPr>
              <a:tblGrid>
                <a:gridCol w="2022525">
                  <a:extLst>
                    <a:ext uri="{9D8B030D-6E8A-4147-A177-3AD203B41FA5}">
                      <a16:colId xmlns:a16="http://schemas.microsoft.com/office/drawing/2014/main" val="20000"/>
                    </a:ext>
                  </a:extLst>
                </a:gridCol>
                <a:gridCol w="6816676">
                  <a:extLst>
                    <a:ext uri="{9D8B030D-6E8A-4147-A177-3AD203B41FA5}">
                      <a16:colId xmlns:a16="http://schemas.microsoft.com/office/drawing/2014/main" val="20001"/>
                    </a:ext>
                  </a:extLst>
                </a:gridCol>
              </a:tblGrid>
              <a:tr h="443291">
                <a:tc>
                  <a:txBody>
                    <a:bodyPr/>
                    <a:lstStyle/>
                    <a:p>
                      <a:r>
                        <a:rPr lang="en-US" sz="1600" dirty="0" smtClean="0">
                          <a:latin typeface="Times New Roman" panose="02020603050405020304" pitchFamily="18" charset="0"/>
                          <a:cs typeface="Times New Roman" panose="02020603050405020304" pitchFamily="18" charset="0"/>
                        </a:rPr>
                        <a:t>Equity  Name</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Description</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1004507">
                <a:tc>
                  <a:txBody>
                    <a:bodyPr/>
                    <a:lstStyle/>
                    <a:p>
                      <a:r>
                        <a:rPr lang="en-US" sz="1600" dirty="0" smtClean="0">
                          <a:solidFill>
                            <a:srgbClr val="FF0000"/>
                          </a:solidFill>
                          <a:latin typeface="Times New Roman" panose="02020603050405020304" pitchFamily="18" charset="0"/>
                          <a:cs typeface="Times New Roman" panose="02020603050405020304" pitchFamily="18" charset="0"/>
                        </a:rPr>
                        <a:t>Share Capital</a:t>
                      </a:r>
                      <a:endParaRPr lang="en-US" sz="1600" dirty="0">
                        <a:solidFill>
                          <a:srgbClr val="FF0000"/>
                        </a:solidFill>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1600" dirty="0" smtClean="0">
                          <a:latin typeface="Times New Roman" panose="02020603050405020304" pitchFamily="18" charset="0"/>
                          <a:cs typeface="Times New Roman" panose="02020603050405020304" pitchFamily="18" charset="0"/>
                        </a:rPr>
                        <a:t>The owners’ investment in the corporation. The corporation receives cash and issues shares to its shareholders. A company’s ordinary share capital </a:t>
                      </a:r>
                      <a:r>
                        <a:rPr lang="en-US" sz="1600" u="sng" dirty="0" smtClean="0">
                          <a:solidFill>
                            <a:srgbClr val="0070C0"/>
                          </a:solidFill>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 is its most basic element of equity. All corporations have ordinary shares.</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763571">
                <a:tc>
                  <a:txBody>
                    <a:bodyPr/>
                    <a:lstStyle/>
                    <a:p>
                      <a:r>
                        <a:rPr lang="en-US" sz="1600" dirty="0" smtClean="0">
                          <a:solidFill>
                            <a:srgbClr val="FF0000"/>
                          </a:solidFill>
                          <a:latin typeface="Times New Roman" panose="02020603050405020304" pitchFamily="18" charset="0"/>
                          <a:cs typeface="Times New Roman" panose="02020603050405020304" pitchFamily="18" charset="0"/>
                        </a:rPr>
                        <a:t>Retained Earnings</a:t>
                      </a:r>
                      <a:endParaRPr lang="en-US" sz="1600" dirty="0">
                        <a:solidFill>
                          <a:srgbClr val="FF0000"/>
                        </a:solidFill>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1600" dirty="0" smtClean="0">
                          <a:latin typeface="Times New Roman" panose="02020603050405020304" pitchFamily="18" charset="0"/>
                          <a:cs typeface="Times New Roman" panose="02020603050405020304" pitchFamily="18" charset="0"/>
                        </a:rPr>
                        <a:t>this account shows the </a:t>
                      </a:r>
                      <a:r>
                        <a:rPr lang="en-US" altLang="zh-CN" sz="1600" u="sng" dirty="0" smtClean="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earned by a corporation over its lifetime, minus its cumulative net losses and dividends.</a:t>
                      </a:r>
                    </a:p>
                  </a:txBody>
                  <a:tcPr/>
                </a:tc>
                <a:extLst>
                  <a:ext uri="{0D108BD9-81ED-4DB2-BD59-A6C34878D82A}">
                    <a16:rowId xmlns:a16="http://schemas.microsoft.com/office/drawing/2014/main" val="10002"/>
                  </a:ext>
                </a:extLst>
              </a:tr>
              <a:tr h="537328">
                <a:tc>
                  <a:txBody>
                    <a:bodyPr/>
                    <a:lstStyle/>
                    <a:p>
                      <a:r>
                        <a:rPr lang="en-US" sz="1600" dirty="0" smtClean="0">
                          <a:latin typeface="Times New Roman" panose="02020603050405020304" pitchFamily="18" charset="0"/>
                          <a:cs typeface="Times New Roman" panose="02020603050405020304" pitchFamily="18" charset="0"/>
                        </a:rPr>
                        <a:t>Dividends</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Dividends are </a:t>
                      </a:r>
                      <a:r>
                        <a:rPr lang="en-US" sz="1600" dirty="0" smtClean="0">
                          <a:solidFill>
                            <a:srgbClr val="0070C0"/>
                          </a:solidFill>
                          <a:latin typeface="Times New Roman" panose="02020603050405020304" pitchFamily="18" charset="0"/>
                          <a:cs typeface="Times New Roman" panose="02020603050405020304" pitchFamily="18" charset="0"/>
                        </a:rPr>
                        <a:t>optional</a:t>
                      </a:r>
                      <a:r>
                        <a:rPr lang="en-US" sz="1600" dirty="0" smtClean="0">
                          <a:latin typeface="Times New Roman" panose="02020603050405020304" pitchFamily="18" charset="0"/>
                          <a:cs typeface="Times New Roman" panose="02020603050405020304" pitchFamily="18" charset="0"/>
                        </a:rPr>
                        <a:t>; they are </a:t>
                      </a:r>
                      <a:r>
                        <a:rPr lang="en-US" sz="1600" i="1" dirty="0" smtClean="0">
                          <a:latin typeface="Times New Roman" panose="02020603050405020304" pitchFamily="18" charset="0"/>
                          <a:cs typeface="Times New Roman" panose="02020603050405020304" pitchFamily="18" charset="0"/>
                        </a:rPr>
                        <a:t>declared</a:t>
                      </a:r>
                      <a:r>
                        <a:rPr lang="en-US" sz="1600" dirty="0" smtClean="0">
                          <a:latin typeface="Times New Roman" panose="02020603050405020304" pitchFamily="18" charset="0"/>
                          <a:cs typeface="Times New Roman" panose="02020603050405020304" pitchFamily="18" charset="0"/>
                        </a:rPr>
                        <a:t> by the board of directors and represent a </a:t>
                      </a:r>
                      <a:r>
                        <a:rPr lang="en-US" sz="1600" dirty="0" smtClean="0">
                          <a:solidFill>
                            <a:srgbClr val="0070C0"/>
                          </a:solidFill>
                          <a:latin typeface="Times New Roman" panose="02020603050405020304" pitchFamily="18" charset="0"/>
                          <a:cs typeface="Times New Roman" panose="02020603050405020304" pitchFamily="18" charset="0"/>
                        </a:rPr>
                        <a:t>payment </a:t>
                      </a:r>
                      <a:r>
                        <a:rPr lang="en-US" altLang="zh-CN" sz="1600" u="sng" dirty="0" smtClean="0">
                          <a:latin typeface="Times New Roman" panose="02020603050405020304" pitchFamily="18" charset="0"/>
                          <a:cs typeface="Times New Roman" panose="02020603050405020304" pitchFamily="18" charset="0"/>
                        </a:rPr>
                        <a:t>                                           </a:t>
                      </a:r>
                      <a:r>
                        <a:rPr lang="en-US" sz="1600" dirty="0" smtClean="0">
                          <a:solidFill>
                            <a:srgbClr val="0070C0"/>
                          </a:solidFill>
                          <a:latin typeface="Times New Roman" panose="02020603050405020304" pitchFamily="18" charset="0"/>
                          <a:cs typeface="Times New Roman" panose="02020603050405020304" pitchFamily="18" charset="0"/>
                        </a:rPr>
                        <a:t>back to shareholders</a:t>
                      </a:r>
                    </a:p>
                  </a:txBody>
                  <a:tcPr/>
                </a:tc>
                <a:extLst>
                  <a:ext uri="{0D108BD9-81ED-4DB2-BD59-A6C34878D82A}">
                    <a16:rowId xmlns:a16="http://schemas.microsoft.com/office/drawing/2014/main" val="10003"/>
                  </a:ext>
                </a:extLst>
              </a:tr>
              <a:tr h="763571">
                <a:tc>
                  <a:txBody>
                    <a:bodyPr/>
                    <a:lstStyle/>
                    <a:p>
                      <a:r>
                        <a:rPr lang="en-US" sz="1600" dirty="0" smtClean="0">
                          <a:latin typeface="Times New Roman" panose="02020603050405020304" pitchFamily="18" charset="0"/>
                          <a:cs typeface="Times New Roman" panose="02020603050405020304" pitchFamily="18" charset="0"/>
                        </a:rPr>
                        <a:t>Revenues</a:t>
                      </a:r>
                      <a:endParaRPr lang="en-US" sz="1600"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1600" dirty="0" smtClean="0">
                          <a:latin typeface="Times New Roman" panose="02020603050405020304" pitchFamily="18" charset="0"/>
                          <a:cs typeface="Times New Roman" panose="02020603050405020304" pitchFamily="18" charset="0"/>
                        </a:rPr>
                        <a:t>the </a:t>
                      </a:r>
                      <a:r>
                        <a:rPr lang="en-US" altLang="zh-CN" sz="1600" u="sng" dirty="0" smtClean="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 in shareholders’ </a:t>
                      </a:r>
                      <a:r>
                        <a:rPr lang="en-US" sz="1600" dirty="0" smtClean="0">
                          <a:solidFill>
                            <a:srgbClr val="0070C0"/>
                          </a:solidFill>
                          <a:latin typeface="Times New Roman" panose="02020603050405020304" pitchFamily="18" charset="0"/>
                          <a:cs typeface="Times New Roman" panose="02020603050405020304" pitchFamily="18" charset="0"/>
                        </a:rPr>
                        <a:t>equity </a:t>
                      </a:r>
                      <a:r>
                        <a:rPr lang="en-US" sz="1600" dirty="0" smtClean="0">
                          <a:latin typeface="Times New Roman" panose="02020603050405020304" pitchFamily="18" charset="0"/>
                          <a:cs typeface="Times New Roman" panose="02020603050405020304" pitchFamily="18" charset="0"/>
                        </a:rPr>
                        <a:t>from delivering goods or services to customers: includes sales revenue, service revenue, interest revenue, rent revenue, etc.</a:t>
                      </a:r>
                    </a:p>
                  </a:txBody>
                  <a:tcPr/>
                </a:tc>
                <a:extLst>
                  <a:ext uri="{0D108BD9-81ED-4DB2-BD59-A6C34878D82A}">
                    <a16:rowId xmlns:a16="http://schemas.microsoft.com/office/drawing/2014/main" val="10004"/>
                  </a:ext>
                </a:extLst>
              </a:tr>
              <a:tr h="1442301">
                <a:tc>
                  <a:txBody>
                    <a:bodyPr/>
                    <a:lstStyle/>
                    <a:p>
                      <a:r>
                        <a:rPr lang="en-US" sz="1600" dirty="0" smtClean="0">
                          <a:latin typeface="Times New Roman" panose="02020603050405020304" pitchFamily="18" charset="0"/>
                          <a:cs typeface="Times New Roman" panose="02020603050405020304" pitchFamily="18" charset="0"/>
                        </a:rPr>
                        <a:t>Expenses</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the </a:t>
                      </a:r>
                      <a:r>
                        <a:rPr lang="en-US" sz="1600" dirty="0" smtClean="0">
                          <a:solidFill>
                            <a:srgbClr val="0070C0"/>
                          </a:solidFill>
                          <a:latin typeface="Times New Roman" panose="02020603050405020304" pitchFamily="18" charset="0"/>
                          <a:cs typeface="Times New Roman" panose="02020603050405020304" pitchFamily="18" charset="0"/>
                        </a:rPr>
                        <a:t>cost of </a:t>
                      </a:r>
                      <a:r>
                        <a:rPr lang="en-US" altLang="zh-CN" sz="1600" u="sng" dirty="0" smtClean="0">
                          <a:latin typeface="Times New Roman" panose="02020603050405020304" pitchFamily="18" charset="0"/>
                          <a:cs typeface="Times New Roman" panose="02020603050405020304" pitchFamily="18" charset="0"/>
                        </a:rPr>
                        <a:t>                  </a:t>
                      </a:r>
                      <a:r>
                        <a:rPr lang="en-US" sz="1600" dirty="0" smtClean="0">
                          <a:solidFill>
                            <a:srgbClr val="0070C0"/>
                          </a:solidFill>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a business. Expenses </a:t>
                      </a:r>
                      <a:r>
                        <a:rPr lang="en-US" altLang="zh-CN" sz="1600" u="sng" dirty="0" smtClean="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 shareholders’ </a:t>
                      </a:r>
                      <a:r>
                        <a:rPr lang="en-US" sz="1600" dirty="0" smtClean="0">
                          <a:solidFill>
                            <a:srgbClr val="0070C0"/>
                          </a:solidFill>
                          <a:latin typeface="Times New Roman" panose="02020603050405020304" pitchFamily="18" charset="0"/>
                          <a:cs typeface="Times New Roman" panose="02020603050405020304" pitchFamily="18" charset="0"/>
                        </a:rPr>
                        <a:t>equity</a:t>
                      </a:r>
                      <a:r>
                        <a:rPr lang="en-US" sz="1600" dirty="0" smtClean="0">
                          <a:latin typeface="Times New Roman" panose="02020603050405020304" pitchFamily="18" charset="0"/>
                          <a:cs typeface="Times New Roman" panose="02020603050405020304" pitchFamily="18" charset="0"/>
                        </a:rPr>
                        <a:t>, the opposite effect of revenues. Examples include: Cost of goods sold, Salary expense, Rent expense, Advertising expense, Insurance expense, Utilities expense, and Income tax expense. Businesses strive to minimize expenses and thereby maximize net income</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83136296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458200" cy="1097280"/>
          </a:xfrm>
        </p:spPr>
        <p:txBody>
          <a:bodyPr/>
          <a:lstStyle/>
          <a:p>
            <a:r>
              <a:rPr lang="en-US" sz="3500" dirty="0" smtClean="0">
                <a:latin typeface="+mj-lt"/>
              </a:rPr>
              <a:t>Chart </a:t>
            </a:r>
            <a:r>
              <a:rPr lang="en-US" sz="3500" dirty="0">
                <a:latin typeface="+mj-lt"/>
              </a:rPr>
              <a:t>of Accounts: </a:t>
            </a:r>
            <a:r>
              <a:rPr lang="en-US" sz="3500" dirty="0" err="1">
                <a:latin typeface="+mj-lt"/>
              </a:rPr>
              <a:t>RedLotus</a:t>
            </a:r>
            <a:r>
              <a:rPr lang="en-US" sz="3500" dirty="0">
                <a:latin typeface="+mj-lt"/>
              </a:rPr>
              <a:t> Security	</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4884" y="1447800"/>
            <a:ext cx="7683316" cy="454527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8004392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063831"/>
            <a:ext cx="8229600" cy="1097280"/>
          </a:xfrm>
        </p:spPr>
        <p:txBody>
          <a:bodyPr/>
          <a:lstStyle/>
          <a:p>
            <a:r>
              <a:rPr lang="en-US" sz="3600" dirty="0">
                <a:latin typeface="+mj-lt"/>
                <a:cs typeface="Arial" panose="020B0604020202020204" pitchFamily="34" charset="0"/>
              </a:rPr>
              <a:t>Transaction 1</a:t>
            </a:r>
            <a:endParaRPr lang="en-US" sz="2000" b="0" dirty="0">
              <a:latin typeface="+mj-lt"/>
            </a:endParaRPr>
          </a:p>
        </p:txBody>
      </p:sp>
      <p:sp>
        <p:nvSpPr>
          <p:cNvPr id="3" name="Content Placeholder 2"/>
          <p:cNvSpPr>
            <a:spLocks noGrp="1"/>
          </p:cNvSpPr>
          <p:nvPr>
            <p:ph idx="1"/>
          </p:nvPr>
        </p:nvSpPr>
        <p:spPr>
          <a:xfrm>
            <a:off x="408122" y="2438400"/>
            <a:ext cx="8229600" cy="1143000"/>
          </a:xfrm>
        </p:spPr>
        <p:txBody>
          <a:bodyPr/>
          <a:lstStyle/>
          <a:p>
            <a:pPr marL="0" indent="0">
              <a:buNone/>
            </a:pPr>
            <a:r>
              <a:rPr lang="en-US" sz="2400" dirty="0">
                <a:cs typeface="Arial" panose="020B0604020202020204" pitchFamily="34" charset="0"/>
              </a:rPr>
              <a:t>On, April 1, Starr Williams and a few friends invest $50,000 to open </a:t>
            </a:r>
            <a:r>
              <a:rPr lang="en-US" sz="2400" dirty="0" err="1"/>
              <a:t>RedLotus</a:t>
            </a:r>
            <a:r>
              <a:rPr lang="en-US" sz="2400" dirty="0"/>
              <a:t> Security</a:t>
            </a:r>
            <a:r>
              <a:rPr lang="en-US" sz="2400" dirty="0">
                <a:cs typeface="Arial" panose="020B0604020202020204" pitchFamily="34" charset="0"/>
              </a:rPr>
              <a:t>, and the business issues common stock to the stockholders.</a:t>
            </a:r>
          </a:p>
        </p:txBody>
      </p:sp>
      <p:sp>
        <p:nvSpPr>
          <p:cNvPr id="5" name="Title 1"/>
          <p:cNvSpPr txBox="1">
            <a:spLocks/>
          </p:cNvSpPr>
          <p:nvPr/>
        </p:nvSpPr>
        <p:spPr>
          <a:xfrm>
            <a:off x="381000" y="816374"/>
            <a:ext cx="8229600" cy="622828"/>
          </a:xfrm>
          <a:prstGeom prst="rect">
            <a:avLst/>
          </a:prstGeom>
        </p:spPr>
        <p:txBody>
          <a:bodyPr vert="horz" lIns="0" tIns="0" rIns="0" bIns="0" rtlCol="0" anchor="b">
            <a:noAutofit/>
          </a:bodyPr>
          <a:lst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a:lstStyle>
          <a:p>
            <a:r>
              <a:rPr lang="en-IN" sz="3200" dirty="0" err="1" smtClean="0">
                <a:latin typeface="+mj-lt"/>
              </a:rPr>
              <a:t>Analyze</a:t>
            </a:r>
            <a:r>
              <a:rPr lang="en-IN" sz="3200" dirty="0" smtClean="0">
                <a:latin typeface="+mj-lt"/>
              </a:rPr>
              <a:t> the Impact of Business Transactions on the </a:t>
            </a:r>
            <a:r>
              <a:rPr lang="en-IN" sz="3200" u="sng" dirty="0" smtClean="0">
                <a:latin typeface="+mj-lt"/>
              </a:rPr>
              <a:t>Accounting Equation</a:t>
            </a:r>
            <a:endParaRPr lang="en-US" sz="3200" u="sng" dirty="0">
              <a:latin typeface="+mj-lt"/>
            </a:endParaRPr>
          </a:p>
        </p:txBody>
      </p:sp>
      <p:pic>
        <p:nvPicPr>
          <p:cNvPr id="6" name="Picture 2" descr="A transaction table shows that assets = liabilities + stockholders’ equity. Row entries are as follows. Row 1: Cash = no liabilities + common stock. Row 2, 1: + 50,000 = no liabilities + 50,000. Type of stockholders’ equity transaction: Issued common stock."/>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610" r="4784"/>
          <a:stretch/>
        </p:blipFill>
        <p:spPr bwMode="auto">
          <a:xfrm>
            <a:off x="553968" y="3828857"/>
            <a:ext cx="8132832" cy="17166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mj-lt"/>
                <a:cs typeface="Arial" panose="020B0604020202020204" pitchFamily="34" charset="0"/>
              </a:rPr>
              <a:t>Transaction 2</a:t>
            </a:r>
            <a:endParaRPr lang="en-US" sz="2000" dirty="0">
              <a:latin typeface="+mj-lt"/>
            </a:endParaRPr>
          </a:p>
        </p:txBody>
      </p:sp>
      <p:sp>
        <p:nvSpPr>
          <p:cNvPr id="3" name="Content Placeholder 2"/>
          <p:cNvSpPr>
            <a:spLocks noGrp="1"/>
          </p:cNvSpPr>
          <p:nvPr>
            <p:ph idx="1"/>
          </p:nvPr>
        </p:nvSpPr>
        <p:spPr>
          <a:xfrm>
            <a:off x="457200" y="1600201"/>
            <a:ext cx="8229600" cy="914400"/>
          </a:xfrm>
        </p:spPr>
        <p:txBody>
          <a:bodyPr/>
          <a:lstStyle/>
          <a:p>
            <a:pPr marL="0" indent="0">
              <a:buNone/>
            </a:pPr>
            <a:r>
              <a:rPr lang="en-US" sz="2400" dirty="0" err="1"/>
              <a:t>RedLotus</a:t>
            </a:r>
            <a:r>
              <a:rPr lang="en-US" sz="2400" dirty="0"/>
              <a:t> </a:t>
            </a:r>
            <a:r>
              <a:rPr lang="en-US" sz="2400" dirty="0">
                <a:cs typeface="Arial" panose="020B0604020202020204" pitchFamily="34" charset="0"/>
              </a:rPr>
              <a:t>purchases land for a new location and pays cash of $40,000.</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mj-lt"/>
                <a:cs typeface="Arial" panose="020B0604020202020204" pitchFamily="34" charset="0"/>
              </a:rPr>
              <a:t>Transaction 3</a:t>
            </a:r>
            <a:endParaRPr lang="en-US" sz="2000" b="0" dirty="0">
              <a:latin typeface="+mj-lt"/>
            </a:endParaRPr>
          </a:p>
        </p:txBody>
      </p:sp>
      <p:sp>
        <p:nvSpPr>
          <p:cNvPr id="3" name="Content Placeholder 2"/>
          <p:cNvSpPr>
            <a:spLocks noGrp="1"/>
          </p:cNvSpPr>
          <p:nvPr>
            <p:ph idx="1"/>
          </p:nvPr>
        </p:nvSpPr>
        <p:spPr>
          <a:xfrm>
            <a:off x="457200" y="1600201"/>
            <a:ext cx="8229600" cy="838200"/>
          </a:xfrm>
        </p:spPr>
        <p:txBody>
          <a:bodyPr/>
          <a:lstStyle/>
          <a:p>
            <a:pPr marL="0" indent="0">
              <a:buNone/>
            </a:pPr>
            <a:r>
              <a:rPr lang="en-US" sz="2400" dirty="0">
                <a:cs typeface="Arial" panose="020B0604020202020204" pitchFamily="34" charset="0"/>
              </a:rPr>
              <a:t>The business buys supplies on account, agreeing to pay $3,700 within 30 days.</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mj-lt"/>
                <a:cs typeface="Arial" panose="020B0604020202020204" pitchFamily="34" charset="0"/>
              </a:rPr>
              <a:t>Transaction 4</a:t>
            </a:r>
            <a:endParaRPr lang="en-US" sz="2000" b="0" dirty="0">
              <a:latin typeface="+mj-lt"/>
            </a:endParaRPr>
          </a:p>
        </p:txBody>
      </p:sp>
      <p:sp>
        <p:nvSpPr>
          <p:cNvPr id="3" name="Content Placeholder 2"/>
          <p:cNvSpPr>
            <a:spLocks noGrp="1"/>
          </p:cNvSpPr>
          <p:nvPr>
            <p:ph idx="1"/>
          </p:nvPr>
        </p:nvSpPr>
        <p:spPr>
          <a:xfrm>
            <a:off x="457200" y="1600201"/>
            <a:ext cx="8229600" cy="838200"/>
          </a:xfrm>
        </p:spPr>
        <p:txBody>
          <a:bodyPr/>
          <a:lstStyle/>
          <a:p>
            <a:pPr marL="0" indent="0">
              <a:buNone/>
            </a:pPr>
            <a:r>
              <a:rPr lang="en-US" sz="2400" dirty="0" err="1"/>
              <a:t>RedLotus</a:t>
            </a:r>
            <a:r>
              <a:rPr lang="en-US" sz="2400" dirty="0"/>
              <a:t> </a:t>
            </a:r>
            <a:r>
              <a:rPr lang="en-US" sz="2400" dirty="0">
                <a:cs typeface="Arial" panose="020B0604020202020204" pitchFamily="34" charset="0"/>
              </a:rPr>
              <a:t>earns $7,000 of service revenue by providing services for customers.</a:t>
            </a:r>
            <a:endParaRPr lang="en-US" sz="24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mj-lt"/>
                <a:cs typeface="Arial" panose="020B0604020202020204" pitchFamily="34" charset="0"/>
              </a:rPr>
              <a:t>Transaction 5</a:t>
            </a:r>
            <a:endParaRPr lang="en-US" sz="2000" b="0" dirty="0">
              <a:latin typeface="+mj-lt"/>
            </a:endParaRPr>
          </a:p>
        </p:txBody>
      </p:sp>
      <p:sp>
        <p:nvSpPr>
          <p:cNvPr id="3" name="Content Placeholder 2"/>
          <p:cNvSpPr>
            <a:spLocks noGrp="1"/>
          </p:cNvSpPr>
          <p:nvPr>
            <p:ph idx="1"/>
          </p:nvPr>
        </p:nvSpPr>
        <p:spPr>
          <a:xfrm>
            <a:off x="457200" y="1600201"/>
            <a:ext cx="8229600" cy="838200"/>
          </a:xfrm>
        </p:spPr>
        <p:txBody>
          <a:bodyPr/>
          <a:lstStyle/>
          <a:p>
            <a:pPr marL="0" indent="0">
              <a:buNone/>
            </a:pPr>
            <a:r>
              <a:rPr lang="en-US" sz="2400" dirty="0" err="1"/>
              <a:t>RedLotus</a:t>
            </a:r>
            <a:r>
              <a:rPr lang="en-US" sz="2400" dirty="0"/>
              <a:t> </a:t>
            </a:r>
            <a:r>
              <a:rPr lang="en-US" sz="2400" dirty="0">
                <a:cs typeface="Arial" panose="020B0604020202020204" pitchFamily="34" charset="0"/>
              </a:rPr>
              <a:t>performs </a:t>
            </a:r>
            <a:r>
              <a:rPr lang="en-US" sz="2400">
                <a:cs typeface="Arial" panose="020B0604020202020204" pitchFamily="34" charset="0"/>
              </a:rPr>
              <a:t>services </a:t>
            </a:r>
            <a:r>
              <a:rPr lang="en-US" sz="2400" smtClean="0">
                <a:cs typeface="Arial" panose="020B0604020202020204" pitchFamily="34" charset="0"/>
              </a:rPr>
              <a:t>$3,000 </a:t>
            </a:r>
            <a:r>
              <a:rPr lang="en-US" sz="2400" smtClean="0">
                <a:solidFill>
                  <a:srgbClr val="FF0000"/>
                </a:solidFill>
                <a:cs typeface="Arial" panose="020B0604020202020204" pitchFamily="34" charset="0"/>
              </a:rPr>
              <a:t>on </a:t>
            </a:r>
            <a:r>
              <a:rPr lang="en-US" sz="2400" dirty="0">
                <a:solidFill>
                  <a:srgbClr val="FF0000"/>
                </a:solidFill>
                <a:cs typeface="Arial" panose="020B0604020202020204" pitchFamily="34" charset="0"/>
              </a:rPr>
              <a:t>account</a:t>
            </a:r>
            <a:r>
              <a:rPr lang="en-US" sz="2400" dirty="0">
                <a:cs typeface="Arial" panose="020B0604020202020204" pitchFamily="34" charset="0"/>
              </a:rPr>
              <a:t>, which means that </a:t>
            </a:r>
            <a:r>
              <a:rPr lang="en-US" sz="2400" dirty="0" err="1"/>
              <a:t>RedLotus</a:t>
            </a:r>
            <a:r>
              <a:rPr lang="en-US" sz="2400" dirty="0"/>
              <a:t> </a:t>
            </a:r>
            <a:r>
              <a:rPr lang="en-US" sz="2400" dirty="0">
                <a:cs typeface="Arial" panose="020B0604020202020204" pitchFamily="34" charset="0"/>
              </a:rPr>
              <a:t>lets some customers </a:t>
            </a:r>
            <a:r>
              <a:rPr lang="en-US" sz="2400" dirty="0">
                <a:solidFill>
                  <a:srgbClr val="FF0000"/>
                </a:solidFill>
                <a:cs typeface="Arial" panose="020B0604020202020204" pitchFamily="34" charset="0"/>
              </a:rPr>
              <a:t>pay later</a:t>
            </a:r>
            <a:r>
              <a:rPr lang="en-US" sz="2400" dirty="0">
                <a:cs typeface="Arial" panose="020B0604020202020204" pitchFamily="34" charset="0"/>
              </a:rPr>
              <a:t>.</a:t>
            </a:r>
            <a:endParaRPr lang="en-US" sz="24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mj-lt"/>
                <a:cs typeface="Arial" panose="020B0604020202020204" pitchFamily="34" charset="0"/>
              </a:rPr>
              <a:t>Transaction 6</a:t>
            </a:r>
            <a:endParaRPr lang="en-US" sz="2200" b="0" dirty="0">
              <a:latin typeface="+mj-lt"/>
            </a:endParaRPr>
          </a:p>
        </p:txBody>
      </p:sp>
      <p:sp>
        <p:nvSpPr>
          <p:cNvPr id="3" name="Content Placeholder 2"/>
          <p:cNvSpPr>
            <a:spLocks noGrp="1"/>
          </p:cNvSpPr>
          <p:nvPr>
            <p:ph idx="1"/>
          </p:nvPr>
        </p:nvSpPr>
        <p:spPr>
          <a:xfrm>
            <a:off x="457200" y="1600201"/>
            <a:ext cx="8229600" cy="1143000"/>
          </a:xfrm>
        </p:spPr>
        <p:txBody>
          <a:bodyPr/>
          <a:lstStyle/>
          <a:p>
            <a:pPr marL="0" indent="0">
              <a:buNone/>
            </a:pPr>
            <a:r>
              <a:rPr lang="en-US" sz="2400" dirty="0">
                <a:cs typeface="Arial" panose="020B0604020202020204" pitchFamily="34" charset="0"/>
              </a:rPr>
              <a:t>During the month, </a:t>
            </a:r>
            <a:r>
              <a:rPr lang="en-US" sz="2400" dirty="0" err="1"/>
              <a:t>RedLotus</a:t>
            </a:r>
            <a:r>
              <a:rPr lang="en-US" sz="2400" dirty="0"/>
              <a:t> Security</a:t>
            </a:r>
            <a:r>
              <a:rPr lang="en-US" sz="2400" dirty="0">
                <a:cs typeface="Arial" panose="020B0604020202020204" pitchFamily="34" charset="0"/>
              </a:rPr>
              <a:t>, pays $2,700 for the following expenses: rent $1,100; employee salaries, $1,200; and utilities, $400.</a:t>
            </a:r>
            <a:endParaRPr lang="en-US" sz="24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mj-lt"/>
                <a:cs typeface="Arial" panose="020B0604020202020204" pitchFamily="34" charset="0"/>
              </a:rPr>
              <a:t>Transaction 7</a:t>
            </a:r>
            <a:endParaRPr lang="en-US" sz="2000" b="0" dirty="0">
              <a:latin typeface="+mj-lt"/>
            </a:endParaRPr>
          </a:p>
        </p:txBody>
      </p:sp>
      <p:sp>
        <p:nvSpPr>
          <p:cNvPr id="3" name="Content Placeholder 2"/>
          <p:cNvSpPr>
            <a:spLocks noGrp="1"/>
          </p:cNvSpPr>
          <p:nvPr>
            <p:ph idx="1"/>
          </p:nvPr>
        </p:nvSpPr>
        <p:spPr>
          <a:xfrm>
            <a:off x="457200" y="1600201"/>
            <a:ext cx="8229600" cy="838200"/>
          </a:xfrm>
        </p:spPr>
        <p:txBody>
          <a:bodyPr/>
          <a:lstStyle/>
          <a:p>
            <a:pPr marL="0" indent="0">
              <a:buNone/>
            </a:pPr>
            <a:r>
              <a:rPr lang="en-US" sz="2400" dirty="0" err="1"/>
              <a:t>RedLotus</a:t>
            </a:r>
            <a:r>
              <a:rPr lang="en-US" sz="2400" dirty="0"/>
              <a:t> </a:t>
            </a:r>
            <a:r>
              <a:rPr lang="en-US" sz="2400" dirty="0">
                <a:cs typeface="Arial" panose="020B0604020202020204" pitchFamily="34" charset="0"/>
              </a:rPr>
              <a:t>pays $1,900 on account, which means to make a payment toward an account payable.</a:t>
            </a:r>
            <a:endParaRPr lang="en-US" sz="24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mj-lt"/>
                <a:cs typeface="Arial" panose="020B0604020202020204" pitchFamily="34" charset="0"/>
              </a:rPr>
              <a:t>Transaction 8</a:t>
            </a:r>
            <a:endParaRPr lang="en-US" sz="2000" b="0" dirty="0">
              <a:latin typeface="+mj-lt"/>
            </a:endParaRPr>
          </a:p>
        </p:txBody>
      </p:sp>
      <p:sp>
        <p:nvSpPr>
          <p:cNvPr id="3" name="Content Placeholder 2"/>
          <p:cNvSpPr>
            <a:spLocks noGrp="1"/>
          </p:cNvSpPr>
          <p:nvPr>
            <p:ph idx="1"/>
          </p:nvPr>
        </p:nvSpPr>
        <p:spPr>
          <a:xfrm>
            <a:off x="457200" y="1600201"/>
            <a:ext cx="8229600" cy="1143000"/>
          </a:xfrm>
        </p:spPr>
        <p:txBody>
          <a:bodyPr/>
          <a:lstStyle/>
          <a:p>
            <a:pPr marL="0" indent="0">
              <a:buNone/>
            </a:pPr>
            <a:r>
              <a:rPr lang="en-US" sz="2400" dirty="0"/>
              <a:t>Starr Williams, the major stockholder of </a:t>
            </a:r>
            <a:r>
              <a:rPr lang="en-US" sz="2400" dirty="0" err="1"/>
              <a:t>RedLotus</a:t>
            </a:r>
            <a:r>
              <a:rPr lang="en-US" sz="2400" dirty="0"/>
              <a:t> Travel, paid $30,000 out of his personal bank account to remodel his home.</a:t>
            </a:r>
            <a:endParaRPr lang="en-US" dirty="0"/>
          </a:p>
        </p:txBody>
      </p:sp>
      <p:sp>
        <p:nvSpPr>
          <p:cNvPr id="5" name="内容占位符 4"/>
          <p:cNvSpPr>
            <a:spLocks noGrp="1"/>
          </p:cNvSpPr>
          <p:nvPr>
            <p:ph idx="13"/>
          </p:nvPr>
        </p:nvSpPr>
        <p:spPr/>
        <p:txBody>
          <a:bodyPr/>
          <a:lstStyle/>
          <a:p>
            <a:endParaRPr lang="zh-CN" alt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mj-lt"/>
                <a:cs typeface="Arial" panose="020B0604020202020204" pitchFamily="34" charset="0"/>
              </a:rPr>
              <a:t>Transaction 9</a:t>
            </a:r>
            <a:endParaRPr lang="en-US" sz="2000" b="0" dirty="0">
              <a:latin typeface="+mj-lt"/>
            </a:endParaRPr>
          </a:p>
        </p:txBody>
      </p:sp>
      <p:sp>
        <p:nvSpPr>
          <p:cNvPr id="3" name="Content Placeholder 2"/>
          <p:cNvSpPr>
            <a:spLocks noGrp="1"/>
          </p:cNvSpPr>
          <p:nvPr>
            <p:ph idx="1"/>
          </p:nvPr>
        </p:nvSpPr>
        <p:spPr>
          <a:xfrm>
            <a:off x="457200" y="1600201"/>
            <a:ext cx="8229600" cy="838200"/>
          </a:xfrm>
        </p:spPr>
        <p:txBody>
          <a:bodyPr/>
          <a:lstStyle/>
          <a:p>
            <a:pPr marL="0" indent="0">
              <a:buNone/>
            </a:pPr>
            <a:r>
              <a:rPr lang="en-US" sz="2400" dirty="0"/>
              <a:t>In transaction 5, </a:t>
            </a:r>
            <a:r>
              <a:rPr lang="en-US" sz="2400" dirty="0" err="1"/>
              <a:t>RedLotus</a:t>
            </a:r>
            <a:r>
              <a:rPr lang="en-US" sz="2400" dirty="0"/>
              <a:t> performed services for UPS on account. The business now collects $1,000 from UPS.</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mj-lt"/>
                <a:cs typeface="Arial" panose="020B0604020202020204" pitchFamily="34" charset="0"/>
              </a:rPr>
              <a:t>Transaction 10</a:t>
            </a:r>
            <a:endParaRPr lang="en-US" sz="2000" b="0" dirty="0">
              <a:latin typeface="+mj-lt"/>
            </a:endParaRPr>
          </a:p>
        </p:txBody>
      </p:sp>
      <p:sp>
        <p:nvSpPr>
          <p:cNvPr id="3" name="Content Placeholder 2"/>
          <p:cNvSpPr>
            <a:spLocks noGrp="1"/>
          </p:cNvSpPr>
          <p:nvPr>
            <p:ph idx="1"/>
          </p:nvPr>
        </p:nvSpPr>
        <p:spPr>
          <a:xfrm>
            <a:off x="457200" y="1600201"/>
            <a:ext cx="8229600" cy="838200"/>
          </a:xfrm>
        </p:spPr>
        <p:txBody>
          <a:bodyPr/>
          <a:lstStyle/>
          <a:p>
            <a:pPr marL="0" indent="0">
              <a:buNone/>
            </a:pPr>
            <a:r>
              <a:rPr lang="en-US" sz="2400" dirty="0" err="1"/>
              <a:t>RedLotus</a:t>
            </a:r>
            <a:r>
              <a:rPr lang="en-US" sz="2400" dirty="0"/>
              <a:t> sells some land for $22,000, which is the same amount </a:t>
            </a:r>
            <a:r>
              <a:rPr lang="en-US" sz="2400" dirty="0" err="1"/>
              <a:t>RedLotus</a:t>
            </a:r>
            <a:r>
              <a:rPr lang="en-US" sz="2400" dirty="0"/>
              <a:t> paid for the land and makes a $2,000 gain.</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mj-lt"/>
                <a:cs typeface="Arial" panose="020B0604020202020204" pitchFamily="34" charset="0"/>
              </a:rPr>
              <a:t>Transaction 11</a:t>
            </a:r>
            <a:endParaRPr lang="en-US" sz="2000" b="0" dirty="0">
              <a:latin typeface="+mj-lt"/>
            </a:endParaRPr>
          </a:p>
        </p:txBody>
      </p:sp>
      <p:sp>
        <p:nvSpPr>
          <p:cNvPr id="3" name="Content Placeholder 2"/>
          <p:cNvSpPr>
            <a:spLocks noGrp="1"/>
          </p:cNvSpPr>
          <p:nvPr>
            <p:ph idx="1"/>
          </p:nvPr>
        </p:nvSpPr>
        <p:spPr>
          <a:xfrm>
            <a:off x="457200" y="1600201"/>
            <a:ext cx="8229600" cy="838200"/>
          </a:xfrm>
        </p:spPr>
        <p:txBody>
          <a:bodyPr/>
          <a:lstStyle/>
          <a:p>
            <a:pPr marL="0" indent="0">
              <a:buNone/>
            </a:pPr>
            <a:r>
              <a:rPr lang="en-US" sz="2400" dirty="0" err="1"/>
              <a:t>RedLotus</a:t>
            </a:r>
            <a:r>
              <a:rPr lang="en-US" sz="2400" dirty="0"/>
              <a:t> Security, declares a dividend and pays the stockholders $2,100 cash. </a:t>
            </a:r>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458200" cy="1097280"/>
          </a:xfrm>
        </p:spPr>
        <p:txBody>
          <a:bodyPr/>
          <a:lstStyle/>
          <a:p>
            <a:r>
              <a:rPr lang="en-US" sz="3600" dirty="0" smtClean="0">
                <a:latin typeface="+mj-lt"/>
              </a:rPr>
              <a:t>Transaction </a:t>
            </a:r>
            <a:r>
              <a:rPr lang="en-US" sz="3600" dirty="0">
                <a:latin typeface="+mj-lt"/>
              </a:rPr>
              <a:t>Analysis: </a:t>
            </a:r>
            <a:r>
              <a:rPr lang="en-US" sz="3600" dirty="0" err="1">
                <a:latin typeface="+mj-lt"/>
              </a:rPr>
              <a:t>RedLotus</a:t>
            </a:r>
            <a:r>
              <a:rPr lang="en-US" sz="3600" dirty="0">
                <a:latin typeface="+mj-lt"/>
              </a:rPr>
              <a:t> Security</a:t>
            </a:r>
            <a:endParaRPr lang="en-US" dirty="0">
              <a:latin typeface="+mj-lt"/>
            </a:endParaRPr>
          </a:p>
        </p:txBody>
      </p:sp>
      <p:pic>
        <p:nvPicPr>
          <p:cNvPr id="102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817044" y="1600200"/>
            <a:ext cx="7357511" cy="448155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5"/>
          <p:cNvSpPr>
            <a:spLocks noGrp="1"/>
          </p:cNvSpPr>
          <p:nvPr>
            <p:ph type="title" idx="4294967295"/>
          </p:nvPr>
        </p:nvSpPr>
        <p:spPr/>
        <p:txBody>
          <a:bodyPr/>
          <a:lstStyle/>
          <a:p>
            <a:pPr eaLnBrk="1" hangingPunct="1"/>
            <a:r>
              <a:rPr lang="en-US" smtClean="0"/>
              <a:t>Double-Entry Accounting</a:t>
            </a:r>
          </a:p>
        </p:txBody>
      </p:sp>
      <p:sp>
        <p:nvSpPr>
          <p:cNvPr id="22531" name="Content Placeholder 6"/>
          <p:cNvSpPr>
            <a:spLocks noGrp="1"/>
          </p:cNvSpPr>
          <p:nvPr>
            <p:ph idx="4294967295"/>
          </p:nvPr>
        </p:nvSpPr>
        <p:spPr/>
        <p:txBody>
          <a:bodyPr/>
          <a:lstStyle/>
          <a:p>
            <a:pPr eaLnBrk="1" hangingPunct="1"/>
            <a:r>
              <a:rPr lang="en-US" sz="2400" dirty="0" smtClean="0">
                <a:latin typeface="Times New Roman" panose="02020603050405020304" pitchFamily="18" charset="0"/>
                <a:cs typeface="Times New Roman" panose="02020603050405020304" pitchFamily="18" charset="0"/>
              </a:rPr>
              <a:t>Business transactions include two parts</a:t>
            </a:r>
          </a:p>
          <a:p>
            <a:pPr lvl="1" eaLnBrk="1" hangingPunct="1"/>
            <a:r>
              <a:rPr lang="en-US" sz="2400" dirty="0" smtClean="0">
                <a:latin typeface="Times New Roman" panose="02020603050405020304" pitchFamily="18" charset="0"/>
                <a:cs typeface="Times New Roman" panose="02020603050405020304" pitchFamily="18" charset="0"/>
              </a:rPr>
              <a:t>Giving</a:t>
            </a:r>
          </a:p>
          <a:p>
            <a:pPr lvl="1" eaLnBrk="1" hangingPunct="1"/>
            <a:r>
              <a:rPr lang="en-US" sz="2400" dirty="0" smtClean="0">
                <a:latin typeface="Times New Roman" panose="02020603050405020304" pitchFamily="18" charset="0"/>
                <a:cs typeface="Times New Roman" panose="02020603050405020304" pitchFamily="18" charset="0"/>
              </a:rPr>
              <a:t>Receiving</a:t>
            </a:r>
          </a:p>
          <a:p>
            <a:pPr eaLnBrk="1" hangingPunct="1"/>
            <a:r>
              <a:rPr lang="en-US" sz="2400" dirty="0" smtClean="0">
                <a:latin typeface="Times New Roman" panose="02020603050405020304" pitchFamily="18" charset="0"/>
                <a:cs typeface="Times New Roman" panose="02020603050405020304" pitchFamily="18" charset="0"/>
              </a:rPr>
              <a:t>Accounting based on a </a:t>
            </a:r>
            <a:r>
              <a:rPr lang="en-US" sz="2400" u="sng" dirty="0" smtClean="0">
                <a:solidFill>
                  <a:srgbClr val="FF0000"/>
                </a:solidFill>
                <a:latin typeface="Times New Roman" panose="02020603050405020304" pitchFamily="18" charset="0"/>
                <a:cs typeface="Times New Roman" panose="02020603050405020304" pitchFamily="18" charset="0"/>
              </a:rPr>
              <a:t>double-entry</a:t>
            </a:r>
            <a:r>
              <a:rPr lang="en-US" sz="2400" dirty="0" smtClean="0">
                <a:solidFill>
                  <a:srgbClr val="FF0000"/>
                </a:solidFill>
                <a:latin typeface="Times New Roman" panose="02020603050405020304" pitchFamily="18" charset="0"/>
                <a:cs typeface="Times New Roman" panose="02020603050405020304" pitchFamily="18" charset="0"/>
              </a:rPr>
              <a:t> system</a:t>
            </a:r>
          </a:p>
          <a:p>
            <a:pPr lvl="1"/>
            <a:r>
              <a:rPr lang="en-US" sz="2400" dirty="0" smtClean="0">
                <a:latin typeface="Times New Roman" panose="02020603050405020304" pitchFamily="18" charset="0"/>
                <a:cs typeface="Times New Roman" panose="02020603050405020304" pitchFamily="18" charset="0"/>
              </a:rPr>
              <a:t>Each transaction affects </a:t>
            </a:r>
            <a:r>
              <a:rPr lang="en-US" altLang="zh-CN" sz="2400" u="sng" dirty="0">
                <a:latin typeface="Times New Roman" panose="02020603050405020304" pitchFamily="18" charset="0"/>
                <a:cs typeface="Times New Roman" panose="02020603050405020304" pitchFamily="18" charset="0"/>
              </a:rPr>
              <a:t> </a:t>
            </a:r>
            <a:r>
              <a:rPr lang="en-US" altLang="zh-CN" sz="2400" u="sng" dirty="0" smtClean="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accounts</a:t>
            </a:r>
          </a:p>
        </p:txBody>
      </p:sp>
      <p:sp>
        <p:nvSpPr>
          <p:cNvPr id="22532" name="Footer Placeholder 4"/>
          <p:cNvSpPr txBox="1"/>
          <p:nvPr/>
        </p:nvSpPr>
        <p:spPr bwMode="auto">
          <a:xfrm>
            <a:off x="2438400" y="6553200"/>
            <a:ext cx="4343400" cy="304800"/>
          </a:xfrm>
          <a:prstGeom prst="rect">
            <a:avLst/>
          </a:prstGeom>
          <a:noFill/>
          <a:ln w="9525">
            <a:noFill/>
            <a:miter lim="800000"/>
          </a:ln>
        </p:spPr>
        <p:txBody>
          <a:bodyPr anchor="b"/>
          <a:lstStyle/>
          <a:p>
            <a:pPr algn="r"/>
            <a:r>
              <a:rPr lang="en-US" sz="1000">
                <a:solidFill>
                  <a:schemeClr val="accent2"/>
                </a:solidFill>
              </a:rPr>
              <a:t>Copyright ©2014 Pearson Education</a:t>
            </a:r>
          </a:p>
        </p:txBody>
      </p:sp>
      <p:sp>
        <p:nvSpPr>
          <p:cNvPr id="22533" name="Slide Number Placeholder 5"/>
          <p:cNvSpPr>
            <a:spLocks noGrp="1"/>
          </p:cNvSpPr>
          <p:nvPr>
            <p:ph type="sldNum" sz="quarter" idx="11"/>
          </p:nvPr>
        </p:nvSpPr>
        <p:spPr bwMode="auto">
          <a:xfrm>
            <a:off x="8382000" y="6491288"/>
            <a:ext cx="762000" cy="366712"/>
          </a:xfrm>
          <a:noFill/>
          <a:ln>
            <a:miter lim="800000"/>
          </a:ln>
        </p:spPr>
        <p:txBody>
          <a:bodyPr/>
          <a:lstStyle/>
          <a:p>
            <a:fld id="{58B56BE6-1379-41B0-8BA7-BA7F261E18D8}" type="slidenum">
              <a:rPr lang="en-US" sz="1000" smtClean="0">
                <a:solidFill>
                  <a:schemeClr val="accent2"/>
                </a:solidFill>
                <a:latin typeface="Arial" panose="020B0604020202020204" pitchFamily="34" charset="0"/>
                <a:cs typeface="Arial" panose="020B0604020202020204" pitchFamily="34" charset="0"/>
              </a:rPr>
              <a:t>24</a:t>
            </a:fld>
            <a:endParaRPr lang="en-US" sz="1000" smtClean="0">
              <a:solidFill>
                <a:schemeClr val="accent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7810779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Footer Placeholder 2"/>
          <p:cNvSpPr>
            <a:spLocks noGrp="1"/>
          </p:cNvSpPr>
          <p:nvPr>
            <p:ph type="ftr" sz="quarter" idx="10"/>
          </p:nvPr>
        </p:nvSpPr>
        <p:spPr/>
        <p:txBody>
          <a:bodyPr/>
          <a:lstStyle/>
          <a:p>
            <a:pPr>
              <a:defRPr/>
            </a:pPr>
            <a:r>
              <a:rPr lang="en-US" smtClean="0"/>
              <a:t>©2010 Pearson Prentice Hall. All rights reserved.</a:t>
            </a:r>
            <a:endParaRPr lang="en-US"/>
          </a:p>
        </p:txBody>
      </p:sp>
      <p:sp>
        <p:nvSpPr>
          <p:cNvPr id="4" name="Slide Number Placeholder 3"/>
          <p:cNvSpPr>
            <a:spLocks noGrp="1"/>
          </p:cNvSpPr>
          <p:nvPr>
            <p:ph type="sldNum" sz="quarter" idx="11"/>
          </p:nvPr>
        </p:nvSpPr>
        <p:spPr/>
        <p:txBody>
          <a:bodyPr/>
          <a:lstStyle/>
          <a:p>
            <a:pPr>
              <a:defRPr/>
            </a:pPr>
            <a:r>
              <a:rPr lang="en-US" smtClean="0"/>
              <a:t>1-</a:t>
            </a:r>
            <a:fld id="{FB1458D7-A588-4E65-9ACD-BC2FAD608F20}" type="slidenum">
              <a:rPr lang="en-US" smtClean="0"/>
              <a:t>25</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43000"/>
            <a:ext cx="9113520" cy="5070370"/>
          </a:xfrm>
          <a:prstGeom prst="rect">
            <a:avLst/>
          </a:prstGeom>
        </p:spPr>
      </p:pic>
    </p:spTree>
    <p:extLst>
      <p:ext uri="{BB962C8B-B14F-4D97-AF65-F5344CB8AC3E}">
        <p14:creationId xmlns:p14="http://schemas.microsoft.com/office/powerpoint/2010/main" val="71565405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5"/>
          <p:cNvSpPr>
            <a:spLocks noGrp="1"/>
          </p:cNvSpPr>
          <p:nvPr>
            <p:ph type="title"/>
          </p:nvPr>
        </p:nvSpPr>
        <p:spPr>
          <a:xfrm>
            <a:off x="457200" y="1143000"/>
            <a:ext cx="8229600" cy="1069975"/>
          </a:xfrm>
        </p:spPr>
        <p:txBody>
          <a:bodyPr/>
          <a:lstStyle/>
          <a:p>
            <a:pPr eaLnBrk="1" hangingPunct="1"/>
            <a:r>
              <a:rPr lang="en-US" smtClean="0"/>
              <a:t>T-Account</a:t>
            </a:r>
          </a:p>
        </p:txBody>
      </p:sp>
      <p:cxnSp>
        <p:nvCxnSpPr>
          <p:cNvPr id="8" name="Straight Connector 7"/>
          <p:cNvCxnSpPr/>
          <p:nvPr/>
        </p:nvCxnSpPr>
        <p:spPr>
          <a:xfrm>
            <a:off x="1828800" y="2971800"/>
            <a:ext cx="5410200" cy="1588"/>
          </a:xfrm>
          <a:prstGeom prst="line">
            <a:avLst/>
          </a:prstGeom>
        </p:spPr>
        <p:style>
          <a:lnRef idx="3">
            <a:schemeClr val="dk1"/>
          </a:lnRef>
          <a:fillRef idx="0">
            <a:schemeClr val="dk1"/>
          </a:fillRef>
          <a:effectRef idx="2">
            <a:schemeClr val="dk1"/>
          </a:effectRef>
          <a:fontRef idx="minor">
            <a:schemeClr val="tx1"/>
          </a:fontRef>
        </p:style>
      </p:cxnSp>
      <p:cxnSp>
        <p:nvCxnSpPr>
          <p:cNvPr id="11" name="Straight Connector 10"/>
          <p:cNvCxnSpPr/>
          <p:nvPr/>
        </p:nvCxnSpPr>
        <p:spPr>
          <a:xfrm rot="5400000">
            <a:off x="3201194" y="4342606"/>
            <a:ext cx="2743200" cy="1588"/>
          </a:xfrm>
          <a:prstGeom prst="line">
            <a:avLst/>
          </a:prstGeom>
        </p:spPr>
        <p:style>
          <a:lnRef idx="3">
            <a:schemeClr val="dk1"/>
          </a:lnRef>
          <a:fillRef idx="0">
            <a:schemeClr val="dk1"/>
          </a:fillRef>
          <a:effectRef idx="2">
            <a:schemeClr val="dk1"/>
          </a:effectRef>
          <a:fontRef idx="minor">
            <a:schemeClr val="tx1"/>
          </a:fontRef>
        </p:style>
      </p:cxnSp>
      <p:sp>
        <p:nvSpPr>
          <p:cNvPr id="23557" name="TextBox 12"/>
          <p:cNvSpPr txBox="1">
            <a:spLocks noChangeArrowheads="1"/>
          </p:cNvSpPr>
          <p:nvPr/>
        </p:nvSpPr>
        <p:spPr bwMode="auto">
          <a:xfrm>
            <a:off x="3505200" y="2514600"/>
            <a:ext cx="2514600" cy="519113"/>
          </a:xfrm>
          <a:prstGeom prst="rect">
            <a:avLst/>
          </a:prstGeom>
          <a:noFill/>
          <a:ln w="9525">
            <a:noFill/>
            <a:miter lim="800000"/>
          </a:ln>
        </p:spPr>
        <p:txBody>
          <a:bodyPr>
            <a:spAutoFit/>
          </a:bodyPr>
          <a:lstStyle/>
          <a:p>
            <a:r>
              <a:rPr lang="en-US" sz="2800"/>
              <a:t>Account Title</a:t>
            </a:r>
          </a:p>
        </p:txBody>
      </p:sp>
      <p:sp>
        <p:nvSpPr>
          <p:cNvPr id="23558" name="TextBox 13"/>
          <p:cNvSpPr txBox="1">
            <a:spLocks noChangeArrowheads="1"/>
          </p:cNvSpPr>
          <p:nvPr/>
        </p:nvSpPr>
        <p:spPr bwMode="auto">
          <a:xfrm>
            <a:off x="2133600" y="3200400"/>
            <a:ext cx="1752600" cy="457200"/>
          </a:xfrm>
          <a:prstGeom prst="rect">
            <a:avLst/>
          </a:prstGeom>
          <a:noFill/>
          <a:ln w="9525">
            <a:noFill/>
            <a:miter lim="800000"/>
          </a:ln>
        </p:spPr>
        <p:txBody>
          <a:bodyPr>
            <a:spAutoFit/>
          </a:bodyPr>
          <a:lstStyle/>
          <a:p>
            <a:r>
              <a:rPr lang="en-US" sz="2400" dirty="0"/>
              <a:t>Left side</a:t>
            </a:r>
          </a:p>
        </p:txBody>
      </p:sp>
      <p:sp>
        <p:nvSpPr>
          <p:cNvPr id="23559" name="TextBox 14"/>
          <p:cNvSpPr txBox="1">
            <a:spLocks noChangeArrowheads="1"/>
          </p:cNvSpPr>
          <p:nvPr/>
        </p:nvSpPr>
        <p:spPr bwMode="auto">
          <a:xfrm>
            <a:off x="5257800" y="3200400"/>
            <a:ext cx="1752600" cy="457200"/>
          </a:xfrm>
          <a:prstGeom prst="rect">
            <a:avLst/>
          </a:prstGeom>
          <a:noFill/>
          <a:ln w="9525">
            <a:noFill/>
            <a:miter lim="800000"/>
          </a:ln>
        </p:spPr>
        <p:txBody>
          <a:bodyPr>
            <a:spAutoFit/>
          </a:bodyPr>
          <a:lstStyle/>
          <a:p>
            <a:r>
              <a:rPr lang="en-US" sz="2400" dirty="0"/>
              <a:t>Right side</a:t>
            </a:r>
          </a:p>
        </p:txBody>
      </p:sp>
      <p:sp>
        <p:nvSpPr>
          <p:cNvPr id="23560" name="TextBox 15"/>
          <p:cNvSpPr txBox="1">
            <a:spLocks noChangeArrowheads="1"/>
          </p:cNvSpPr>
          <p:nvPr/>
        </p:nvSpPr>
        <p:spPr bwMode="auto">
          <a:xfrm>
            <a:off x="2286000" y="4343400"/>
            <a:ext cx="1143000" cy="457200"/>
          </a:xfrm>
          <a:prstGeom prst="rect">
            <a:avLst/>
          </a:prstGeom>
          <a:noFill/>
          <a:ln w="9525">
            <a:noFill/>
            <a:miter lim="800000"/>
          </a:ln>
        </p:spPr>
        <p:txBody>
          <a:bodyPr>
            <a:spAutoFit/>
          </a:bodyPr>
          <a:lstStyle/>
          <a:p>
            <a:r>
              <a:rPr lang="en-US" sz="2400" b="1" dirty="0"/>
              <a:t>Debit</a:t>
            </a:r>
          </a:p>
        </p:txBody>
      </p:sp>
      <p:sp>
        <p:nvSpPr>
          <p:cNvPr id="23561" name="TextBox 16"/>
          <p:cNvSpPr txBox="1">
            <a:spLocks noChangeArrowheads="1"/>
          </p:cNvSpPr>
          <p:nvPr/>
        </p:nvSpPr>
        <p:spPr bwMode="auto">
          <a:xfrm>
            <a:off x="5486400" y="4343400"/>
            <a:ext cx="1143000" cy="457200"/>
          </a:xfrm>
          <a:prstGeom prst="rect">
            <a:avLst/>
          </a:prstGeom>
          <a:noFill/>
          <a:ln w="9525">
            <a:noFill/>
            <a:miter lim="800000"/>
          </a:ln>
        </p:spPr>
        <p:txBody>
          <a:bodyPr>
            <a:spAutoFit/>
          </a:bodyPr>
          <a:lstStyle/>
          <a:p>
            <a:r>
              <a:rPr lang="en-US" sz="2400" b="1" dirty="0"/>
              <a:t>Credit</a:t>
            </a:r>
          </a:p>
        </p:txBody>
      </p:sp>
      <p:sp>
        <p:nvSpPr>
          <p:cNvPr id="23562" name="Footer Placeholder 4"/>
          <p:cNvSpPr txBox="1"/>
          <p:nvPr/>
        </p:nvSpPr>
        <p:spPr bwMode="auto">
          <a:xfrm>
            <a:off x="2438400" y="6553200"/>
            <a:ext cx="4343400" cy="304800"/>
          </a:xfrm>
          <a:prstGeom prst="rect">
            <a:avLst/>
          </a:prstGeom>
          <a:noFill/>
          <a:ln w="9525">
            <a:noFill/>
            <a:miter lim="800000"/>
          </a:ln>
        </p:spPr>
        <p:txBody>
          <a:bodyPr anchor="b"/>
          <a:lstStyle/>
          <a:p>
            <a:pPr algn="r"/>
            <a:r>
              <a:rPr lang="en-US" sz="1000">
                <a:solidFill>
                  <a:schemeClr val="accent2"/>
                </a:solidFill>
              </a:rPr>
              <a:t>Copyright ©2014 Pearson Education</a:t>
            </a:r>
          </a:p>
        </p:txBody>
      </p:sp>
      <p:sp>
        <p:nvSpPr>
          <p:cNvPr id="23563" name="Slide Number Placeholder 5"/>
          <p:cNvSpPr>
            <a:spLocks noGrp="1"/>
          </p:cNvSpPr>
          <p:nvPr>
            <p:ph type="sldNum" sz="quarter" idx="11"/>
          </p:nvPr>
        </p:nvSpPr>
        <p:spPr bwMode="auto">
          <a:xfrm>
            <a:off x="8382000" y="6491288"/>
            <a:ext cx="762000" cy="366712"/>
          </a:xfrm>
          <a:noFill/>
          <a:ln>
            <a:miter lim="800000"/>
          </a:ln>
        </p:spPr>
        <p:txBody>
          <a:bodyPr/>
          <a:lstStyle/>
          <a:p>
            <a:fld id="{54CA35A0-3260-42B9-9FDE-EE97FA210892}" type="slidenum">
              <a:rPr lang="en-US" sz="1000" smtClean="0">
                <a:solidFill>
                  <a:schemeClr val="accent2"/>
                </a:solidFill>
                <a:latin typeface="Arial" panose="020B0604020202020204" pitchFamily="34" charset="0"/>
                <a:cs typeface="Arial" panose="020B0604020202020204" pitchFamily="34" charset="0"/>
              </a:rPr>
              <a:t>26</a:t>
            </a:fld>
            <a:endParaRPr lang="en-US" sz="1000" smtClean="0">
              <a:solidFill>
                <a:schemeClr val="accent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9996564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609600" y="685800"/>
            <a:ext cx="8229600" cy="1069975"/>
          </a:xfrm>
        </p:spPr>
        <p:txBody>
          <a:bodyPr/>
          <a:lstStyle/>
          <a:p>
            <a:pPr eaLnBrk="1" hangingPunct="1"/>
            <a:r>
              <a:rPr lang="en-US" smtClean="0"/>
              <a:t>Rules of Debit and Credit</a:t>
            </a:r>
          </a:p>
        </p:txBody>
      </p:sp>
      <p:cxnSp>
        <p:nvCxnSpPr>
          <p:cNvPr id="6" name="Straight Connector 5"/>
          <p:cNvCxnSpPr/>
          <p:nvPr/>
        </p:nvCxnSpPr>
        <p:spPr>
          <a:xfrm>
            <a:off x="762000" y="2514600"/>
            <a:ext cx="2133600" cy="1588"/>
          </a:xfrm>
          <a:prstGeom prst="line">
            <a:avLst/>
          </a:prstGeom>
        </p:spPr>
        <p:style>
          <a:lnRef idx="2">
            <a:schemeClr val="dk1"/>
          </a:lnRef>
          <a:fillRef idx="0">
            <a:schemeClr val="dk1"/>
          </a:fillRef>
          <a:effectRef idx="1">
            <a:schemeClr val="dk1"/>
          </a:effectRef>
          <a:fontRef idx="minor">
            <a:schemeClr val="tx1"/>
          </a:fontRef>
        </p:style>
      </p:cxnSp>
      <p:cxnSp>
        <p:nvCxnSpPr>
          <p:cNvPr id="8" name="Straight Connector 7"/>
          <p:cNvCxnSpPr/>
          <p:nvPr/>
        </p:nvCxnSpPr>
        <p:spPr>
          <a:xfrm>
            <a:off x="3505200" y="2514600"/>
            <a:ext cx="2057400" cy="1588"/>
          </a:xfrm>
          <a:prstGeom prst="line">
            <a:avLst/>
          </a:prstGeom>
        </p:spPr>
        <p:style>
          <a:lnRef idx="2">
            <a:schemeClr val="dk1"/>
          </a:lnRef>
          <a:fillRef idx="0">
            <a:schemeClr val="dk1"/>
          </a:fillRef>
          <a:effectRef idx="1">
            <a:schemeClr val="dk1"/>
          </a:effectRef>
          <a:fontRef idx="minor">
            <a:schemeClr val="tx1"/>
          </a:fontRef>
        </p:style>
      </p:cxnSp>
      <p:cxnSp>
        <p:nvCxnSpPr>
          <p:cNvPr id="9" name="Straight Connector 8"/>
          <p:cNvCxnSpPr/>
          <p:nvPr/>
        </p:nvCxnSpPr>
        <p:spPr>
          <a:xfrm>
            <a:off x="6248400" y="2514600"/>
            <a:ext cx="2133600" cy="1588"/>
          </a:xfrm>
          <a:prstGeom prst="line">
            <a:avLst/>
          </a:prstGeom>
        </p:spPr>
        <p:style>
          <a:lnRef idx="2">
            <a:schemeClr val="dk1"/>
          </a:lnRef>
          <a:fillRef idx="0">
            <a:schemeClr val="dk1"/>
          </a:fillRef>
          <a:effectRef idx="1">
            <a:schemeClr val="dk1"/>
          </a:effectRef>
          <a:fontRef idx="minor">
            <a:schemeClr val="tx1"/>
          </a:fontRef>
        </p:style>
      </p:cxnSp>
      <p:cxnSp>
        <p:nvCxnSpPr>
          <p:cNvPr id="10" name="Straight Connector 9"/>
          <p:cNvCxnSpPr/>
          <p:nvPr/>
        </p:nvCxnSpPr>
        <p:spPr>
          <a:xfrm rot="5400000">
            <a:off x="1143794" y="3199606"/>
            <a:ext cx="1371600" cy="1588"/>
          </a:xfrm>
          <a:prstGeom prst="line">
            <a:avLst/>
          </a:prstGeom>
        </p:spPr>
        <p:style>
          <a:lnRef idx="2">
            <a:schemeClr val="dk1"/>
          </a:lnRef>
          <a:fillRef idx="0">
            <a:schemeClr val="dk1"/>
          </a:fillRef>
          <a:effectRef idx="1">
            <a:schemeClr val="dk1"/>
          </a:effectRef>
          <a:fontRef idx="minor">
            <a:schemeClr val="tx1"/>
          </a:fontRef>
        </p:style>
      </p:cxnSp>
      <p:cxnSp>
        <p:nvCxnSpPr>
          <p:cNvPr id="11" name="Straight Connector 10"/>
          <p:cNvCxnSpPr/>
          <p:nvPr/>
        </p:nvCxnSpPr>
        <p:spPr>
          <a:xfrm rot="5400000">
            <a:off x="3886994" y="3199606"/>
            <a:ext cx="1371600" cy="1588"/>
          </a:xfrm>
          <a:prstGeom prst="line">
            <a:avLst/>
          </a:prstGeom>
        </p:spPr>
        <p:style>
          <a:lnRef idx="2">
            <a:schemeClr val="dk1"/>
          </a:lnRef>
          <a:fillRef idx="0">
            <a:schemeClr val="dk1"/>
          </a:fillRef>
          <a:effectRef idx="1">
            <a:schemeClr val="dk1"/>
          </a:effectRef>
          <a:fontRef idx="minor">
            <a:schemeClr val="tx1"/>
          </a:fontRef>
        </p:style>
      </p:cxnSp>
      <p:cxnSp>
        <p:nvCxnSpPr>
          <p:cNvPr id="12" name="Straight Connector 11"/>
          <p:cNvCxnSpPr/>
          <p:nvPr/>
        </p:nvCxnSpPr>
        <p:spPr>
          <a:xfrm rot="5400000">
            <a:off x="6630194" y="3199606"/>
            <a:ext cx="1371600" cy="1588"/>
          </a:xfrm>
          <a:prstGeom prst="line">
            <a:avLst/>
          </a:prstGeom>
        </p:spPr>
        <p:style>
          <a:lnRef idx="2">
            <a:schemeClr val="dk1"/>
          </a:lnRef>
          <a:fillRef idx="0">
            <a:schemeClr val="dk1"/>
          </a:fillRef>
          <a:effectRef idx="1">
            <a:schemeClr val="dk1"/>
          </a:effectRef>
          <a:fontRef idx="minor">
            <a:schemeClr val="tx1"/>
          </a:fontRef>
        </p:style>
      </p:cxnSp>
      <p:sp>
        <p:nvSpPr>
          <p:cNvPr id="24585" name="TextBox 28"/>
          <p:cNvSpPr txBox="1">
            <a:spLocks noChangeArrowheads="1"/>
          </p:cNvSpPr>
          <p:nvPr/>
        </p:nvSpPr>
        <p:spPr bwMode="auto">
          <a:xfrm>
            <a:off x="1219200" y="2057400"/>
            <a:ext cx="1295400" cy="457200"/>
          </a:xfrm>
          <a:prstGeom prst="rect">
            <a:avLst/>
          </a:prstGeom>
          <a:noFill/>
          <a:ln w="9525">
            <a:noFill/>
            <a:miter lim="800000"/>
          </a:ln>
        </p:spPr>
        <p:txBody>
          <a:bodyPr>
            <a:spAutoFit/>
          </a:bodyPr>
          <a:lstStyle/>
          <a:p>
            <a:r>
              <a:rPr lang="en-US" sz="2400" b="1"/>
              <a:t>Assets</a:t>
            </a:r>
          </a:p>
        </p:txBody>
      </p:sp>
      <p:sp>
        <p:nvSpPr>
          <p:cNvPr id="24586" name="TextBox 29"/>
          <p:cNvSpPr txBox="1">
            <a:spLocks noChangeArrowheads="1"/>
          </p:cNvSpPr>
          <p:nvPr/>
        </p:nvSpPr>
        <p:spPr bwMode="auto">
          <a:xfrm>
            <a:off x="3733800" y="2057400"/>
            <a:ext cx="1600200" cy="457200"/>
          </a:xfrm>
          <a:prstGeom prst="rect">
            <a:avLst/>
          </a:prstGeom>
          <a:noFill/>
          <a:ln w="9525">
            <a:noFill/>
            <a:miter lim="800000"/>
          </a:ln>
        </p:spPr>
        <p:txBody>
          <a:bodyPr>
            <a:spAutoFit/>
          </a:bodyPr>
          <a:lstStyle/>
          <a:p>
            <a:r>
              <a:rPr lang="en-US" sz="2400" b="1"/>
              <a:t>Liabilities</a:t>
            </a:r>
          </a:p>
        </p:txBody>
      </p:sp>
      <p:sp>
        <p:nvSpPr>
          <p:cNvPr id="24587" name="TextBox 30"/>
          <p:cNvSpPr txBox="1">
            <a:spLocks noChangeArrowheads="1"/>
          </p:cNvSpPr>
          <p:nvPr/>
        </p:nvSpPr>
        <p:spPr bwMode="auto">
          <a:xfrm>
            <a:off x="6248400" y="1676400"/>
            <a:ext cx="2362200" cy="822325"/>
          </a:xfrm>
          <a:prstGeom prst="rect">
            <a:avLst/>
          </a:prstGeom>
          <a:noFill/>
          <a:ln w="9525">
            <a:noFill/>
            <a:miter lim="800000"/>
          </a:ln>
        </p:spPr>
        <p:txBody>
          <a:bodyPr>
            <a:spAutoFit/>
          </a:bodyPr>
          <a:lstStyle/>
          <a:p>
            <a:pPr algn="ctr"/>
            <a:r>
              <a:rPr lang="en-US" sz="2400" b="1"/>
              <a:t>Shareholders’ Equity</a:t>
            </a:r>
          </a:p>
        </p:txBody>
      </p:sp>
      <p:sp>
        <p:nvSpPr>
          <p:cNvPr id="33" name="Equal 32"/>
          <p:cNvSpPr/>
          <p:nvPr/>
        </p:nvSpPr>
        <p:spPr>
          <a:xfrm>
            <a:off x="2895600" y="2057400"/>
            <a:ext cx="609600" cy="304800"/>
          </a:xfrm>
          <a:prstGeom prst="mathEqual">
            <a:avLst/>
          </a:prstGeom>
        </p:spPr>
        <p:style>
          <a:lnRef idx="1">
            <a:schemeClr val="dk1"/>
          </a:lnRef>
          <a:fillRef idx="2">
            <a:schemeClr val="dk1"/>
          </a:fillRef>
          <a:effectRef idx="1">
            <a:schemeClr val="dk1"/>
          </a:effectRef>
          <a:fontRef idx="minor">
            <a:schemeClr val="dk1"/>
          </a:fontRef>
        </p:style>
        <p:txBody>
          <a:bodyPr anchor="ctr"/>
          <a:lstStyle/>
          <a:p>
            <a:pPr algn="ctr">
              <a:defRPr/>
            </a:pPr>
            <a:endParaRPr lang="en-US">
              <a:solidFill>
                <a:schemeClr val="tx1"/>
              </a:solidFill>
              <a:cs typeface="Arial" panose="020B0604020202020204" pitchFamily="34" charset="0"/>
            </a:endParaRPr>
          </a:p>
        </p:txBody>
      </p:sp>
      <p:sp>
        <p:nvSpPr>
          <p:cNvPr id="35" name="Plus 34"/>
          <p:cNvSpPr/>
          <p:nvPr/>
        </p:nvSpPr>
        <p:spPr>
          <a:xfrm>
            <a:off x="5715000" y="1905000"/>
            <a:ext cx="609600" cy="533400"/>
          </a:xfrm>
          <a:prstGeom prst="mathPlus">
            <a:avLst/>
          </a:prstGeom>
        </p:spPr>
        <p:style>
          <a:lnRef idx="1">
            <a:schemeClr val="dk1"/>
          </a:lnRef>
          <a:fillRef idx="2">
            <a:schemeClr val="dk1"/>
          </a:fillRef>
          <a:effectRef idx="1">
            <a:schemeClr val="dk1"/>
          </a:effectRef>
          <a:fontRef idx="minor">
            <a:schemeClr val="dk1"/>
          </a:fontRef>
        </p:style>
        <p:txBody>
          <a:bodyPr anchor="ctr"/>
          <a:lstStyle/>
          <a:p>
            <a:pPr algn="ctr">
              <a:defRPr/>
            </a:pPr>
            <a:endParaRPr lang="en-US">
              <a:solidFill>
                <a:srgbClr val="000000"/>
              </a:solidFill>
              <a:cs typeface="Arial" panose="020B0604020202020204" pitchFamily="34" charset="0"/>
            </a:endParaRPr>
          </a:p>
        </p:txBody>
      </p:sp>
      <p:grpSp>
        <p:nvGrpSpPr>
          <p:cNvPr id="4" name="组合 3"/>
          <p:cNvGrpSpPr/>
          <p:nvPr/>
        </p:nvGrpSpPr>
        <p:grpSpPr>
          <a:xfrm>
            <a:off x="789215" y="2881744"/>
            <a:ext cx="1143000" cy="2117566"/>
            <a:chOff x="789215" y="2881744"/>
            <a:chExt cx="1143000" cy="2117566"/>
          </a:xfrm>
        </p:grpSpPr>
        <p:sp>
          <p:nvSpPr>
            <p:cNvPr id="36" name="Up Arrow 35"/>
            <p:cNvSpPr/>
            <p:nvPr/>
          </p:nvSpPr>
          <p:spPr>
            <a:xfrm>
              <a:off x="1066799" y="2881744"/>
              <a:ext cx="533400" cy="762000"/>
            </a:xfrm>
            <a:prstGeom prst="upArrow">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cs typeface="Arial" panose="020B0604020202020204" pitchFamily="34" charset="0"/>
              </a:endParaRPr>
            </a:p>
          </p:txBody>
        </p:sp>
        <p:sp>
          <p:nvSpPr>
            <p:cNvPr id="24600" name="TextBox 42"/>
            <p:cNvSpPr txBox="1">
              <a:spLocks noChangeArrowheads="1"/>
            </p:cNvSpPr>
            <p:nvPr/>
          </p:nvSpPr>
          <p:spPr bwMode="auto">
            <a:xfrm>
              <a:off x="789215" y="4167641"/>
              <a:ext cx="1143000" cy="457200"/>
            </a:xfrm>
            <a:prstGeom prst="rect">
              <a:avLst/>
            </a:prstGeom>
            <a:noFill/>
            <a:ln w="9525">
              <a:noFill/>
              <a:miter lim="800000"/>
            </a:ln>
          </p:spPr>
          <p:txBody>
            <a:bodyPr>
              <a:spAutoFit/>
            </a:bodyPr>
            <a:lstStyle/>
            <a:p>
              <a:r>
                <a:rPr lang="en-US" sz="2400" b="1" dirty="0"/>
                <a:t>Debit</a:t>
              </a:r>
            </a:p>
          </p:txBody>
        </p:sp>
        <p:sp>
          <p:nvSpPr>
            <p:cNvPr id="49" name="Plus 48"/>
            <p:cNvSpPr/>
            <p:nvPr/>
          </p:nvSpPr>
          <p:spPr>
            <a:xfrm>
              <a:off x="1140823" y="4618310"/>
              <a:ext cx="381000" cy="381000"/>
            </a:xfrm>
            <a:prstGeom prst="mathPlus">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dirty="0"/>
            </a:p>
          </p:txBody>
        </p:sp>
      </p:grpSp>
      <p:grpSp>
        <p:nvGrpSpPr>
          <p:cNvPr id="3" name="组合 2"/>
          <p:cNvGrpSpPr/>
          <p:nvPr/>
        </p:nvGrpSpPr>
        <p:grpSpPr>
          <a:xfrm>
            <a:off x="4724400" y="2881744"/>
            <a:ext cx="4038600" cy="2133600"/>
            <a:chOff x="4724400" y="2743200"/>
            <a:chExt cx="4038600" cy="2133600"/>
          </a:xfrm>
        </p:grpSpPr>
        <p:sp>
          <p:nvSpPr>
            <p:cNvPr id="40" name="Up Arrow 39"/>
            <p:cNvSpPr/>
            <p:nvPr/>
          </p:nvSpPr>
          <p:spPr>
            <a:xfrm>
              <a:off x="7696200" y="2743200"/>
              <a:ext cx="533400" cy="762000"/>
            </a:xfrm>
            <a:prstGeom prst="upArrow">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cs typeface="Arial" panose="020B0604020202020204" pitchFamily="34" charset="0"/>
              </a:endParaRPr>
            </a:p>
          </p:txBody>
        </p:sp>
        <p:sp>
          <p:nvSpPr>
            <p:cNvPr id="41" name="Up Arrow 40"/>
            <p:cNvSpPr/>
            <p:nvPr/>
          </p:nvSpPr>
          <p:spPr>
            <a:xfrm>
              <a:off x="4953000" y="2743200"/>
              <a:ext cx="533400" cy="762000"/>
            </a:xfrm>
            <a:prstGeom prst="upArrow">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cs typeface="Arial" panose="020B0604020202020204" pitchFamily="34" charset="0"/>
              </a:endParaRPr>
            </a:p>
          </p:txBody>
        </p:sp>
        <p:sp>
          <p:nvSpPr>
            <p:cNvPr id="24604" name="TextBox 46"/>
            <p:cNvSpPr txBox="1">
              <a:spLocks noChangeArrowheads="1"/>
            </p:cNvSpPr>
            <p:nvPr/>
          </p:nvSpPr>
          <p:spPr bwMode="auto">
            <a:xfrm>
              <a:off x="4724400" y="4114800"/>
              <a:ext cx="1143000" cy="457200"/>
            </a:xfrm>
            <a:prstGeom prst="rect">
              <a:avLst/>
            </a:prstGeom>
            <a:noFill/>
            <a:ln w="9525">
              <a:noFill/>
              <a:miter lim="800000"/>
            </a:ln>
          </p:spPr>
          <p:txBody>
            <a:bodyPr>
              <a:spAutoFit/>
            </a:bodyPr>
            <a:lstStyle/>
            <a:p>
              <a:r>
                <a:rPr lang="en-US" sz="2400" b="1" dirty="0"/>
                <a:t>Credit</a:t>
              </a:r>
            </a:p>
          </p:txBody>
        </p:sp>
        <p:sp>
          <p:nvSpPr>
            <p:cNvPr id="24605" name="TextBox 47"/>
            <p:cNvSpPr txBox="1">
              <a:spLocks noChangeArrowheads="1"/>
            </p:cNvSpPr>
            <p:nvPr/>
          </p:nvSpPr>
          <p:spPr bwMode="auto">
            <a:xfrm>
              <a:off x="7620000" y="4114800"/>
              <a:ext cx="1143000" cy="457200"/>
            </a:xfrm>
            <a:prstGeom prst="rect">
              <a:avLst/>
            </a:prstGeom>
            <a:noFill/>
            <a:ln w="9525">
              <a:noFill/>
              <a:miter lim="800000"/>
            </a:ln>
          </p:spPr>
          <p:txBody>
            <a:bodyPr>
              <a:spAutoFit/>
            </a:bodyPr>
            <a:lstStyle/>
            <a:p>
              <a:r>
                <a:rPr lang="en-US" sz="2400" b="1"/>
                <a:t>Credit</a:t>
              </a:r>
            </a:p>
          </p:txBody>
        </p:sp>
        <p:sp>
          <p:nvSpPr>
            <p:cNvPr id="50" name="Plus 49"/>
            <p:cNvSpPr/>
            <p:nvPr/>
          </p:nvSpPr>
          <p:spPr>
            <a:xfrm>
              <a:off x="5105400" y="4495800"/>
              <a:ext cx="381000" cy="381000"/>
            </a:xfrm>
            <a:prstGeom prst="mathPlus">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dirty="0"/>
            </a:p>
          </p:txBody>
        </p:sp>
        <p:sp>
          <p:nvSpPr>
            <p:cNvPr id="51" name="Plus 50"/>
            <p:cNvSpPr/>
            <p:nvPr/>
          </p:nvSpPr>
          <p:spPr>
            <a:xfrm>
              <a:off x="7924800" y="4495800"/>
              <a:ext cx="381000" cy="381000"/>
            </a:xfrm>
            <a:prstGeom prst="mathPlus">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dirty="0"/>
            </a:p>
          </p:txBody>
        </p:sp>
      </p:grpSp>
      <p:grpSp>
        <p:nvGrpSpPr>
          <p:cNvPr id="2" name="组合 1"/>
          <p:cNvGrpSpPr/>
          <p:nvPr/>
        </p:nvGrpSpPr>
        <p:grpSpPr>
          <a:xfrm>
            <a:off x="1946366" y="2911475"/>
            <a:ext cx="5486400" cy="1981200"/>
            <a:chOff x="1905000" y="2819400"/>
            <a:chExt cx="5486400" cy="1981200"/>
          </a:xfrm>
        </p:grpSpPr>
        <p:sp>
          <p:nvSpPr>
            <p:cNvPr id="37" name="Up Arrow 36"/>
            <p:cNvSpPr/>
            <p:nvPr/>
          </p:nvSpPr>
          <p:spPr>
            <a:xfrm rot="10800000">
              <a:off x="6477000" y="2819400"/>
              <a:ext cx="533400" cy="762000"/>
            </a:xfrm>
            <a:prstGeom prst="up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cs typeface="Arial" panose="020B0604020202020204" pitchFamily="34" charset="0"/>
              </a:endParaRPr>
            </a:p>
          </p:txBody>
        </p:sp>
        <p:sp>
          <p:nvSpPr>
            <p:cNvPr id="38" name="Up Arrow 37"/>
            <p:cNvSpPr/>
            <p:nvPr/>
          </p:nvSpPr>
          <p:spPr>
            <a:xfrm rot="10800000">
              <a:off x="3886200" y="2819400"/>
              <a:ext cx="533400" cy="762000"/>
            </a:xfrm>
            <a:prstGeom prst="up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cs typeface="Arial" panose="020B0604020202020204" pitchFamily="34" charset="0"/>
              </a:endParaRPr>
            </a:p>
          </p:txBody>
        </p:sp>
        <p:sp>
          <p:nvSpPr>
            <p:cNvPr id="39" name="Up Arrow 38"/>
            <p:cNvSpPr/>
            <p:nvPr/>
          </p:nvSpPr>
          <p:spPr>
            <a:xfrm rot="10800000">
              <a:off x="2057400" y="2819400"/>
              <a:ext cx="533400" cy="762000"/>
            </a:xfrm>
            <a:prstGeom prst="up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cs typeface="Arial" panose="020B0604020202020204" pitchFamily="34" charset="0"/>
              </a:endParaRPr>
            </a:p>
          </p:txBody>
        </p:sp>
        <p:sp>
          <p:nvSpPr>
            <p:cNvPr id="24601" name="TextBox 43"/>
            <p:cNvSpPr txBox="1">
              <a:spLocks noChangeArrowheads="1"/>
            </p:cNvSpPr>
            <p:nvPr/>
          </p:nvSpPr>
          <p:spPr bwMode="auto">
            <a:xfrm>
              <a:off x="3429000" y="4114800"/>
              <a:ext cx="1143000" cy="457200"/>
            </a:xfrm>
            <a:prstGeom prst="rect">
              <a:avLst/>
            </a:prstGeom>
            <a:noFill/>
            <a:ln w="9525">
              <a:noFill/>
              <a:miter lim="800000"/>
            </a:ln>
          </p:spPr>
          <p:txBody>
            <a:bodyPr>
              <a:spAutoFit/>
            </a:bodyPr>
            <a:lstStyle/>
            <a:p>
              <a:r>
                <a:rPr lang="en-US" sz="2400" b="1"/>
                <a:t>Debit</a:t>
              </a:r>
            </a:p>
          </p:txBody>
        </p:sp>
        <p:sp>
          <p:nvSpPr>
            <p:cNvPr id="24602" name="TextBox 44"/>
            <p:cNvSpPr txBox="1">
              <a:spLocks noChangeArrowheads="1"/>
            </p:cNvSpPr>
            <p:nvPr/>
          </p:nvSpPr>
          <p:spPr bwMode="auto">
            <a:xfrm>
              <a:off x="6248400" y="4114800"/>
              <a:ext cx="1143000" cy="457200"/>
            </a:xfrm>
            <a:prstGeom prst="rect">
              <a:avLst/>
            </a:prstGeom>
            <a:noFill/>
            <a:ln w="9525">
              <a:noFill/>
              <a:miter lim="800000"/>
            </a:ln>
          </p:spPr>
          <p:txBody>
            <a:bodyPr>
              <a:spAutoFit/>
            </a:bodyPr>
            <a:lstStyle/>
            <a:p>
              <a:r>
                <a:rPr lang="en-US" sz="2400" b="1"/>
                <a:t>Debit</a:t>
              </a:r>
            </a:p>
          </p:txBody>
        </p:sp>
        <p:sp>
          <p:nvSpPr>
            <p:cNvPr id="24603" name="TextBox 45"/>
            <p:cNvSpPr txBox="1">
              <a:spLocks noChangeArrowheads="1"/>
            </p:cNvSpPr>
            <p:nvPr/>
          </p:nvSpPr>
          <p:spPr bwMode="auto">
            <a:xfrm>
              <a:off x="1905000" y="4114800"/>
              <a:ext cx="1143000" cy="457200"/>
            </a:xfrm>
            <a:prstGeom prst="rect">
              <a:avLst/>
            </a:prstGeom>
            <a:noFill/>
            <a:ln w="9525">
              <a:noFill/>
              <a:miter lim="800000"/>
            </a:ln>
          </p:spPr>
          <p:txBody>
            <a:bodyPr>
              <a:spAutoFit/>
            </a:bodyPr>
            <a:lstStyle/>
            <a:p>
              <a:r>
                <a:rPr lang="en-US" sz="2400" b="1" dirty="0"/>
                <a:t>Credit</a:t>
              </a:r>
            </a:p>
          </p:txBody>
        </p:sp>
        <p:sp>
          <p:nvSpPr>
            <p:cNvPr id="52" name="Minus 51"/>
            <p:cNvSpPr/>
            <p:nvPr/>
          </p:nvSpPr>
          <p:spPr>
            <a:xfrm>
              <a:off x="2209800" y="4648200"/>
              <a:ext cx="457200" cy="152400"/>
            </a:xfrm>
            <a:prstGeom prst="mathMinus">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dirty="0"/>
            </a:p>
          </p:txBody>
        </p:sp>
        <p:sp>
          <p:nvSpPr>
            <p:cNvPr id="53" name="Minus 52"/>
            <p:cNvSpPr/>
            <p:nvPr/>
          </p:nvSpPr>
          <p:spPr>
            <a:xfrm>
              <a:off x="6629400" y="4648200"/>
              <a:ext cx="457200" cy="152400"/>
            </a:xfrm>
            <a:prstGeom prst="mathMinus">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dirty="0"/>
            </a:p>
          </p:txBody>
        </p:sp>
        <p:sp>
          <p:nvSpPr>
            <p:cNvPr id="54" name="Minus 53"/>
            <p:cNvSpPr/>
            <p:nvPr/>
          </p:nvSpPr>
          <p:spPr>
            <a:xfrm>
              <a:off x="3657600" y="4648200"/>
              <a:ext cx="457200" cy="152400"/>
            </a:xfrm>
            <a:prstGeom prst="mathMinus">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dirty="0"/>
            </a:p>
          </p:txBody>
        </p:sp>
      </p:grpSp>
      <p:sp>
        <p:nvSpPr>
          <p:cNvPr id="24612" name="Footer Placeholder 4"/>
          <p:cNvSpPr txBox="1"/>
          <p:nvPr/>
        </p:nvSpPr>
        <p:spPr bwMode="auto">
          <a:xfrm>
            <a:off x="2438400" y="6553200"/>
            <a:ext cx="4343400" cy="304800"/>
          </a:xfrm>
          <a:prstGeom prst="rect">
            <a:avLst/>
          </a:prstGeom>
          <a:noFill/>
          <a:ln w="9525">
            <a:noFill/>
            <a:miter lim="800000"/>
          </a:ln>
        </p:spPr>
        <p:txBody>
          <a:bodyPr anchor="b"/>
          <a:lstStyle/>
          <a:p>
            <a:pPr algn="r"/>
            <a:r>
              <a:rPr lang="en-US" sz="1000">
                <a:solidFill>
                  <a:schemeClr val="accent2"/>
                </a:solidFill>
              </a:rPr>
              <a:t>Copyright ©2014 Pearson Education</a:t>
            </a:r>
          </a:p>
        </p:txBody>
      </p:sp>
      <p:sp>
        <p:nvSpPr>
          <p:cNvPr id="24613" name="Slide Number Placeholder 5"/>
          <p:cNvSpPr>
            <a:spLocks noGrp="1"/>
          </p:cNvSpPr>
          <p:nvPr>
            <p:ph type="sldNum" sz="quarter" idx="11"/>
          </p:nvPr>
        </p:nvSpPr>
        <p:spPr bwMode="auto">
          <a:xfrm>
            <a:off x="8382000" y="6491288"/>
            <a:ext cx="762000" cy="366712"/>
          </a:xfrm>
          <a:noFill/>
          <a:ln>
            <a:miter lim="800000"/>
          </a:ln>
        </p:spPr>
        <p:txBody>
          <a:bodyPr/>
          <a:lstStyle/>
          <a:p>
            <a:fld id="{73C2BD64-FF62-42E8-A64D-6827EE448293}" type="slidenum">
              <a:rPr lang="en-US" sz="1000" smtClean="0">
                <a:solidFill>
                  <a:schemeClr val="accent2"/>
                </a:solidFill>
                <a:latin typeface="Arial" panose="020B0604020202020204" pitchFamily="34" charset="0"/>
                <a:cs typeface="Arial" panose="020B0604020202020204" pitchFamily="34" charset="0"/>
              </a:rPr>
              <a:t>27</a:t>
            </a:fld>
            <a:endParaRPr lang="en-US" sz="1000" smtClean="0">
              <a:solidFill>
                <a:schemeClr val="accent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87108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smtClean="0">
                <a:latin typeface="+mj-lt"/>
              </a:rPr>
              <a:t>Expansion </a:t>
            </a:r>
            <a:r>
              <a:rPr lang="en-US" sz="3600" dirty="0">
                <a:latin typeface="+mj-lt"/>
              </a:rPr>
              <a:t>of the Accounting Equation</a:t>
            </a:r>
          </a:p>
        </p:txBody>
      </p:sp>
      <p:pic>
        <p:nvPicPr>
          <p:cNvPr id="8" name="Content Placeholder 7" descr="A picture containing text, screenshot, diagram, font&#10;&#10;Description automatically generated">
            <a:extLst>
              <a:ext uri="{FF2B5EF4-FFF2-40B4-BE49-F238E27FC236}">
                <a16:creationId xmlns:a16="http://schemas.microsoft.com/office/drawing/2014/main" id="{B37BC93E-A836-DFD6-58B4-BA82D31B5BF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28674" y="1629628"/>
            <a:ext cx="8086726" cy="4350176"/>
          </a:xfrm>
        </p:spPr>
      </p:pic>
    </p:spTree>
    <p:extLst>
      <p:ext uri="{BB962C8B-B14F-4D97-AF65-F5344CB8AC3E}">
        <p14:creationId xmlns:p14="http://schemas.microsoft.com/office/powerpoint/2010/main" val="8520266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381000" y="173677"/>
            <a:ext cx="8229600" cy="914400"/>
          </a:xfrm>
        </p:spPr>
        <p:txBody>
          <a:bodyPr/>
          <a:lstStyle/>
          <a:p>
            <a:pPr eaLnBrk="1" hangingPunct="1"/>
            <a:r>
              <a:rPr lang="en-US" dirty="0" smtClean="0"/>
              <a:t>Rules of Debit and Credit</a:t>
            </a:r>
          </a:p>
        </p:txBody>
      </p:sp>
      <p:cxnSp>
        <p:nvCxnSpPr>
          <p:cNvPr id="6" name="Straight Connector 5"/>
          <p:cNvCxnSpPr/>
          <p:nvPr/>
        </p:nvCxnSpPr>
        <p:spPr>
          <a:xfrm>
            <a:off x="228600" y="2133600"/>
            <a:ext cx="1447800" cy="1588"/>
          </a:xfrm>
          <a:prstGeom prst="line">
            <a:avLst/>
          </a:prstGeom>
        </p:spPr>
        <p:style>
          <a:lnRef idx="2">
            <a:schemeClr val="dk1"/>
          </a:lnRef>
          <a:fillRef idx="0">
            <a:schemeClr val="dk1"/>
          </a:fillRef>
          <a:effectRef idx="1">
            <a:schemeClr val="dk1"/>
          </a:effectRef>
          <a:fontRef idx="minor">
            <a:schemeClr val="tx1"/>
          </a:fontRef>
        </p:style>
      </p:cxnSp>
      <p:cxnSp>
        <p:nvCxnSpPr>
          <p:cNvPr id="8" name="Straight Connector 7"/>
          <p:cNvCxnSpPr/>
          <p:nvPr/>
        </p:nvCxnSpPr>
        <p:spPr>
          <a:xfrm>
            <a:off x="4343400" y="2133600"/>
            <a:ext cx="1752600" cy="1588"/>
          </a:xfrm>
          <a:prstGeom prst="line">
            <a:avLst/>
          </a:prstGeom>
        </p:spPr>
        <p:style>
          <a:lnRef idx="2">
            <a:schemeClr val="dk1"/>
          </a:lnRef>
          <a:fillRef idx="0">
            <a:schemeClr val="dk1"/>
          </a:fillRef>
          <a:effectRef idx="1">
            <a:schemeClr val="dk1"/>
          </a:effectRef>
          <a:fontRef idx="minor">
            <a:schemeClr val="tx1"/>
          </a:fontRef>
        </p:style>
      </p:cxnSp>
      <p:cxnSp>
        <p:nvCxnSpPr>
          <p:cNvPr id="9" name="Straight Connector 8"/>
          <p:cNvCxnSpPr/>
          <p:nvPr/>
        </p:nvCxnSpPr>
        <p:spPr>
          <a:xfrm>
            <a:off x="6477000" y="2133600"/>
            <a:ext cx="2286000" cy="1588"/>
          </a:xfrm>
          <a:prstGeom prst="line">
            <a:avLst/>
          </a:prstGeom>
        </p:spPr>
        <p:style>
          <a:lnRef idx="2">
            <a:schemeClr val="dk1"/>
          </a:lnRef>
          <a:fillRef idx="0">
            <a:schemeClr val="dk1"/>
          </a:fillRef>
          <a:effectRef idx="1">
            <a:schemeClr val="dk1"/>
          </a:effectRef>
          <a:fontRef idx="minor">
            <a:schemeClr val="tx1"/>
          </a:fontRef>
        </p:style>
      </p:cxnSp>
      <p:cxnSp>
        <p:nvCxnSpPr>
          <p:cNvPr id="10" name="Straight Connector 9"/>
          <p:cNvCxnSpPr/>
          <p:nvPr/>
        </p:nvCxnSpPr>
        <p:spPr>
          <a:xfrm rot="5400000">
            <a:off x="457994" y="2666206"/>
            <a:ext cx="914400" cy="1588"/>
          </a:xfrm>
          <a:prstGeom prst="line">
            <a:avLst/>
          </a:prstGeom>
        </p:spPr>
        <p:style>
          <a:lnRef idx="2">
            <a:schemeClr val="dk1"/>
          </a:lnRef>
          <a:fillRef idx="0">
            <a:schemeClr val="dk1"/>
          </a:fillRef>
          <a:effectRef idx="1">
            <a:schemeClr val="dk1"/>
          </a:effectRef>
          <a:fontRef idx="minor">
            <a:schemeClr val="tx1"/>
          </a:fontRef>
        </p:style>
      </p:cxnSp>
      <p:cxnSp>
        <p:nvCxnSpPr>
          <p:cNvPr id="11" name="Straight Connector 10"/>
          <p:cNvCxnSpPr/>
          <p:nvPr/>
        </p:nvCxnSpPr>
        <p:spPr>
          <a:xfrm rot="5400000">
            <a:off x="4648994" y="2666206"/>
            <a:ext cx="1066800" cy="1588"/>
          </a:xfrm>
          <a:prstGeom prst="line">
            <a:avLst/>
          </a:prstGeom>
        </p:spPr>
        <p:style>
          <a:lnRef idx="2">
            <a:schemeClr val="dk1"/>
          </a:lnRef>
          <a:fillRef idx="0">
            <a:schemeClr val="dk1"/>
          </a:fillRef>
          <a:effectRef idx="1">
            <a:schemeClr val="dk1"/>
          </a:effectRef>
          <a:fontRef idx="minor">
            <a:schemeClr val="tx1"/>
          </a:fontRef>
        </p:style>
      </p:cxnSp>
      <p:cxnSp>
        <p:nvCxnSpPr>
          <p:cNvPr id="12" name="Straight Connector 11"/>
          <p:cNvCxnSpPr/>
          <p:nvPr/>
        </p:nvCxnSpPr>
        <p:spPr>
          <a:xfrm rot="5400000">
            <a:off x="7011194" y="2742406"/>
            <a:ext cx="1219200" cy="1588"/>
          </a:xfrm>
          <a:prstGeom prst="line">
            <a:avLst/>
          </a:prstGeom>
        </p:spPr>
        <p:style>
          <a:lnRef idx="2">
            <a:schemeClr val="dk1"/>
          </a:lnRef>
          <a:fillRef idx="0">
            <a:schemeClr val="dk1"/>
          </a:fillRef>
          <a:effectRef idx="1">
            <a:schemeClr val="dk1"/>
          </a:effectRef>
          <a:fontRef idx="minor">
            <a:schemeClr val="tx1"/>
          </a:fontRef>
        </p:style>
      </p:cxnSp>
      <p:sp>
        <p:nvSpPr>
          <p:cNvPr id="26633" name="TextBox 28"/>
          <p:cNvSpPr txBox="1">
            <a:spLocks noChangeArrowheads="1"/>
          </p:cNvSpPr>
          <p:nvPr/>
        </p:nvSpPr>
        <p:spPr bwMode="auto">
          <a:xfrm>
            <a:off x="304800" y="1752600"/>
            <a:ext cx="1295400" cy="396875"/>
          </a:xfrm>
          <a:prstGeom prst="rect">
            <a:avLst/>
          </a:prstGeom>
          <a:noFill/>
          <a:ln w="9525">
            <a:noFill/>
            <a:miter lim="800000"/>
          </a:ln>
        </p:spPr>
        <p:txBody>
          <a:bodyPr>
            <a:spAutoFit/>
          </a:bodyPr>
          <a:lstStyle/>
          <a:p>
            <a:r>
              <a:rPr lang="en-US" sz="2000" b="1"/>
              <a:t>Assets</a:t>
            </a:r>
          </a:p>
        </p:txBody>
      </p:sp>
      <p:sp>
        <p:nvSpPr>
          <p:cNvPr id="26634" name="TextBox 29"/>
          <p:cNvSpPr txBox="1">
            <a:spLocks noChangeArrowheads="1"/>
          </p:cNvSpPr>
          <p:nvPr/>
        </p:nvSpPr>
        <p:spPr bwMode="auto">
          <a:xfrm>
            <a:off x="2057400" y="1752600"/>
            <a:ext cx="1600200" cy="396875"/>
          </a:xfrm>
          <a:prstGeom prst="rect">
            <a:avLst/>
          </a:prstGeom>
          <a:noFill/>
          <a:ln w="9525">
            <a:noFill/>
            <a:miter lim="800000"/>
          </a:ln>
        </p:spPr>
        <p:txBody>
          <a:bodyPr>
            <a:spAutoFit/>
          </a:bodyPr>
          <a:lstStyle/>
          <a:p>
            <a:r>
              <a:rPr lang="en-US" sz="2000" b="1"/>
              <a:t>Liabilities</a:t>
            </a:r>
          </a:p>
        </p:txBody>
      </p:sp>
      <p:sp>
        <p:nvSpPr>
          <p:cNvPr id="26635" name="TextBox 30"/>
          <p:cNvSpPr txBox="1">
            <a:spLocks noChangeArrowheads="1"/>
          </p:cNvSpPr>
          <p:nvPr/>
        </p:nvSpPr>
        <p:spPr bwMode="auto">
          <a:xfrm>
            <a:off x="4495800" y="1295400"/>
            <a:ext cx="3657600" cy="457200"/>
          </a:xfrm>
          <a:prstGeom prst="rect">
            <a:avLst/>
          </a:prstGeom>
          <a:noFill/>
          <a:ln w="9525">
            <a:noFill/>
            <a:miter lim="800000"/>
          </a:ln>
        </p:spPr>
        <p:txBody>
          <a:bodyPr>
            <a:spAutoFit/>
          </a:bodyPr>
          <a:lstStyle/>
          <a:p>
            <a:pPr algn="ctr"/>
            <a:r>
              <a:rPr lang="en-US" sz="2400" b="1"/>
              <a:t>Shareholders’ Equity</a:t>
            </a:r>
          </a:p>
        </p:txBody>
      </p:sp>
      <p:sp>
        <p:nvSpPr>
          <p:cNvPr id="33" name="Equal 32"/>
          <p:cNvSpPr/>
          <p:nvPr/>
        </p:nvSpPr>
        <p:spPr>
          <a:xfrm>
            <a:off x="1524000" y="1905000"/>
            <a:ext cx="381000" cy="152400"/>
          </a:xfrm>
          <a:prstGeom prst="mathEqual">
            <a:avLst/>
          </a:prstGeom>
        </p:spPr>
        <p:style>
          <a:lnRef idx="1">
            <a:schemeClr val="dk1"/>
          </a:lnRef>
          <a:fillRef idx="2">
            <a:schemeClr val="dk1"/>
          </a:fillRef>
          <a:effectRef idx="1">
            <a:schemeClr val="dk1"/>
          </a:effectRef>
          <a:fontRef idx="minor">
            <a:schemeClr val="dk1"/>
          </a:fontRef>
        </p:style>
        <p:txBody>
          <a:bodyPr anchor="ctr"/>
          <a:lstStyle/>
          <a:p>
            <a:pPr algn="ctr">
              <a:defRPr/>
            </a:pPr>
            <a:endParaRPr lang="en-US">
              <a:solidFill>
                <a:schemeClr val="tx1"/>
              </a:solidFill>
              <a:cs typeface="Arial" panose="020B0604020202020204" pitchFamily="34" charset="0"/>
            </a:endParaRPr>
          </a:p>
        </p:txBody>
      </p:sp>
      <p:sp>
        <p:nvSpPr>
          <p:cNvPr id="26639" name="TextBox 42"/>
          <p:cNvSpPr txBox="1">
            <a:spLocks noChangeArrowheads="1"/>
          </p:cNvSpPr>
          <p:nvPr/>
        </p:nvSpPr>
        <p:spPr bwMode="auto">
          <a:xfrm>
            <a:off x="76200" y="2667000"/>
            <a:ext cx="914400" cy="396875"/>
          </a:xfrm>
          <a:prstGeom prst="rect">
            <a:avLst/>
          </a:prstGeom>
          <a:noFill/>
          <a:ln w="9525">
            <a:noFill/>
            <a:miter lim="800000"/>
          </a:ln>
        </p:spPr>
        <p:txBody>
          <a:bodyPr>
            <a:spAutoFit/>
          </a:bodyPr>
          <a:lstStyle/>
          <a:p>
            <a:r>
              <a:rPr lang="en-US" sz="2000"/>
              <a:t>Debit</a:t>
            </a:r>
          </a:p>
        </p:txBody>
      </p:sp>
      <p:sp>
        <p:nvSpPr>
          <p:cNvPr id="50" name="Plus 49"/>
          <p:cNvSpPr/>
          <p:nvPr/>
        </p:nvSpPr>
        <p:spPr>
          <a:xfrm>
            <a:off x="3733800" y="1752600"/>
            <a:ext cx="381000" cy="381000"/>
          </a:xfrm>
          <a:prstGeom prst="mathPlus">
            <a:avLst/>
          </a:prstGeom>
        </p:spPr>
        <p:style>
          <a:lnRef idx="1">
            <a:schemeClr val="dk1"/>
          </a:lnRef>
          <a:fillRef idx="2">
            <a:schemeClr val="dk1"/>
          </a:fillRef>
          <a:effectRef idx="1">
            <a:schemeClr val="dk1"/>
          </a:effectRef>
          <a:fontRef idx="minor">
            <a:schemeClr val="dk1"/>
          </a:fontRef>
        </p:style>
        <p:txBody>
          <a:bodyPr anchor="ctr"/>
          <a:lstStyle/>
          <a:p>
            <a:pPr algn="ctr">
              <a:defRPr/>
            </a:pPr>
            <a:endParaRPr lang="en-US">
              <a:solidFill>
                <a:srgbClr val="000000"/>
              </a:solidFill>
              <a:cs typeface="Arial" panose="020B0604020202020204" pitchFamily="34" charset="0"/>
            </a:endParaRPr>
          </a:p>
        </p:txBody>
      </p:sp>
      <p:cxnSp>
        <p:nvCxnSpPr>
          <p:cNvPr id="57" name="Straight Connector 56"/>
          <p:cNvCxnSpPr/>
          <p:nvPr/>
        </p:nvCxnSpPr>
        <p:spPr>
          <a:xfrm>
            <a:off x="1981200" y="2133600"/>
            <a:ext cx="1600200" cy="1588"/>
          </a:xfrm>
          <a:prstGeom prst="line">
            <a:avLst/>
          </a:prstGeom>
        </p:spPr>
        <p:style>
          <a:lnRef idx="2">
            <a:schemeClr val="dk1"/>
          </a:lnRef>
          <a:fillRef idx="0">
            <a:schemeClr val="dk1"/>
          </a:fillRef>
          <a:effectRef idx="1">
            <a:schemeClr val="dk1"/>
          </a:effectRef>
          <a:fontRef idx="minor">
            <a:schemeClr val="tx1"/>
          </a:fontRef>
        </p:style>
      </p:cxnSp>
      <p:cxnSp>
        <p:nvCxnSpPr>
          <p:cNvPr id="58" name="Straight Connector 57"/>
          <p:cNvCxnSpPr/>
          <p:nvPr/>
        </p:nvCxnSpPr>
        <p:spPr>
          <a:xfrm rot="5400000">
            <a:off x="2286794" y="2590006"/>
            <a:ext cx="914400" cy="1588"/>
          </a:xfrm>
          <a:prstGeom prst="line">
            <a:avLst/>
          </a:prstGeom>
        </p:spPr>
        <p:style>
          <a:lnRef idx="2">
            <a:schemeClr val="dk1"/>
          </a:lnRef>
          <a:fillRef idx="0">
            <a:schemeClr val="dk1"/>
          </a:fillRef>
          <a:effectRef idx="1">
            <a:schemeClr val="dk1"/>
          </a:effectRef>
          <a:fontRef idx="minor">
            <a:schemeClr val="tx1"/>
          </a:fontRef>
        </p:style>
      </p:cxnSp>
      <p:sp>
        <p:nvSpPr>
          <p:cNvPr id="26646" name="TextBox 60"/>
          <p:cNvSpPr txBox="1">
            <a:spLocks noChangeArrowheads="1"/>
          </p:cNvSpPr>
          <p:nvPr/>
        </p:nvSpPr>
        <p:spPr bwMode="auto">
          <a:xfrm>
            <a:off x="2743200" y="2667000"/>
            <a:ext cx="914400" cy="396875"/>
          </a:xfrm>
          <a:prstGeom prst="rect">
            <a:avLst/>
          </a:prstGeom>
          <a:noFill/>
          <a:ln w="9525">
            <a:noFill/>
            <a:miter lim="800000"/>
          </a:ln>
        </p:spPr>
        <p:txBody>
          <a:bodyPr>
            <a:spAutoFit/>
          </a:bodyPr>
          <a:lstStyle/>
          <a:p>
            <a:r>
              <a:rPr lang="en-US" sz="2000"/>
              <a:t>Credit</a:t>
            </a:r>
          </a:p>
        </p:txBody>
      </p:sp>
      <p:grpSp>
        <p:nvGrpSpPr>
          <p:cNvPr id="3" name="组合 2"/>
          <p:cNvGrpSpPr/>
          <p:nvPr/>
        </p:nvGrpSpPr>
        <p:grpSpPr>
          <a:xfrm>
            <a:off x="914400" y="2667000"/>
            <a:ext cx="1905000" cy="396240"/>
            <a:chOff x="1440" y="4200"/>
            <a:chExt cx="3000" cy="624"/>
          </a:xfrm>
        </p:grpSpPr>
        <p:sp>
          <p:nvSpPr>
            <p:cNvPr id="26643" name="TextBox 41"/>
            <p:cNvSpPr txBox="1">
              <a:spLocks noChangeArrowheads="1"/>
            </p:cNvSpPr>
            <p:nvPr/>
          </p:nvSpPr>
          <p:spPr bwMode="auto">
            <a:xfrm>
              <a:off x="1440" y="4200"/>
              <a:ext cx="1440" cy="625"/>
            </a:xfrm>
            <a:prstGeom prst="rect">
              <a:avLst/>
            </a:prstGeom>
            <a:noFill/>
            <a:ln w="9525">
              <a:noFill/>
              <a:miter lim="800000"/>
            </a:ln>
          </p:spPr>
          <p:txBody>
            <a:bodyPr>
              <a:spAutoFit/>
            </a:bodyPr>
            <a:lstStyle/>
            <a:p>
              <a:r>
                <a:rPr lang="en-US" sz="2000" dirty="0"/>
                <a:t>Credit</a:t>
              </a:r>
            </a:p>
          </p:txBody>
        </p:sp>
        <p:sp>
          <p:nvSpPr>
            <p:cNvPr id="26647" name="TextBox 61"/>
            <p:cNvSpPr txBox="1">
              <a:spLocks noChangeArrowheads="1"/>
            </p:cNvSpPr>
            <p:nvPr/>
          </p:nvSpPr>
          <p:spPr bwMode="auto">
            <a:xfrm>
              <a:off x="3000" y="4200"/>
              <a:ext cx="1440" cy="625"/>
            </a:xfrm>
            <a:prstGeom prst="rect">
              <a:avLst/>
            </a:prstGeom>
            <a:noFill/>
            <a:ln w="9525">
              <a:noFill/>
              <a:miter lim="800000"/>
            </a:ln>
          </p:spPr>
          <p:txBody>
            <a:bodyPr>
              <a:spAutoFit/>
            </a:bodyPr>
            <a:lstStyle/>
            <a:p>
              <a:r>
                <a:rPr lang="en-US" sz="2000"/>
                <a:t>Debit</a:t>
              </a:r>
            </a:p>
          </p:txBody>
        </p:sp>
      </p:grpSp>
      <p:sp>
        <p:nvSpPr>
          <p:cNvPr id="26648" name="TextBox 63"/>
          <p:cNvSpPr txBox="1">
            <a:spLocks noChangeArrowheads="1"/>
          </p:cNvSpPr>
          <p:nvPr/>
        </p:nvSpPr>
        <p:spPr bwMode="auto">
          <a:xfrm>
            <a:off x="4191000" y="1752600"/>
            <a:ext cx="2057400" cy="396875"/>
          </a:xfrm>
          <a:prstGeom prst="rect">
            <a:avLst/>
          </a:prstGeom>
          <a:noFill/>
          <a:ln w="9525">
            <a:noFill/>
            <a:miter lim="800000"/>
          </a:ln>
        </p:spPr>
        <p:txBody>
          <a:bodyPr>
            <a:spAutoFit/>
          </a:bodyPr>
          <a:lstStyle/>
          <a:p>
            <a:r>
              <a:rPr lang="en-US" sz="2000" b="1"/>
              <a:t>Share Capital</a:t>
            </a:r>
          </a:p>
        </p:txBody>
      </p:sp>
      <p:sp>
        <p:nvSpPr>
          <p:cNvPr id="26649" name="TextBox 64"/>
          <p:cNvSpPr txBox="1">
            <a:spLocks noChangeArrowheads="1"/>
          </p:cNvSpPr>
          <p:nvPr/>
        </p:nvSpPr>
        <p:spPr bwMode="auto">
          <a:xfrm>
            <a:off x="6400800" y="1752600"/>
            <a:ext cx="2438400" cy="396875"/>
          </a:xfrm>
          <a:prstGeom prst="rect">
            <a:avLst/>
          </a:prstGeom>
          <a:noFill/>
          <a:ln w="9525">
            <a:noFill/>
            <a:miter lim="800000"/>
          </a:ln>
        </p:spPr>
        <p:txBody>
          <a:bodyPr>
            <a:spAutoFit/>
          </a:bodyPr>
          <a:lstStyle/>
          <a:p>
            <a:r>
              <a:rPr lang="en-US" sz="2000" b="1"/>
              <a:t>Retained earnings</a:t>
            </a:r>
          </a:p>
        </p:txBody>
      </p:sp>
      <p:cxnSp>
        <p:nvCxnSpPr>
          <p:cNvPr id="69" name="Straight Connector 68"/>
          <p:cNvCxnSpPr/>
          <p:nvPr/>
        </p:nvCxnSpPr>
        <p:spPr>
          <a:xfrm rot="5400000">
            <a:off x="7239794" y="5561806"/>
            <a:ext cx="1066800" cy="1588"/>
          </a:xfrm>
          <a:prstGeom prst="line">
            <a:avLst/>
          </a:prstGeom>
        </p:spPr>
        <p:style>
          <a:lnRef idx="3">
            <a:schemeClr val="accent6"/>
          </a:lnRef>
          <a:fillRef idx="0">
            <a:schemeClr val="accent6"/>
          </a:fillRef>
          <a:effectRef idx="2">
            <a:schemeClr val="accent6"/>
          </a:effectRef>
          <a:fontRef idx="minor">
            <a:schemeClr val="tx1"/>
          </a:fontRef>
        </p:style>
      </p:cxnSp>
      <p:cxnSp>
        <p:nvCxnSpPr>
          <p:cNvPr id="70" name="Straight Connector 69"/>
          <p:cNvCxnSpPr/>
          <p:nvPr/>
        </p:nvCxnSpPr>
        <p:spPr>
          <a:xfrm rot="5400000">
            <a:off x="4648994" y="5561806"/>
            <a:ext cx="1066800" cy="1588"/>
          </a:xfrm>
          <a:prstGeom prst="line">
            <a:avLst/>
          </a:prstGeom>
        </p:spPr>
        <p:style>
          <a:lnRef idx="3">
            <a:schemeClr val="accent6"/>
          </a:lnRef>
          <a:fillRef idx="0">
            <a:schemeClr val="accent6"/>
          </a:fillRef>
          <a:effectRef idx="2">
            <a:schemeClr val="accent6"/>
          </a:effectRef>
          <a:fontRef idx="minor">
            <a:schemeClr val="tx1"/>
          </a:fontRef>
        </p:style>
      </p:cxnSp>
      <p:cxnSp>
        <p:nvCxnSpPr>
          <p:cNvPr id="71" name="Straight Connector 70"/>
          <p:cNvCxnSpPr/>
          <p:nvPr/>
        </p:nvCxnSpPr>
        <p:spPr>
          <a:xfrm rot="5400000">
            <a:off x="5868194" y="4037806"/>
            <a:ext cx="1066800" cy="1588"/>
          </a:xfrm>
          <a:prstGeom prst="line">
            <a:avLst/>
          </a:prstGeom>
        </p:spPr>
        <p:style>
          <a:lnRef idx="2">
            <a:schemeClr val="dk1"/>
          </a:lnRef>
          <a:fillRef idx="0">
            <a:schemeClr val="dk1"/>
          </a:fillRef>
          <a:effectRef idx="1">
            <a:schemeClr val="dk1"/>
          </a:effectRef>
          <a:fontRef idx="minor">
            <a:schemeClr val="tx1"/>
          </a:fontRef>
        </p:style>
      </p:cxnSp>
      <p:cxnSp>
        <p:nvCxnSpPr>
          <p:cNvPr id="72" name="Straight Connector 71"/>
          <p:cNvCxnSpPr/>
          <p:nvPr/>
        </p:nvCxnSpPr>
        <p:spPr>
          <a:xfrm>
            <a:off x="6781800" y="5029200"/>
            <a:ext cx="1905000" cy="1588"/>
          </a:xfrm>
          <a:prstGeom prst="line">
            <a:avLst/>
          </a:prstGeom>
        </p:spPr>
        <p:style>
          <a:lnRef idx="3">
            <a:schemeClr val="accent6"/>
          </a:lnRef>
          <a:fillRef idx="0">
            <a:schemeClr val="accent6"/>
          </a:fillRef>
          <a:effectRef idx="2">
            <a:schemeClr val="accent6"/>
          </a:effectRef>
          <a:fontRef idx="minor">
            <a:schemeClr val="tx1"/>
          </a:fontRef>
        </p:style>
      </p:cxnSp>
      <p:cxnSp>
        <p:nvCxnSpPr>
          <p:cNvPr id="73" name="Straight Connector 72"/>
          <p:cNvCxnSpPr/>
          <p:nvPr/>
        </p:nvCxnSpPr>
        <p:spPr>
          <a:xfrm>
            <a:off x="4114800" y="5029200"/>
            <a:ext cx="2057400" cy="1588"/>
          </a:xfrm>
          <a:prstGeom prst="line">
            <a:avLst/>
          </a:prstGeom>
        </p:spPr>
        <p:style>
          <a:lnRef idx="3">
            <a:schemeClr val="accent6"/>
          </a:lnRef>
          <a:fillRef idx="0">
            <a:schemeClr val="accent6"/>
          </a:fillRef>
          <a:effectRef idx="2">
            <a:schemeClr val="accent6"/>
          </a:effectRef>
          <a:fontRef idx="minor">
            <a:schemeClr val="tx1"/>
          </a:fontRef>
        </p:style>
      </p:cxnSp>
      <p:cxnSp>
        <p:nvCxnSpPr>
          <p:cNvPr id="74" name="Straight Connector 73"/>
          <p:cNvCxnSpPr/>
          <p:nvPr/>
        </p:nvCxnSpPr>
        <p:spPr>
          <a:xfrm>
            <a:off x="5410200" y="3505200"/>
            <a:ext cx="2057400" cy="1588"/>
          </a:xfrm>
          <a:prstGeom prst="line">
            <a:avLst/>
          </a:prstGeom>
        </p:spPr>
        <p:style>
          <a:lnRef idx="2">
            <a:schemeClr val="dk1"/>
          </a:lnRef>
          <a:fillRef idx="0">
            <a:schemeClr val="dk1"/>
          </a:fillRef>
          <a:effectRef idx="1">
            <a:schemeClr val="dk1"/>
          </a:effectRef>
          <a:fontRef idx="minor">
            <a:schemeClr val="tx1"/>
          </a:fontRef>
        </p:style>
      </p:cxnSp>
      <p:sp>
        <p:nvSpPr>
          <p:cNvPr id="26656" name="TextBox 79"/>
          <p:cNvSpPr txBox="1">
            <a:spLocks noChangeArrowheads="1"/>
          </p:cNvSpPr>
          <p:nvPr/>
        </p:nvSpPr>
        <p:spPr bwMode="auto">
          <a:xfrm>
            <a:off x="5638800" y="3124200"/>
            <a:ext cx="1524000" cy="396875"/>
          </a:xfrm>
          <a:prstGeom prst="rect">
            <a:avLst/>
          </a:prstGeom>
          <a:noFill/>
          <a:ln w="9525">
            <a:noFill/>
            <a:miter lim="800000"/>
          </a:ln>
        </p:spPr>
        <p:txBody>
          <a:bodyPr>
            <a:spAutoFit/>
          </a:bodyPr>
          <a:lstStyle/>
          <a:p>
            <a:pPr algn="ctr"/>
            <a:r>
              <a:rPr lang="en-US" sz="2000" b="1" dirty="0">
                <a:solidFill>
                  <a:srgbClr val="FF0000"/>
                </a:solidFill>
              </a:rPr>
              <a:t>Dividends</a:t>
            </a:r>
          </a:p>
        </p:txBody>
      </p:sp>
      <p:sp>
        <p:nvSpPr>
          <p:cNvPr id="26657" name="TextBox 80"/>
          <p:cNvSpPr txBox="1">
            <a:spLocks noChangeArrowheads="1"/>
          </p:cNvSpPr>
          <p:nvPr/>
        </p:nvSpPr>
        <p:spPr bwMode="auto">
          <a:xfrm>
            <a:off x="7086600" y="4648200"/>
            <a:ext cx="1371600" cy="396875"/>
          </a:xfrm>
          <a:prstGeom prst="rect">
            <a:avLst/>
          </a:prstGeom>
          <a:noFill/>
          <a:ln w="9525">
            <a:noFill/>
            <a:miter lim="800000"/>
          </a:ln>
        </p:spPr>
        <p:txBody>
          <a:bodyPr>
            <a:spAutoFit/>
          </a:bodyPr>
          <a:lstStyle/>
          <a:p>
            <a:r>
              <a:rPr lang="en-US" sz="2000" b="1" dirty="0">
                <a:solidFill>
                  <a:srgbClr val="FF0000"/>
                </a:solidFill>
              </a:rPr>
              <a:t>Expenses</a:t>
            </a:r>
          </a:p>
        </p:txBody>
      </p:sp>
      <p:sp>
        <p:nvSpPr>
          <p:cNvPr id="26658" name="TextBox 81"/>
          <p:cNvSpPr txBox="1">
            <a:spLocks noChangeArrowheads="1"/>
          </p:cNvSpPr>
          <p:nvPr/>
        </p:nvSpPr>
        <p:spPr bwMode="auto">
          <a:xfrm>
            <a:off x="4572000" y="4648200"/>
            <a:ext cx="1524000" cy="396875"/>
          </a:xfrm>
          <a:prstGeom prst="rect">
            <a:avLst/>
          </a:prstGeom>
          <a:noFill/>
          <a:ln w="9525">
            <a:noFill/>
            <a:miter lim="800000"/>
          </a:ln>
        </p:spPr>
        <p:txBody>
          <a:bodyPr>
            <a:spAutoFit/>
          </a:bodyPr>
          <a:lstStyle/>
          <a:p>
            <a:r>
              <a:rPr lang="en-US" sz="2000" b="1" dirty="0"/>
              <a:t>Revenue</a:t>
            </a:r>
          </a:p>
        </p:txBody>
      </p:sp>
      <p:sp>
        <p:nvSpPr>
          <p:cNvPr id="26663" name="TextBox 88"/>
          <p:cNvSpPr txBox="1">
            <a:spLocks noChangeArrowheads="1"/>
          </p:cNvSpPr>
          <p:nvPr/>
        </p:nvSpPr>
        <p:spPr bwMode="auto">
          <a:xfrm>
            <a:off x="6553200" y="4230688"/>
            <a:ext cx="609600" cy="641350"/>
          </a:xfrm>
          <a:prstGeom prst="rect">
            <a:avLst/>
          </a:prstGeom>
          <a:noFill/>
          <a:ln w="9525">
            <a:noFill/>
            <a:miter lim="800000"/>
          </a:ln>
        </p:spPr>
        <p:txBody>
          <a:bodyPr>
            <a:spAutoFit/>
          </a:bodyPr>
          <a:lstStyle/>
          <a:p>
            <a:pPr algn="ctr"/>
            <a:r>
              <a:rPr lang="en-US" sz="3600" b="1" dirty="0">
                <a:solidFill>
                  <a:srgbClr val="FF0000"/>
                </a:solidFill>
              </a:rPr>
              <a:t>-</a:t>
            </a:r>
          </a:p>
        </p:txBody>
      </p:sp>
      <p:sp>
        <p:nvSpPr>
          <p:cNvPr id="26665" name="TextBox 91"/>
          <p:cNvSpPr txBox="1">
            <a:spLocks noChangeArrowheads="1"/>
          </p:cNvSpPr>
          <p:nvPr/>
        </p:nvSpPr>
        <p:spPr bwMode="auto">
          <a:xfrm>
            <a:off x="7848600" y="5735638"/>
            <a:ext cx="914400" cy="396875"/>
          </a:xfrm>
          <a:prstGeom prst="rect">
            <a:avLst/>
          </a:prstGeom>
          <a:noFill/>
          <a:ln w="9525">
            <a:noFill/>
            <a:miter lim="800000"/>
          </a:ln>
        </p:spPr>
        <p:txBody>
          <a:bodyPr>
            <a:spAutoFit/>
          </a:bodyPr>
          <a:lstStyle/>
          <a:p>
            <a:r>
              <a:rPr lang="en-US" sz="2000" dirty="0"/>
              <a:t>Credit</a:t>
            </a:r>
          </a:p>
        </p:txBody>
      </p:sp>
      <p:sp>
        <p:nvSpPr>
          <p:cNvPr id="26666" name="TextBox 92"/>
          <p:cNvSpPr txBox="1">
            <a:spLocks noChangeArrowheads="1"/>
          </p:cNvSpPr>
          <p:nvPr/>
        </p:nvSpPr>
        <p:spPr bwMode="auto">
          <a:xfrm>
            <a:off x="6400800" y="4171950"/>
            <a:ext cx="914400" cy="396875"/>
          </a:xfrm>
          <a:prstGeom prst="rect">
            <a:avLst/>
          </a:prstGeom>
          <a:noFill/>
          <a:ln w="9525">
            <a:noFill/>
            <a:miter lim="800000"/>
          </a:ln>
        </p:spPr>
        <p:txBody>
          <a:bodyPr>
            <a:spAutoFit/>
          </a:bodyPr>
          <a:lstStyle/>
          <a:p>
            <a:r>
              <a:rPr lang="en-US" sz="2000"/>
              <a:t>Credit</a:t>
            </a:r>
          </a:p>
        </p:txBody>
      </p:sp>
      <p:sp>
        <p:nvSpPr>
          <p:cNvPr id="26667" name="TextBox 93"/>
          <p:cNvSpPr txBox="1">
            <a:spLocks noChangeArrowheads="1"/>
          </p:cNvSpPr>
          <p:nvPr/>
        </p:nvSpPr>
        <p:spPr bwMode="auto">
          <a:xfrm>
            <a:off x="5181600" y="2667000"/>
            <a:ext cx="914400" cy="396875"/>
          </a:xfrm>
          <a:prstGeom prst="rect">
            <a:avLst/>
          </a:prstGeom>
          <a:noFill/>
          <a:ln w="9525">
            <a:noFill/>
            <a:miter lim="800000"/>
          </a:ln>
        </p:spPr>
        <p:txBody>
          <a:bodyPr>
            <a:spAutoFit/>
          </a:bodyPr>
          <a:lstStyle/>
          <a:p>
            <a:r>
              <a:rPr lang="en-US" sz="2000"/>
              <a:t>Credit</a:t>
            </a:r>
          </a:p>
        </p:txBody>
      </p:sp>
      <p:sp>
        <p:nvSpPr>
          <p:cNvPr id="26668" name="TextBox 94"/>
          <p:cNvSpPr txBox="1">
            <a:spLocks noChangeArrowheads="1"/>
          </p:cNvSpPr>
          <p:nvPr/>
        </p:nvSpPr>
        <p:spPr bwMode="auto">
          <a:xfrm>
            <a:off x="7620000" y="2667000"/>
            <a:ext cx="914400" cy="396875"/>
          </a:xfrm>
          <a:prstGeom prst="rect">
            <a:avLst/>
          </a:prstGeom>
          <a:noFill/>
          <a:ln w="9525">
            <a:noFill/>
            <a:miter lim="800000"/>
          </a:ln>
        </p:spPr>
        <p:txBody>
          <a:bodyPr>
            <a:spAutoFit/>
          </a:bodyPr>
          <a:lstStyle/>
          <a:p>
            <a:r>
              <a:rPr lang="en-US" sz="2000"/>
              <a:t>Credit</a:t>
            </a:r>
          </a:p>
        </p:txBody>
      </p:sp>
      <p:sp>
        <p:nvSpPr>
          <p:cNvPr id="26669" name="TextBox 95"/>
          <p:cNvSpPr txBox="1">
            <a:spLocks noChangeArrowheads="1"/>
          </p:cNvSpPr>
          <p:nvPr/>
        </p:nvSpPr>
        <p:spPr bwMode="auto">
          <a:xfrm>
            <a:off x="5181600" y="5678488"/>
            <a:ext cx="914400" cy="396875"/>
          </a:xfrm>
          <a:prstGeom prst="rect">
            <a:avLst/>
          </a:prstGeom>
          <a:noFill/>
          <a:ln w="9525">
            <a:noFill/>
            <a:miter lim="800000"/>
          </a:ln>
        </p:spPr>
        <p:txBody>
          <a:bodyPr>
            <a:spAutoFit/>
          </a:bodyPr>
          <a:lstStyle/>
          <a:p>
            <a:r>
              <a:rPr lang="en-US" sz="2000" dirty="0"/>
              <a:t>Credit</a:t>
            </a:r>
          </a:p>
        </p:txBody>
      </p:sp>
      <p:sp>
        <p:nvSpPr>
          <p:cNvPr id="26675" name="TextBox 101"/>
          <p:cNvSpPr txBox="1">
            <a:spLocks noChangeArrowheads="1"/>
          </p:cNvSpPr>
          <p:nvPr/>
        </p:nvSpPr>
        <p:spPr bwMode="auto">
          <a:xfrm>
            <a:off x="8077200" y="5830888"/>
            <a:ext cx="609600" cy="641350"/>
          </a:xfrm>
          <a:prstGeom prst="rect">
            <a:avLst/>
          </a:prstGeom>
          <a:noFill/>
          <a:ln w="9525">
            <a:noFill/>
            <a:miter lim="800000"/>
          </a:ln>
        </p:spPr>
        <p:txBody>
          <a:bodyPr>
            <a:spAutoFit/>
          </a:bodyPr>
          <a:lstStyle/>
          <a:p>
            <a:r>
              <a:rPr lang="en-US" sz="3600" b="1" dirty="0">
                <a:solidFill>
                  <a:srgbClr val="FF0000"/>
                </a:solidFill>
              </a:rPr>
              <a:t>-</a:t>
            </a:r>
          </a:p>
        </p:txBody>
      </p:sp>
      <p:sp>
        <p:nvSpPr>
          <p:cNvPr id="103" name="Plus 102"/>
          <p:cNvSpPr/>
          <p:nvPr/>
        </p:nvSpPr>
        <p:spPr>
          <a:xfrm>
            <a:off x="381000" y="2971800"/>
            <a:ext cx="228600" cy="228600"/>
          </a:xfrm>
          <a:prstGeom prst="mathPlus">
            <a:avLst/>
          </a:prstGeom>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a:defRPr/>
            </a:pPr>
            <a:endParaRPr lang="en-US" dirty="0"/>
          </a:p>
        </p:txBody>
      </p:sp>
      <p:sp>
        <p:nvSpPr>
          <p:cNvPr id="104" name="Plus 103"/>
          <p:cNvSpPr/>
          <p:nvPr/>
        </p:nvSpPr>
        <p:spPr>
          <a:xfrm>
            <a:off x="3048000" y="2971800"/>
            <a:ext cx="228600" cy="228600"/>
          </a:xfrm>
          <a:prstGeom prst="mathPlus">
            <a:avLst/>
          </a:prstGeom>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a:defRPr/>
            </a:pPr>
            <a:endParaRPr lang="en-US" dirty="0"/>
          </a:p>
        </p:txBody>
      </p:sp>
      <p:sp>
        <p:nvSpPr>
          <p:cNvPr id="105" name="Plus 104"/>
          <p:cNvSpPr/>
          <p:nvPr/>
        </p:nvSpPr>
        <p:spPr>
          <a:xfrm>
            <a:off x="5562600" y="6019800"/>
            <a:ext cx="228600" cy="228600"/>
          </a:xfrm>
          <a:prstGeom prst="mathPlus">
            <a:avLst/>
          </a:prstGeom>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a:defRPr/>
            </a:pPr>
            <a:endParaRPr lang="en-US" dirty="0"/>
          </a:p>
        </p:txBody>
      </p:sp>
      <p:sp>
        <p:nvSpPr>
          <p:cNvPr id="106" name="Plus 105"/>
          <p:cNvSpPr/>
          <p:nvPr/>
        </p:nvSpPr>
        <p:spPr>
          <a:xfrm>
            <a:off x="7924800" y="2971800"/>
            <a:ext cx="228600" cy="228600"/>
          </a:xfrm>
          <a:prstGeom prst="mathPlus">
            <a:avLst/>
          </a:prstGeom>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a:defRPr/>
            </a:pPr>
            <a:endParaRPr lang="en-US" dirty="0"/>
          </a:p>
        </p:txBody>
      </p:sp>
      <p:sp>
        <p:nvSpPr>
          <p:cNvPr id="107" name="Plus 106"/>
          <p:cNvSpPr/>
          <p:nvPr/>
        </p:nvSpPr>
        <p:spPr>
          <a:xfrm>
            <a:off x="5486400" y="2971800"/>
            <a:ext cx="228600" cy="228600"/>
          </a:xfrm>
          <a:prstGeom prst="mathPlus">
            <a:avLst/>
          </a:prstGeom>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a:defRPr/>
            </a:pPr>
            <a:endParaRPr lang="en-US" dirty="0"/>
          </a:p>
        </p:txBody>
      </p:sp>
      <p:sp>
        <p:nvSpPr>
          <p:cNvPr id="26683" name="Footer Placeholder 4"/>
          <p:cNvSpPr txBox="1"/>
          <p:nvPr/>
        </p:nvSpPr>
        <p:spPr bwMode="auto">
          <a:xfrm>
            <a:off x="2438400" y="6553200"/>
            <a:ext cx="4343400" cy="304800"/>
          </a:xfrm>
          <a:prstGeom prst="rect">
            <a:avLst/>
          </a:prstGeom>
          <a:noFill/>
          <a:ln w="9525">
            <a:noFill/>
            <a:miter lim="800000"/>
          </a:ln>
        </p:spPr>
        <p:txBody>
          <a:bodyPr anchor="b"/>
          <a:lstStyle/>
          <a:p>
            <a:pPr algn="r"/>
            <a:r>
              <a:rPr lang="en-US" sz="1000" dirty="0">
                <a:solidFill>
                  <a:schemeClr val="accent2"/>
                </a:solidFill>
              </a:rPr>
              <a:t>Copyright ©2014 Pearson Education</a:t>
            </a:r>
          </a:p>
        </p:txBody>
      </p:sp>
      <p:sp>
        <p:nvSpPr>
          <p:cNvPr id="26684" name="Slide Number Placeholder 5"/>
          <p:cNvSpPr>
            <a:spLocks noGrp="1"/>
          </p:cNvSpPr>
          <p:nvPr>
            <p:ph type="sldNum" sz="quarter" idx="11"/>
          </p:nvPr>
        </p:nvSpPr>
        <p:spPr bwMode="auto">
          <a:xfrm>
            <a:off x="8382000" y="6491288"/>
            <a:ext cx="762000" cy="366712"/>
          </a:xfrm>
          <a:noFill/>
          <a:ln>
            <a:miter lim="800000"/>
          </a:ln>
        </p:spPr>
        <p:txBody>
          <a:bodyPr/>
          <a:lstStyle/>
          <a:p>
            <a:fld id="{570660EF-8671-4FDB-A8AE-3AF53F068FA2}" type="slidenum">
              <a:rPr lang="en-US" sz="1000" smtClean="0">
                <a:solidFill>
                  <a:schemeClr val="accent2"/>
                </a:solidFill>
                <a:latin typeface="Arial" panose="020B0604020202020204" pitchFamily="34" charset="0"/>
                <a:cs typeface="Arial" panose="020B0604020202020204" pitchFamily="34" charset="0"/>
              </a:rPr>
              <a:t>29</a:t>
            </a:fld>
            <a:endParaRPr lang="en-US" sz="1000" smtClean="0">
              <a:solidFill>
                <a:schemeClr val="accent2"/>
              </a:solidFill>
              <a:latin typeface="Arial" panose="020B0604020202020204" pitchFamily="34" charset="0"/>
              <a:cs typeface="Arial" panose="020B0604020202020204" pitchFamily="34" charset="0"/>
            </a:endParaRPr>
          </a:p>
        </p:txBody>
      </p:sp>
      <p:sp>
        <p:nvSpPr>
          <p:cNvPr id="64" name="Up Arrow 63"/>
          <p:cNvSpPr/>
          <p:nvPr/>
        </p:nvSpPr>
        <p:spPr>
          <a:xfrm>
            <a:off x="228600" y="2286000"/>
            <a:ext cx="533400" cy="457200"/>
          </a:xfrm>
          <a:prstGeom prst="upArrow">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cs typeface="Arial" panose="020B0604020202020204" pitchFamily="34" charset="0"/>
            </a:endParaRPr>
          </a:p>
        </p:txBody>
      </p:sp>
      <p:grpSp>
        <p:nvGrpSpPr>
          <p:cNvPr id="2" name="组合 1"/>
          <p:cNvGrpSpPr/>
          <p:nvPr/>
        </p:nvGrpSpPr>
        <p:grpSpPr>
          <a:xfrm>
            <a:off x="1066800" y="2286000"/>
            <a:ext cx="1524000" cy="1098550"/>
            <a:chOff x="1680" y="3600"/>
            <a:chExt cx="2400" cy="1730"/>
          </a:xfrm>
        </p:grpSpPr>
        <p:sp>
          <p:nvSpPr>
            <p:cNvPr id="26660" name="TextBox 85"/>
            <p:cNvSpPr txBox="1">
              <a:spLocks noChangeArrowheads="1"/>
            </p:cNvSpPr>
            <p:nvPr/>
          </p:nvSpPr>
          <p:spPr bwMode="auto">
            <a:xfrm>
              <a:off x="3480" y="4320"/>
              <a:ext cx="480" cy="1010"/>
            </a:xfrm>
            <a:prstGeom prst="rect">
              <a:avLst/>
            </a:prstGeom>
            <a:noFill/>
            <a:ln w="9525">
              <a:noFill/>
              <a:miter lim="800000"/>
            </a:ln>
          </p:spPr>
          <p:txBody>
            <a:bodyPr>
              <a:spAutoFit/>
            </a:bodyPr>
            <a:lstStyle/>
            <a:p>
              <a:r>
                <a:rPr lang="en-US" sz="3600" b="1">
                  <a:solidFill>
                    <a:srgbClr val="FF0000"/>
                  </a:solidFill>
                </a:rPr>
                <a:t>-</a:t>
              </a:r>
            </a:p>
          </p:txBody>
        </p:sp>
        <p:sp>
          <p:nvSpPr>
            <p:cNvPr id="26664" name="TextBox 89"/>
            <p:cNvSpPr txBox="1">
              <a:spLocks noChangeArrowheads="1"/>
            </p:cNvSpPr>
            <p:nvPr/>
          </p:nvSpPr>
          <p:spPr bwMode="auto">
            <a:xfrm>
              <a:off x="1800" y="4320"/>
              <a:ext cx="720" cy="1010"/>
            </a:xfrm>
            <a:prstGeom prst="rect">
              <a:avLst/>
            </a:prstGeom>
            <a:noFill/>
            <a:ln w="9525">
              <a:noFill/>
              <a:miter lim="800000"/>
            </a:ln>
          </p:spPr>
          <p:txBody>
            <a:bodyPr>
              <a:spAutoFit/>
            </a:bodyPr>
            <a:lstStyle/>
            <a:p>
              <a:r>
                <a:rPr lang="en-US" sz="3600" b="1" dirty="0">
                  <a:solidFill>
                    <a:srgbClr val="FF0000"/>
                  </a:solidFill>
                </a:rPr>
                <a:t>-</a:t>
              </a:r>
            </a:p>
          </p:txBody>
        </p:sp>
        <p:sp>
          <p:nvSpPr>
            <p:cNvPr id="60" name="Up Arrow 59"/>
            <p:cNvSpPr/>
            <p:nvPr/>
          </p:nvSpPr>
          <p:spPr>
            <a:xfrm rot="10800000">
              <a:off x="3240" y="3600"/>
              <a:ext cx="840" cy="720"/>
            </a:xfrm>
            <a:prstGeom prst="up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cs typeface="Arial" panose="020B0604020202020204" pitchFamily="34" charset="0"/>
              </a:endParaRPr>
            </a:p>
          </p:txBody>
        </p:sp>
        <p:sp>
          <p:nvSpPr>
            <p:cNvPr id="65" name="Up Arrow 64"/>
            <p:cNvSpPr/>
            <p:nvPr/>
          </p:nvSpPr>
          <p:spPr>
            <a:xfrm rot="10800000">
              <a:off x="1680" y="3600"/>
              <a:ext cx="840" cy="720"/>
            </a:xfrm>
            <a:prstGeom prst="up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cs typeface="Arial" panose="020B0604020202020204" pitchFamily="34" charset="0"/>
              </a:endParaRPr>
            </a:p>
          </p:txBody>
        </p:sp>
      </p:grpSp>
      <p:sp>
        <p:nvSpPr>
          <p:cNvPr id="66" name="Up Arrow 65"/>
          <p:cNvSpPr/>
          <p:nvPr/>
        </p:nvSpPr>
        <p:spPr>
          <a:xfrm>
            <a:off x="2895600" y="2286000"/>
            <a:ext cx="533400" cy="457200"/>
          </a:xfrm>
          <a:prstGeom prst="upArrow">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cs typeface="Arial" panose="020B0604020202020204" pitchFamily="34" charset="0"/>
            </a:endParaRPr>
          </a:p>
        </p:txBody>
      </p:sp>
      <p:sp>
        <p:nvSpPr>
          <p:cNvPr id="75" name="Up Arrow 74"/>
          <p:cNvSpPr/>
          <p:nvPr/>
        </p:nvSpPr>
        <p:spPr>
          <a:xfrm rot="10800000">
            <a:off x="6553200" y="3733800"/>
            <a:ext cx="533400" cy="457200"/>
          </a:xfrm>
          <a:prstGeom prst="upArrow">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cs typeface="Arial" panose="020B0604020202020204" pitchFamily="34" charset="0"/>
            </a:endParaRPr>
          </a:p>
        </p:txBody>
      </p:sp>
      <p:sp>
        <p:nvSpPr>
          <p:cNvPr id="76" name="Up Arrow 75"/>
          <p:cNvSpPr/>
          <p:nvPr/>
        </p:nvSpPr>
        <p:spPr>
          <a:xfrm>
            <a:off x="5334000" y="2286000"/>
            <a:ext cx="533400" cy="457200"/>
          </a:xfrm>
          <a:prstGeom prst="upArrow">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cs typeface="Arial" panose="020B0604020202020204" pitchFamily="34" charset="0"/>
            </a:endParaRPr>
          </a:p>
        </p:txBody>
      </p:sp>
      <p:grpSp>
        <p:nvGrpSpPr>
          <p:cNvPr id="23" name="组合 22"/>
          <p:cNvGrpSpPr/>
          <p:nvPr/>
        </p:nvGrpSpPr>
        <p:grpSpPr>
          <a:xfrm>
            <a:off x="5562600" y="3733800"/>
            <a:ext cx="2209800" cy="2514600"/>
            <a:chOff x="5562600" y="3733800"/>
            <a:chExt cx="2209800" cy="2514600"/>
          </a:xfrm>
        </p:grpSpPr>
        <p:sp>
          <p:nvSpPr>
            <p:cNvPr id="26670" name="TextBox 96"/>
            <p:cNvSpPr txBox="1">
              <a:spLocks noChangeArrowheads="1"/>
            </p:cNvSpPr>
            <p:nvPr/>
          </p:nvSpPr>
          <p:spPr bwMode="auto">
            <a:xfrm>
              <a:off x="5562600" y="4171950"/>
              <a:ext cx="914400" cy="396875"/>
            </a:xfrm>
            <a:prstGeom prst="rect">
              <a:avLst/>
            </a:prstGeom>
            <a:noFill/>
            <a:ln w="9525">
              <a:noFill/>
              <a:miter lim="800000"/>
            </a:ln>
          </p:spPr>
          <p:txBody>
            <a:bodyPr>
              <a:spAutoFit/>
            </a:bodyPr>
            <a:lstStyle/>
            <a:p>
              <a:r>
                <a:rPr lang="en-US" sz="2000"/>
                <a:t>Debit</a:t>
              </a:r>
            </a:p>
          </p:txBody>
        </p:sp>
        <p:sp>
          <p:nvSpPr>
            <p:cNvPr id="26674" name="TextBox 100"/>
            <p:cNvSpPr txBox="1">
              <a:spLocks noChangeArrowheads="1"/>
            </p:cNvSpPr>
            <p:nvPr/>
          </p:nvSpPr>
          <p:spPr bwMode="auto">
            <a:xfrm>
              <a:off x="6858000" y="5715000"/>
              <a:ext cx="914400" cy="396875"/>
            </a:xfrm>
            <a:prstGeom prst="rect">
              <a:avLst/>
            </a:prstGeom>
            <a:noFill/>
            <a:ln w="9525">
              <a:noFill/>
              <a:miter lim="800000"/>
            </a:ln>
          </p:spPr>
          <p:txBody>
            <a:bodyPr>
              <a:spAutoFit/>
            </a:bodyPr>
            <a:lstStyle/>
            <a:p>
              <a:r>
                <a:rPr lang="en-US" sz="2000" dirty="0"/>
                <a:t>Debit</a:t>
              </a:r>
            </a:p>
          </p:txBody>
        </p:sp>
        <p:sp>
          <p:nvSpPr>
            <p:cNvPr id="108" name="Plus 107"/>
            <p:cNvSpPr/>
            <p:nvPr/>
          </p:nvSpPr>
          <p:spPr>
            <a:xfrm>
              <a:off x="7162800" y="6019800"/>
              <a:ext cx="228600" cy="228600"/>
            </a:xfrm>
            <a:prstGeom prst="mathPlus">
              <a:avLst/>
            </a:prstGeom>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a:defRPr/>
              </a:pPr>
              <a:endParaRPr lang="en-US" dirty="0"/>
            </a:p>
          </p:txBody>
        </p:sp>
        <p:sp>
          <p:nvSpPr>
            <p:cNvPr id="109" name="Plus 108"/>
            <p:cNvSpPr/>
            <p:nvPr/>
          </p:nvSpPr>
          <p:spPr>
            <a:xfrm>
              <a:off x="5867400" y="4495800"/>
              <a:ext cx="228600" cy="228600"/>
            </a:xfrm>
            <a:prstGeom prst="mathPlus">
              <a:avLst/>
            </a:prstGeom>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a:defRPr/>
              </a:pPr>
              <a:endParaRPr lang="en-US" dirty="0"/>
            </a:p>
          </p:txBody>
        </p:sp>
        <p:sp>
          <p:nvSpPr>
            <p:cNvPr id="68" name="Up Arrow 67"/>
            <p:cNvSpPr/>
            <p:nvPr/>
          </p:nvSpPr>
          <p:spPr>
            <a:xfrm>
              <a:off x="5715000" y="3733800"/>
              <a:ext cx="533400" cy="457200"/>
            </a:xfrm>
            <a:prstGeom prst="upArrow">
              <a:avLst/>
            </a:prstGeom>
            <a:solidFill>
              <a:srgbClr val="A80C0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cs typeface="Arial" panose="020B0604020202020204" pitchFamily="34" charset="0"/>
              </a:endParaRPr>
            </a:p>
          </p:txBody>
        </p:sp>
        <p:sp>
          <p:nvSpPr>
            <p:cNvPr id="78" name="Up Arrow 77"/>
            <p:cNvSpPr/>
            <p:nvPr/>
          </p:nvSpPr>
          <p:spPr>
            <a:xfrm>
              <a:off x="7086600" y="5257800"/>
              <a:ext cx="533400" cy="457200"/>
            </a:xfrm>
            <a:prstGeom prst="up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cs typeface="Arial" panose="020B0604020202020204" pitchFamily="34" charset="0"/>
              </a:endParaRPr>
            </a:p>
          </p:txBody>
        </p:sp>
      </p:grpSp>
      <p:sp>
        <p:nvSpPr>
          <p:cNvPr id="79" name="Up Arrow 78"/>
          <p:cNvSpPr/>
          <p:nvPr/>
        </p:nvSpPr>
        <p:spPr>
          <a:xfrm rot="10800000">
            <a:off x="7924800" y="5257800"/>
            <a:ext cx="533400" cy="457200"/>
          </a:xfrm>
          <a:prstGeom prst="upArrow">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cs typeface="Arial" panose="020B0604020202020204" pitchFamily="34" charset="0"/>
            </a:endParaRPr>
          </a:p>
        </p:txBody>
      </p:sp>
      <p:sp>
        <p:nvSpPr>
          <p:cNvPr id="80" name="Up Arrow 79"/>
          <p:cNvSpPr/>
          <p:nvPr/>
        </p:nvSpPr>
        <p:spPr>
          <a:xfrm>
            <a:off x="5334000" y="5181600"/>
            <a:ext cx="533400" cy="457200"/>
          </a:xfrm>
          <a:prstGeom prst="upArrow">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cs typeface="Arial" panose="020B0604020202020204" pitchFamily="34" charset="0"/>
            </a:endParaRPr>
          </a:p>
        </p:txBody>
      </p:sp>
      <p:grpSp>
        <p:nvGrpSpPr>
          <p:cNvPr id="22" name="组合 21"/>
          <p:cNvGrpSpPr/>
          <p:nvPr/>
        </p:nvGrpSpPr>
        <p:grpSpPr>
          <a:xfrm>
            <a:off x="4343400" y="2286000"/>
            <a:ext cx="3352800" cy="4110038"/>
            <a:chOff x="4343400" y="2286000"/>
            <a:chExt cx="3352800" cy="4110038"/>
          </a:xfrm>
        </p:grpSpPr>
        <p:sp>
          <p:nvSpPr>
            <p:cNvPr id="26659" name="TextBox 83"/>
            <p:cNvSpPr txBox="1">
              <a:spLocks noChangeArrowheads="1"/>
            </p:cNvSpPr>
            <p:nvPr/>
          </p:nvSpPr>
          <p:spPr bwMode="auto">
            <a:xfrm>
              <a:off x="4495800" y="5754688"/>
              <a:ext cx="609600" cy="641350"/>
            </a:xfrm>
            <a:prstGeom prst="rect">
              <a:avLst/>
            </a:prstGeom>
            <a:noFill/>
            <a:ln w="9525">
              <a:noFill/>
              <a:miter lim="800000"/>
            </a:ln>
          </p:spPr>
          <p:txBody>
            <a:bodyPr>
              <a:spAutoFit/>
            </a:bodyPr>
            <a:lstStyle/>
            <a:p>
              <a:pPr algn="ctr"/>
              <a:r>
                <a:rPr lang="en-US" sz="3600" b="1">
                  <a:solidFill>
                    <a:srgbClr val="FF0000"/>
                  </a:solidFill>
                </a:rPr>
                <a:t>-</a:t>
              </a:r>
            </a:p>
          </p:txBody>
        </p:sp>
        <p:sp>
          <p:nvSpPr>
            <p:cNvPr id="26661" name="TextBox 86"/>
            <p:cNvSpPr txBox="1">
              <a:spLocks noChangeArrowheads="1"/>
            </p:cNvSpPr>
            <p:nvPr/>
          </p:nvSpPr>
          <p:spPr bwMode="auto">
            <a:xfrm>
              <a:off x="7010400" y="2706688"/>
              <a:ext cx="609600" cy="641350"/>
            </a:xfrm>
            <a:prstGeom prst="rect">
              <a:avLst/>
            </a:prstGeom>
            <a:noFill/>
            <a:ln w="9525">
              <a:noFill/>
              <a:miter lim="800000"/>
            </a:ln>
          </p:spPr>
          <p:txBody>
            <a:bodyPr>
              <a:spAutoFit/>
            </a:bodyPr>
            <a:lstStyle/>
            <a:p>
              <a:r>
                <a:rPr lang="en-US" sz="3600" b="1">
                  <a:solidFill>
                    <a:srgbClr val="FF0000"/>
                  </a:solidFill>
                </a:rPr>
                <a:t>-</a:t>
              </a:r>
            </a:p>
          </p:txBody>
        </p:sp>
        <p:sp>
          <p:nvSpPr>
            <p:cNvPr id="26662" name="TextBox 87"/>
            <p:cNvSpPr txBox="1">
              <a:spLocks noChangeArrowheads="1"/>
            </p:cNvSpPr>
            <p:nvPr/>
          </p:nvSpPr>
          <p:spPr bwMode="auto">
            <a:xfrm>
              <a:off x="4495800" y="2743200"/>
              <a:ext cx="609600" cy="641350"/>
            </a:xfrm>
            <a:prstGeom prst="rect">
              <a:avLst/>
            </a:prstGeom>
            <a:noFill/>
            <a:ln w="9525">
              <a:noFill/>
              <a:miter lim="800000"/>
            </a:ln>
          </p:spPr>
          <p:txBody>
            <a:bodyPr>
              <a:spAutoFit/>
            </a:bodyPr>
            <a:lstStyle/>
            <a:p>
              <a:pPr algn="ctr"/>
              <a:r>
                <a:rPr lang="en-US" sz="3600" b="1">
                  <a:solidFill>
                    <a:srgbClr val="FF0000"/>
                  </a:solidFill>
                </a:rPr>
                <a:t>-</a:t>
              </a:r>
            </a:p>
          </p:txBody>
        </p:sp>
        <p:sp>
          <p:nvSpPr>
            <p:cNvPr id="26671" name="TextBox 97"/>
            <p:cNvSpPr txBox="1">
              <a:spLocks noChangeArrowheads="1"/>
            </p:cNvSpPr>
            <p:nvPr/>
          </p:nvSpPr>
          <p:spPr bwMode="auto">
            <a:xfrm>
              <a:off x="6781800" y="2647950"/>
              <a:ext cx="914400" cy="396875"/>
            </a:xfrm>
            <a:prstGeom prst="rect">
              <a:avLst/>
            </a:prstGeom>
            <a:noFill/>
            <a:ln w="9525">
              <a:noFill/>
              <a:miter lim="800000"/>
            </a:ln>
          </p:spPr>
          <p:txBody>
            <a:bodyPr>
              <a:spAutoFit/>
            </a:bodyPr>
            <a:lstStyle/>
            <a:p>
              <a:r>
                <a:rPr lang="en-US" sz="2000"/>
                <a:t>Debit</a:t>
              </a:r>
            </a:p>
          </p:txBody>
        </p:sp>
        <p:sp>
          <p:nvSpPr>
            <p:cNvPr id="26672" name="TextBox 98"/>
            <p:cNvSpPr txBox="1">
              <a:spLocks noChangeArrowheads="1"/>
            </p:cNvSpPr>
            <p:nvPr/>
          </p:nvSpPr>
          <p:spPr bwMode="auto">
            <a:xfrm>
              <a:off x="4343400" y="2667000"/>
              <a:ext cx="914400" cy="396875"/>
            </a:xfrm>
            <a:prstGeom prst="rect">
              <a:avLst/>
            </a:prstGeom>
            <a:noFill/>
            <a:ln w="9525">
              <a:noFill/>
              <a:miter lim="800000"/>
            </a:ln>
          </p:spPr>
          <p:txBody>
            <a:bodyPr>
              <a:spAutoFit/>
            </a:bodyPr>
            <a:lstStyle/>
            <a:p>
              <a:r>
                <a:rPr lang="en-US" sz="2000"/>
                <a:t>Debit</a:t>
              </a:r>
            </a:p>
          </p:txBody>
        </p:sp>
        <p:sp>
          <p:nvSpPr>
            <p:cNvPr id="26673" name="TextBox 99"/>
            <p:cNvSpPr txBox="1">
              <a:spLocks noChangeArrowheads="1"/>
            </p:cNvSpPr>
            <p:nvPr/>
          </p:nvSpPr>
          <p:spPr bwMode="auto">
            <a:xfrm>
              <a:off x="4343400" y="5678488"/>
              <a:ext cx="914400" cy="396875"/>
            </a:xfrm>
            <a:prstGeom prst="rect">
              <a:avLst/>
            </a:prstGeom>
            <a:noFill/>
            <a:ln w="9525">
              <a:noFill/>
              <a:miter lim="800000"/>
            </a:ln>
          </p:spPr>
          <p:txBody>
            <a:bodyPr>
              <a:spAutoFit/>
            </a:bodyPr>
            <a:lstStyle/>
            <a:p>
              <a:r>
                <a:rPr lang="en-US" sz="2000" dirty="0"/>
                <a:t>Debit</a:t>
              </a:r>
            </a:p>
          </p:txBody>
        </p:sp>
        <p:sp>
          <p:nvSpPr>
            <p:cNvPr id="67" name="Up Arrow 66"/>
            <p:cNvSpPr/>
            <p:nvPr/>
          </p:nvSpPr>
          <p:spPr>
            <a:xfrm rot="10800000">
              <a:off x="4495800" y="2286000"/>
              <a:ext cx="533400" cy="457200"/>
            </a:xfrm>
            <a:prstGeom prst="up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cs typeface="Arial" panose="020B0604020202020204" pitchFamily="34" charset="0"/>
              </a:endParaRPr>
            </a:p>
          </p:txBody>
        </p:sp>
        <p:sp>
          <p:nvSpPr>
            <p:cNvPr id="77" name="Up Arrow 76"/>
            <p:cNvSpPr/>
            <p:nvPr/>
          </p:nvSpPr>
          <p:spPr>
            <a:xfrm rot="10800000">
              <a:off x="4495800" y="5181600"/>
              <a:ext cx="533400" cy="457200"/>
            </a:xfrm>
            <a:prstGeom prst="up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cs typeface="Arial" panose="020B0604020202020204" pitchFamily="34" charset="0"/>
              </a:endParaRPr>
            </a:p>
          </p:txBody>
        </p:sp>
        <p:sp>
          <p:nvSpPr>
            <p:cNvPr id="81" name="Up Arrow 80"/>
            <p:cNvSpPr/>
            <p:nvPr/>
          </p:nvSpPr>
          <p:spPr>
            <a:xfrm rot="10800000">
              <a:off x="6934200" y="2286000"/>
              <a:ext cx="533400" cy="457200"/>
            </a:xfrm>
            <a:prstGeom prst="up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cs typeface="Arial" panose="020B0604020202020204" pitchFamily="34" charset="0"/>
              </a:endParaRPr>
            </a:p>
          </p:txBody>
        </p:sp>
      </p:grpSp>
      <p:sp>
        <p:nvSpPr>
          <p:cNvPr id="82" name="Up Arrow 81"/>
          <p:cNvSpPr/>
          <p:nvPr/>
        </p:nvSpPr>
        <p:spPr>
          <a:xfrm>
            <a:off x="7772400" y="2286000"/>
            <a:ext cx="533400" cy="457200"/>
          </a:xfrm>
          <a:prstGeom prst="upArrow">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cs typeface="Arial" panose="020B0604020202020204" pitchFamily="34" charset="0"/>
            </a:endParaRPr>
          </a:p>
        </p:txBody>
      </p:sp>
    </p:spTree>
    <p:extLst>
      <p:ext uri="{BB962C8B-B14F-4D97-AF65-F5344CB8AC3E}">
        <p14:creationId xmlns:p14="http://schemas.microsoft.com/office/powerpoint/2010/main" val="3418541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1000"/>
                                        <p:tgtEl>
                                          <p:spTgt spid="22"/>
                                        </p:tgtEl>
                                      </p:cBhvr>
                                    </p:animEffect>
                                    <p:anim calcmode="lin" valueType="num">
                                      <p:cBhvr>
                                        <p:cTn id="18" dur="1000" fill="hold"/>
                                        <p:tgtEl>
                                          <p:spTgt spid="22"/>
                                        </p:tgtEl>
                                        <p:attrNameLst>
                                          <p:attrName>ppt_x</p:attrName>
                                        </p:attrNameLst>
                                      </p:cBhvr>
                                      <p:tavLst>
                                        <p:tav tm="0">
                                          <p:val>
                                            <p:strVal val="#ppt_x"/>
                                          </p:val>
                                        </p:tav>
                                        <p:tav tm="100000">
                                          <p:val>
                                            <p:strVal val="#ppt_x"/>
                                          </p:val>
                                        </p:tav>
                                      </p:tavLst>
                                    </p:anim>
                                    <p:anim calcmode="lin" valueType="num">
                                      <p:cBhvr>
                                        <p:cTn id="19" dur="1000" fill="hold"/>
                                        <p:tgtEl>
                                          <p:spTgt spid="22"/>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1000"/>
                                        <p:tgtEl>
                                          <p:spTgt spid="23"/>
                                        </p:tgtEl>
                                      </p:cBhvr>
                                    </p:animEffect>
                                    <p:anim calcmode="lin" valueType="num">
                                      <p:cBhvr>
                                        <p:cTn id="23" dur="1000" fill="hold"/>
                                        <p:tgtEl>
                                          <p:spTgt spid="23"/>
                                        </p:tgtEl>
                                        <p:attrNameLst>
                                          <p:attrName>ppt_x</p:attrName>
                                        </p:attrNameLst>
                                      </p:cBhvr>
                                      <p:tavLst>
                                        <p:tav tm="0">
                                          <p:val>
                                            <p:strVal val="#ppt_x"/>
                                          </p:val>
                                        </p:tav>
                                        <p:tav tm="100000">
                                          <p:val>
                                            <p:strVal val="#ppt_x"/>
                                          </p:val>
                                        </p:tav>
                                      </p:tavLst>
                                    </p:anim>
                                    <p:anim calcmode="lin" valueType="num">
                                      <p:cBhvr>
                                        <p:cTn id="24"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a:xfrm>
            <a:off x="457200" y="228600"/>
            <a:ext cx="8229600" cy="1069975"/>
          </a:xfrm>
        </p:spPr>
        <p:txBody>
          <a:bodyPr/>
          <a:lstStyle/>
          <a:p>
            <a:pPr eaLnBrk="1" hangingPunct="1"/>
            <a:r>
              <a:rPr lang="en-US" dirty="0" smtClean="0"/>
              <a:t>Normal Balances of Accounts</a:t>
            </a:r>
          </a:p>
        </p:txBody>
      </p:sp>
      <p:graphicFrame>
        <p:nvGraphicFramePr>
          <p:cNvPr id="44076" name="Group 44"/>
          <p:cNvGraphicFramePr>
            <a:graphicFrameLocks noGrp="1"/>
          </p:cNvGraphicFramePr>
          <p:nvPr>
            <p:extLst>
              <p:ext uri="{D42A27DB-BD31-4B8C-83A1-F6EECF244321}">
                <p14:modId xmlns:p14="http://schemas.microsoft.com/office/powerpoint/2010/main" val="3780381691"/>
              </p:ext>
            </p:extLst>
          </p:nvPr>
        </p:nvGraphicFramePr>
        <p:xfrm>
          <a:off x="1066800" y="2362200"/>
          <a:ext cx="6553200" cy="3352800"/>
        </p:xfrm>
        <a:graphic>
          <a:graphicData uri="http://schemas.openxmlformats.org/drawingml/2006/table">
            <a:tbl>
              <a:tblPr/>
              <a:tblGrid>
                <a:gridCol w="327660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tblGrid>
              <a:tr h="4191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800" b="0" i="0" u="none" strike="noStrike" cap="none" normalizeH="0" baseline="0" dirty="0" smtClean="0">
                          <a:ln>
                            <a:noFill/>
                          </a:ln>
                          <a:solidFill>
                            <a:schemeClr val="tx1"/>
                          </a:solidFill>
                          <a:effectLst/>
                          <a:latin typeface="Georgia" panose="02040502050405020303" pitchFamily="18" charset="0"/>
                          <a:cs typeface="Arial" panose="020B0604020202020204" pitchFamily="34" charset="0"/>
                        </a:rPr>
                        <a:t>Assets</a:t>
                      </a:r>
                    </a:p>
                  </a:txBody>
                  <a:tcPr horzOverflow="overflow">
                    <a:lnL w="12700" cap="flat" cmpd="sng" algn="ctr">
                      <a:solidFill>
                        <a:srgbClr val="C4652D"/>
                      </a:solidFill>
                      <a:prstDash val="solid"/>
                      <a:round/>
                      <a:headEnd type="none" w="med" len="med"/>
                      <a:tailEnd type="none" w="med" len="med"/>
                    </a:lnL>
                    <a:lnR w="12700" cap="flat" cmpd="sng" algn="ctr">
                      <a:solidFill>
                        <a:srgbClr val="C4652D"/>
                      </a:solidFill>
                      <a:prstDash val="solid"/>
                      <a:round/>
                      <a:headEnd type="none" w="med" len="med"/>
                      <a:tailEnd type="none" w="med" len="med"/>
                    </a:lnR>
                    <a:lnT w="12700" cap="flat" cmpd="sng" algn="ctr">
                      <a:solidFill>
                        <a:srgbClr val="C4652D"/>
                      </a:solidFill>
                      <a:prstDash val="solid"/>
                      <a:round/>
                      <a:headEnd type="none" w="med" len="med"/>
                      <a:tailEnd type="none" w="med" len="med"/>
                    </a:lnT>
                    <a:lnB w="12700" cap="flat" cmpd="sng" algn="ctr">
                      <a:solidFill>
                        <a:srgbClr val="C4652D"/>
                      </a:solidFill>
                      <a:prstDash val="solid"/>
                      <a:round/>
                      <a:headEnd type="none" w="med" len="med"/>
                      <a:tailEnd type="none" w="med" len="med"/>
                    </a:lnB>
                    <a:lnTlToBr>
                      <a:noFill/>
                    </a:lnTlToBr>
                    <a:lnBlToTr>
                      <a:noFill/>
                    </a:lnBlToTr>
                    <a:solidFill>
                      <a:srgbClr val="C4652D">
                        <a:alpha val="20000"/>
                      </a:srgb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dirty="0" smtClean="0">
                        <a:ln>
                          <a:noFill/>
                        </a:ln>
                        <a:solidFill>
                          <a:schemeClr val="accent4">
                            <a:lumMod val="40000"/>
                            <a:lumOff val="60000"/>
                          </a:schemeClr>
                        </a:solidFill>
                        <a:effectLst/>
                        <a:latin typeface="Georgia" panose="02040502050405020303" pitchFamily="18" charset="0"/>
                        <a:cs typeface="Arial" panose="020B0604020202020204" pitchFamily="34" charset="0"/>
                      </a:endParaRPr>
                    </a:p>
                  </a:txBody>
                  <a:tcPr horzOverflow="overflow">
                    <a:lnL w="12700" cap="flat" cmpd="sng" algn="ctr">
                      <a:solidFill>
                        <a:srgbClr val="C4652D"/>
                      </a:solidFill>
                      <a:prstDash val="solid"/>
                      <a:round/>
                      <a:headEnd type="none" w="med" len="med"/>
                      <a:tailEnd type="none" w="med" len="med"/>
                    </a:lnL>
                    <a:lnR w="12700" cap="flat" cmpd="sng" algn="ctr">
                      <a:solidFill>
                        <a:srgbClr val="C4652D"/>
                      </a:solidFill>
                      <a:prstDash val="solid"/>
                      <a:round/>
                      <a:headEnd type="none" w="med" len="med"/>
                      <a:tailEnd type="none" w="med" len="med"/>
                    </a:lnR>
                    <a:lnT w="12700" cap="flat" cmpd="sng" algn="ctr">
                      <a:solidFill>
                        <a:srgbClr val="C4652D"/>
                      </a:solidFill>
                      <a:prstDash val="solid"/>
                      <a:round/>
                      <a:headEnd type="none" w="med" len="med"/>
                      <a:tailEnd type="none" w="med" len="med"/>
                    </a:lnT>
                    <a:lnB w="12700" cap="flat" cmpd="sng" algn="ctr">
                      <a:solidFill>
                        <a:srgbClr val="C4652D"/>
                      </a:solidFill>
                      <a:prstDash val="solid"/>
                      <a:round/>
                      <a:headEnd type="none" w="med" len="med"/>
                      <a:tailEnd type="none" w="med" len="med"/>
                    </a:lnB>
                    <a:lnTlToBr>
                      <a:noFill/>
                    </a:lnTlToBr>
                    <a:lnBlToTr>
                      <a:noFill/>
                    </a:lnBlToTr>
                    <a:solidFill>
                      <a:srgbClr val="C4652D">
                        <a:alpha val="20000"/>
                      </a:srgb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smtClean="0">
                        <a:ln>
                          <a:noFill/>
                        </a:ln>
                        <a:solidFill>
                          <a:schemeClr val="bg1"/>
                        </a:solidFill>
                        <a:effectLst/>
                        <a:latin typeface="Georgia" panose="02040502050405020303" pitchFamily="18" charset="0"/>
                        <a:cs typeface="Arial" panose="020B0604020202020204" pitchFamily="34" charset="0"/>
                      </a:endParaRPr>
                    </a:p>
                  </a:txBody>
                  <a:tcPr horzOverflow="overflow">
                    <a:lnL w="12700" cap="flat" cmpd="sng" algn="ctr">
                      <a:solidFill>
                        <a:srgbClr val="C4652D"/>
                      </a:solidFill>
                      <a:prstDash val="solid"/>
                      <a:round/>
                      <a:headEnd type="none" w="med" len="med"/>
                      <a:tailEnd type="none" w="med" len="med"/>
                    </a:lnL>
                    <a:lnR w="12700" cap="flat" cmpd="sng" algn="ctr">
                      <a:solidFill>
                        <a:srgbClr val="C4652D"/>
                      </a:solidFill>
                      <a:prstDash val="solid"/>
                      <a:round/>
                      <a:headEnd type="none" w="med" len="med"/>
                      <a:tailEnd type="none" w="med" len="med"/>
                    </a:lnR>
                    <a:lnT w="12700" cap="flat" cmpd="sng" algn="ctr">
                      <a:solidFill>
                        <a:srgbClr val="C4652D"/>
                      </a:solidFill>
                      <a:prstDash val="solid"/>
                      <a:round/>
                      <a:headEnd type="none" w="med" len="med"/>
                      <a:tailEnd type="none" w="med" len="med"/>
                    </a:lnT>
                    <a:lnB w="12700" cap="flat" cmpd="sng" algn="ctr">
                      <a:solidFill>
                        <a:srgbClr val="C4652D"/>
                      </a:solidFill>
                      <a:prstDash val="solid"/>
                      <a:round/>
                      <a:headEnd type="none" w="med" len="med"/>
                      <a:tailEnd type="none" w="med" len="med"/>
                    </a:lnB>
                    <a:lnTlToBr>
                      <a:noFill/>
                    </a:lnTlToBr>
                    <a:lnBlToTr>
                      <a:noFill/>
                    </a:lnBlToTr>
                    <a:solidFill>
                      <a:srgbClr val="C4652D">
                        <a:alpha val="20000"/>
                      </a:srgbClr>
                    </a:solidFill>
                  </a:tcPr>
                </a:tc>
                <a:extLst>
                  <a:ext uri="{0D108BD9-81ED-4DB2-BD59-A6C34878D82A}">
                    <a16:rowId xmlns:a16="http://schemas.microsoft.com/office/drawing/2014/main" val="10000"/>
                  </a:ext>
                </a:extLst>
              </a:tr>
              <a:tr h="4191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800" b="0" i="0" u="none" strike="noStrike" cap="none" normalizeH="0" baseline="0" smtClean="0">
                          <a:ln>
                            <a:noFill/>
                          </a:ln>
                          <a:solidFill>
                            <a:schemeClr val="tx1"/>
                          </a:solidFill>
                          <a:effectLst/>
                          <a:latin typeface="Georgia" panose="02040502050405020303" pitchFamily="18" charset="0"/>
                          <a:cs typeface="Arial" panose="020B0604020202020204" pitchFamily="34" charset="0"/>
                        </a:rPr>
                        <a:t>Liabilities</a:t>
                      </a:r>
                    </a:p>
                  </a:txBody>
                  <a:tcPr horzOverflow="overflow">
                    <a:lnL w="12700" cap="flat" cmpd="sng" algn="ctr">
                      <a:solidFill>
                        <a:srgbClr val="C4652D"/>
                      </a:solidFill>
                      <a:prstDash val="solid"/>
                      <a:round/>
                      <a:headEnd type="none" w="med" len="med"/>
                      <a:tailEnd type="none" w="med" len="med"/>
                    </a:lnL>
                    <a:lnR w="12700" cap="flat" cmpd="sng" algn="ctr">
                      <a:solidFill>
                        <a:srgbClr val="C4652D"/>
                      </a:solidFill>
                      <a:prstDash val="solid"/>
                      <a:round/>
                      <a:headEnd type="none" w="med" len="med"/>
                      <a:tailEnd type="none" w="med" len="med"/>
                    </a:lnR>
                    <a:lnT w="12700" cap="flat" cmpd="sng" algn="ctr">
                      <a:solidFill>
                        <a:srgbClr val="C4652D"/>
                      </a:solidFill>
                      <a:prstDash val="solid"/>
                      <a:round/>
                      <a:headEnd type="none" w="med" len="med"/>
                      <a:tailEnd type="none" w="med" len="med"/>
                    </a:lnT>
                    <a:lnB w="12700" cap="flat" cmpd="sng" algn="ctr">
                      <a:solidFill>
                        <a:srgbClr val="C4652D"/>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dirty="0" smtClean="0">
                        <a:ln>
                          <a:noFill/>
                        </a:ln>
                        <a:solidFill>
                          <a:schemeClr val="bg1"/>
                        </a:solidFill>
                        <a:effectLst/>
                        <a:latin typeface="Georgia" panose="02040502050405020303" pitchFamily="18" charset="0"/>
                        <a:cs typeface="Arial" panose="020B0604020202020204" pitchFamily="34" charset="0"/>
                      </a:endParaRPr>
                    </a:p>
                  </a:txBody>
                  <a:tcPr horzOverflow="overflow">
                    <a:lnL w="12700" cap="flat" cmpd="sng" algn="ctr">
                      <a:solidFill>
                        <a:srgbClr val="C4652D"/>
                      </a:solidFill>
                      <a:prstDash val="solid"/>
                      <a:round/>
                      <a:headEnd type="none" w="med" len="med"/>
                      <a:tailEnd type="none" w="med" len="med"/>
                    </a:lnL>
                    <a:lnR w="12700" cap="flat" cmpd="sng" algn="ctr">
                      <a:solidFill>
                        <a:srgbClr val="C4652D"/>
                      </a:solidFill>
                      <a:prstDash val="solid"/>
                      <a:round/>
                      <a:headEnd type="none" w="med" len="med"/>
                      <a:tailEnd type="none" w="med" len="med"/>
                    </a:lnR>
                    <a:lnT w="12700" cap="flat" cmpd="sng" algn="ctr">
                      <a:solidFill>
                        <a:srgbClr val="C4652D"/>
                      </a:solidFill>
                      <a:prstDash val="solid"/>
                      <a:round/>
                      <a:headEnd type="none" w="med" len="med"/>
                      <a:tailEnd type="none" w="med" len="med"/>
                    </a:lnT>
                    <a:lnB w="12700" cap="flat" cmpd="sng" algn="ctr">
                      <a:solidFill>
                        <a:srgbClr val="C4652D"/>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dirty="0" smtClean="0">
                        <a:ln>
                          <a:noFill/>
                        </a:ln>
                        <a:solidFill>
                          <a:schemeClr val="accent5">
                            <a:lumMod val="20000"/>
                            <a:lumOff val="80000"/>
                          </a:schemeClr>
                        </a:solidFill>
                        <a:effectLst/>
                        <a:latin typeface="Georgia" panose="02040502050405020303" pitchFamily="18" charset="0"/>
                        <a:cs typeface="Arial" panose="020B0604020202020204" pitchFamily="34" charset="0"/>
                      </a:endParaRPr>
                    </a:p>
                  </a:txBody>
                  <a:tcPr horzOverflow="overflow">
                    <a:lnL w="12700" cap="flat" cmpd="sng" algn="ctr">
                      <a:solidFill>
                        <a:srgbClr val="C4652D"/>
                      </a:solidFill>
                      <a:prstDash val="solid"/>
                      <a:round/>
                      <a:headEnd type="none" w="med" len="med"/>
                      <a:tailEnd type="none" w="med" len="med"/>
                    </a:lnL>
                    <a:lnR w="12700" cap="flat" cmpd="sng" algn="ctr">
                      <a:solidFill>
                        <a:srgbClr val="C4652D"/>
                      </a:solidFill>
                      <a:prstDash val="solid"/>
                      <a:round/>
                      <a:headEnd type="none" w="med" len="med"/>
                      <a:tailEnd type="none" w="med" len="med"/>
                    </a:lnR>
                    <a:lnT w="12700" cap="flat" cmpd="sng" algn="ctr">
                      <a:solidFill>
                        <a:srgbClr val="C4652D"/>
                      </a:solidFill>
                      <a:prstDash val="solid"/>
                      <a:round/>
                      <a:headEnd type="none" w="med" len="med"/>
                      <a:tailEnd type="none" w="med" len="med"/>
                    </a:lnT>
                    <a:lnB w="12700" cap="flat" cmpd="sng" algn="ctr">
                      <a:solidFill>
                        <a:srgbClr val="C4652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91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800" b="0" i="0" u="none" strike="noStrike" cap="none" normalizeH="0" baseline="0" dirty="0" smtClean="0">
                          <a:ln>
                            <a:noFill/>
                          </a:ln>
                          <a:solidFill>
                            <a:schemeClr val="tx1"/>
                          </a:solidFill>
                          <a:effectLst/>
                          <a:latin typeface="Georgia" panose="02040502050405020303" pitchFamily="18" charset="0"/>
                          <a:cs typeface="Arial" panose="020B0604020202020204" pitchFamily="34" charset="0"/>
                        </a:rPr>
                        <a:t>Shareholders’ Equity overall</a:t>
                      </a:r>
                    </a:p>
                  </a:txBody>
                  <a:tcPr horzOverflow="overflow">
                    <a:lnL w="12700" cap="flat" cmpd="sng" algn="ctr">
                      <a:solidFill>
                        <a:srgbClr val="C4652D"/>
                      </a:solidFill>
                      <a:prstDash val="solid"/>
                      <a:round/>
                      <a:headEnd type="none" w="med" len="med"/>
                      <a:tailEnd type="none" w="med" len="med"/>
                    </a:lnL>
                    <a:lnR w="12700" cap="flat" cmpd="sng" algn="ctr">
                      <a:solidFill>
                        <a:srgbClr val="C4652D"/>
                      </a:solidFill>
                      <a:prstDash val="solid"/>
                      <a:round/>
                      <a:headEnd type="none" w="med" len="med"/>
                      <a:tailEnd type="none" w="med" len="med"/>
                    </a:lnR>
                    <a:lnT w="12700" cap="flat" cmpd="sng" algn="ctr">
                      <a:solidFill>
                        <a:srgbClr val="C4652D"/>
                      </a:solidFill>
                      <a:prstDash val="solid"/>
                      <a:round/>
                      <a:headEnd type="none" w="med" len="med"/>
                      <a:tailEnd type="none" w="med" len="med"/>
                    </a:lnT>
                    <a:lnB w="12700" cap="flat" cmpd="sng" algn="ctr">
                      <a:solidFill>
                        <a:srgbClr val="C4652D"/>
                      </a:solidFill>
                      <a:prstDash val="solid"/>
                      <a:round/>
                      <a:headEnd type="none" w="med" len="med"/>
                      <a:tailEnd type="none" w="med" len="med"/>
                    </a:lnB>
                    <a:lnTlToBr>
                      <a:noFill/>
                    </a:lnTlToBr>
                    <a:lnBlToTr>
                      <a:noFill/>
                    </a:lnBlToTr>
                    <a:solidFill>
                      <a:srgbClr val="C4652D">
                        <a:alpha val="20000"/>
                      </a:srgb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dirty="0" smtClean="0">
                        <a:ln>
                          <a:noFill/>
                        </a:ln>
                        <a:solidFill>
                          <a:schemeClr val="bg1"/>
                        </a:solidFill>
                        <a:effectLst/>
                        <a:latin typeface="Georgia" panose="02040502050405020303" pitchFamily="18" charset="0"/>
                        <a:cs typeface="Arial" panose="020B0604020202020204" pitchFamily="34" charset="0"/>
                      </a:endParaRPr>
                    </a:p>
                  </a:txBody>
                  <a:tcPr horzOverflow="overflow">
                    <a:lnL w="12700" cap="flat" cmpd="sng" algn="ctr">
                      <a:solidFill>
                        <a:srgbClr val="C4652D"/>
                      </a:solidFill>
                      <a:prstDash val="solid"/>
                      <a:round/>
                      <a:headEnd type="none" w="med" len="med"/>
                      <a:tailEnd type="none" w="med" len="med"/>
                    </a:lnL>
                    <a:lnR w="12700" cap="flat" cmpd="sng" algn="ctr">
                      <a:solidFill>
                        <a:srgbClr val="C4652D"/>
                      </a:solidFill>
                      <a:prstDash val="solid"/>
                      <a:round/>
                      <a:headEnd type="none" w="med" len="med"/>
                      <a:tailEnd type="none" w="med" len="med"/>
                    </a:lnR>
                    <a:lnT w="12700" cap="flat" cmpd="sng" algn="ctr">
                      <a:solidFill>
                        <a:srgbClr val="C4652D"/>
                      </a:solidFill>
                      <a:prstDash val="solid"/>
                      <a:round/>
                      <a:headEnd type="none" w="med" len="med"/>
                      <a:tailEnd type="none" w="med" len="med"/>
                    </a:lnT>
                    <a:lnB w="12700" cap="flat" cmpd="sng" algn="ctr">
                      <a:solidFill>
                        <a:srgbClr val="C4652D"/>
                      </a:solidFill>
                      <a:prstDash val="solid"/>
                      <a:round/>
                      <a:headEnd type="none" w="med" len="med"/>
                      <a:tailEnd type="none" w="med" len="med"/>
                    </a:lnB>
                    <a:lnTlToBr>
                      <a:noFill/>
                    </a:lnTlToBr>
                    <a:lnBlToTr>
                      <a:noFill/>
                    </a:lnBlToTr>
                    <a:solidFill>
                      <a:srgbClr val="C4652D">
                        <a:alpha val="20000"/>
                      </a:srgb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dirty="0" smtClean="0">
                        <a:ln>
                          <a:noFill/>
                        </a:ln>
                        <a:solidFill>
                          <a:schemeClr val="accent4">
                            <a:lumMod val="40000"/>
                            <a:lumOff val="60000"/>
                          </a:schemeClr>
                        </a:solidFill>
                        <a:effectLst/>
                        <a:latin typeface="Georgia" panose="02040502050405020303" pitchFamily="18" charset="0"/>
                        <a:cs typeface="Arial" panose="020B0604020202020204" pitchFamily="34" charset="0"/>
                      </a:endParaRPr>
                    </a:p>
                  </a:txBody>
                  <a:tcPr horzOverflow="overflow">
                    <a:lnL w="12700" cap="flat" cmpd="sng" algn="ctr">
                      <a:solidFill>
                        <a:srgbClr val="C4652D"/>
                      </a:solidFill>
                      <a:prstDash val="solid"/>
                      <a:round/>
                      <a:headEnd type="none" w="med" len="med"/>
                      <a:tailEnd type="none" w="med" len="med"/>
                    </a:lnL>
                    <a:lnR w="12700" cap="flat" cmpd="sng" algn="ctr">
                      <a:solidFill>
                        <a:srgbClr val="C4652D"/>
                      </a:solidFill>
                      <a:prstDash val="solid"/>
                      <a:round/>
                      <a:headEnd type="none" w="med" len="med"/>
                      <a:tailEnd type="none" w="med" len="med"/>
                    </a:lnR>
                    <a:lnT w="12700" cap="flat" cmpd="sng" algn="ctr">
                      <a:solidFill>
                        <a:srgbClr val="C4652D"/>
                      </a:solidFill>
                      <a:prstDash val="solid"/>
                      <a:round/>
                      <a:headEnd type="none" w="med" len="med"/>
                      <a:tailEnd type="none" w="med" len="med"/>
                    </a:lnT>
                    <a:lnB w="12700" cap="flat" cmpd="sng" algn="ctr">
                      <a:solidFill>
                        <a:srgbClr val="C4652D"/>
                      </a:solidFill>
                      <a:prstDash val="solid"/>
                      <a:round/>
                      <a:headEnd type="none" w="med" len="med"/>
                      <a:tailEnd type="none" w="med" len="med"/>
                    </a:lnB>
                    <a:lnTlToBr>
                      <a:noFill/>
                    </a:lnTlToBr>
                    <a:lnBlToTr>
                      <a:noFill/>
                    </a:lnBlToTr>
                    <a:solidFill>
                      <a:srgbClr val="C4652D">
                        <a:alpha val="20000"/>
                      </a:srgbClr>
                    </a:solidFill>
                  </a:tcPr>
                </a:tc>
                <a:extLst>
                  <a:ext uri="{0D108BD9-81ED-4DB2-BD59-A6C34878D82A}">
                    <a16:rowId xmlns:a16="http://schemas.microsoft.com/office/drawing/2014/main" val="10002"/>
                  </a:ext>
                </a:extLst>
              </a:tr>
              <a:tr h="4191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800" b="0" i="0" u="none" strike="noStrike" cap="none" normalizeH="0" baseline="0" dirty="0" smtClean="0">
                          <a:ln>
                            <a:noFill/>
                          </a:ln>
                          <a:solidFill>
                            <a:schemeClr val="tx1"/>
                          </a:solidFill>
                          <a:effectLst/>
                          <a:latin typeface="Georgia" panose="02040502050405020303" pitchFamily="18" charset="0"/>
                          <a:cs typeface="Arial" panose="020B0604020202020204" pitchFamily="34" charset="0"/>
                        </a:rPr>
                        <a:t>Share capital</a:t>
                      </a:r>
                    </a:p>
                  </a:txBody>
                  <a:tcPr horzOverflow="overflow">
                    <a:lnL w="12700" cap="flat" cmpd="sng" algn="ctr">
                      <a:solidFill>
                        <a:srgbClr val="C4652D"/>
                      </a:solidFill>
                      <a:prstDash val="solid"/>
                      <a:round/>
                      <a:headEnd type="none" w="med" len="med"/>
                      <a:tailEnd type="none" w="med" len="med"/>
                    </a:lnL>
                    <a:lnR w="12700" cap="flat" cmpd="sng" algn="ctr">
                      <a:solidFill>
                        <a:srgbClr val="C4652D"/>
                      </a:solidFill>
                      <a:prstDash val="solid"/>
                      <a:round/>
                      <a:headEnd type="none" w="med" len="med"/>
                      <a:tailEnd type="none" w="med" len="med"/>
                    </a:lnR>
                    <a:lnT w="12700" cap="flat" cmpd="sng" algn="ctr">
                      <a:solidFill>
                        <a:srgbClr val="C4652D"/>
                      </a:solidFill>
                      <a:prstDash val="solid"/>
                      <a:round/>
                      <a:headEnd type="none" w="med" len="med"/>
                      <a:tailEnd type="none" w="med" len="med"/>
                    </a:lnT>
                    <a:lnB w="12700" cap="flat" cmpd="sng" algn="ctr">
                      <a:solidFill>
                        <a:srgbClr val="C4652D"/>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dirty="0" smtClean="0">
                        <a:ln>
                          <a:noFill/>
                        </a:ln>
                        <a:solidFill>
                          <a:schemeClr val="bg1"/>
                        </a:solidFill>
                        <a:effectLst/>
                        <a:latin typeface="Georgia" panose="02040502050405020303" pitchFamily="18" charset="0"/>
                        <a:cs typeface="Arial" panose="020B0604020202020204" pitchFamily="34" charset="0"/>
                      </a:endParaRPr>
                    </a:p>
                  </a:txBody>
                  <a:tcPr horzOverflow="overflow">
                    <a:lnL w="12700" cap="flat" cmpd="sng" algn="ctr">
                      <a:solidFill>
                        <a:srgbClr val="C4652D"/>
                      </a:solidFill>
                      <a:prstDash val="solid"/>
                      <a:round/>
                      <a:headEnd type="none" w="med" len="med"/>
                      <a:tailEnd type="none" w="med" len="med"/>
                    </a:lnL>
                    <a:lnR w="12700" cap="flat" cmpd="sng" algn="ctr">
                      <a:solidFill>
                        <a:srgbClr val="C4652D"/>
                      </a:solidFill>
                      <a:prstDash val="solid"/>
                      <a:round/>
                      <a:headEnd type="none" w="med" len="med"/>
                      <a:tailEnd type="none" w="med" len="med"/>
                    </a:lnR>
                    <a:lnT w="12700" cap="flat" cmpd="sng" algn="ctr">
                      <a:solidFill>
                        <a:srgbClr val="C4652D"/>
                      </a:solidFill>
                      <a:prstDash val="solid"/>
                      <a:round/>
                      <a:headEnd type="none" w="med" len="med"/>
                      <a:tailEnd type="none" w="med" len="med"/>
                    </a:lnT>
                    <a:lnB w="12700" cap="flat" cmpd="sng" algn="ctr">
                      <a:solidFill>
                        <a:srgbClr val="C4652D"/>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dirty="0" smtClean="0">
                        <a:ln>
                          <a:noFill/>
                        </a:ln>
                        <a:solidFill>
                          <a:schemeClr val="accent5">
                            <a:lumMod val="20000"/>
                            <a:lumOff val="80000"/>
                          </a:schemeClr>
                        </a:solidFill>
                        <a:effectLst/>
                        <a:latin typeface="Georgia" panose="02040502050405020303" pitchFamily="18" charset="0"/>
                        <a:cs typeface="Arial" panose="020B0604020202020204" pitchFamily="34" charset="0"/>
                      </a:endParaRPr>
                    </a:p>
                  </a:txBody>
                  <a:tcPr horzOverflow="overflow">
                    <a:lnL w="12700" cap="flat" cmpd="sng" algn="ctr">
                      <a:solidFill>
                        <a:srgbClr val="C4652D"/>
                      </a:solidFill>
                      <a:prstDash val="solid"/>
                      <a:round/>
                      <a:headEnd type="none" w="med" len="med"/>
                      <a:tailEnd type="none" w="med" len="med"/>
                    </a:lnL>
                    <a:lnR w="12700" cap="flat" cmpd="sng" algn="ctr">
                      <a:solidFill>
                        <a:srgbClr val="C4652D"/>
                      </a:solidFill>
                      <a:prstDash val="solid"/>
                      <a:round/>
                      <a:headEnd type="none" w="med" len="med"/>
                      <a:tailEnd type="none" w="med" len="med"/>
                    </a:lnR>
                    <a:lnT w="12700" cap="flat" cmpd="sng" algn="ctr">
                      <a:solidFill>
                        <a:srgbClr val="C4652D"/>
                      </a:solidFill>
                      <a:prstDash val="solid"/>
                      <a:round/>
                      <a:headEnd type="none" w="med" len="med"/>
                      <a:tailEnd type="none" w="med" len="med"/>
                    </a:lnT>
                    <a:lnB w="12700" cap="flat" cmpd="sng" algn="ctr">
                      <a:solidFill>
                        <a:srgbClr val="C4652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91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800" b="0" i="0" u="none" strike="noStrike" cap="none" normalizeH="0" baseline="0" smtClean="0">
                          <a:ln>
                            <a:noFill/>
                          </a:ln>
                          <a:solidFill>
                            <a:schemeClr val="tx1"/>
                          </a:solidFill>
                          <a:effectLst/>
                          <a:latin typeface="Georgia" panose="02040502050405020303" pitchFamily="18" charset="0"/>
                          <a:cs typeface="Arial" panose="020B0604020202020204" pitchFamily="34" charset="0"/>
                        </a:rPr>
                        <a:t>  Retained earnings</a:t>
                      </a:r>
                    </a:p>
                  </a:txBody>
                  <a:tcPr horzOverflow="overflow">
                    <a:lnL w="12700" cap="flat" cmpd="sng" algn="ctr">
                      <a:solidFill>
                        <a:srgbClr val="C4652D"/>
                      </a:solidFill>
                      <a:prstDash val="solid"/>
                      <a:round/>
                      <a:headEnd type="none" w="med" len="med"/>
                      <a:tailEnd type="none" w="med" len="med"/>
                    </a:lnL>
                    <a:lnR w="12700" cap="flat" cmpd="sng" algn="ctr">
                      <a:solidFill>
                        <a:srgbClr val="C4652D"/>
                      </a:solidFill>
                      <a:prstDash val="solid"/>
                      <a:round/>
                      <a:headEnd type="none" w="med" len="med"/>
                      <a:tailEnd type="none" w="med" len="med"/>
                    </a:lnR>
                    <a:lnT w="12700" cap="flat" cmpd="sng" algn="ctr">
                      <a:solidFill>
                        <a:srgbClr val="C4652D"/>
                      </a:solidFill>
                      <a:prstDash val="solid"/>
                      <a:round/>
                      <a:headEnd type="none" w="med" len="med"/>
                      <a:tailEnd type="none" w="med" len="med"/>
                    </a:lnT>
                    <a:lnB w="12700" cap="flat" cmpd="sng" algn="ctr">
                      <a:solidFill>
                        <a:srgbClr val="C4652D"/>
                      </a:solidFill>
                      <a:prstDash val="solid"/>
                      <a:round/>
                      <a:headEnd type="none" w="med" len="med"/>
                      <a:tailEnd type="none" w="med" len="med"/>
                    </a:lnB>
                    <a:lnTlToBr>
                      <a:noFill/>
                    </a:lnTlToBr>
                    <a:lnBlToTr>
                      <a:noFill/>
                    </a:lnBlToTr>
                    <a:solidFill>
                      <a:srgbClr val="C4652D">
                        <a:alpha val="20000"/>
                      </a:srgb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dirty="0" smtClean="0">
                        <a:ln>
                          <a:noFill/>
                        </a:ln>
                        <a:solidFill>
                          <a:schemeClr val="bg1"/>
                        </a:solidFill>
                        <a:effectLst/>
                        <a:latin typeface="Georgia" panose="02040502050405020303" pitchFamily="18" charset="0"/>
                        <a:cs typeface="Arial" panose="020B0604020202020204" pitchFamily="34" charset="0"/>
                      </a:endParaRPr>
                    </a:p>
                  </a:txBody>
                  <a:tcPr horzOverflow="overflow">
                    <a:lnL w="12700" cap="flat" cmpd="sng" algn="ctr">
                      <a:solidFill>
                        <a:srgbClr val="C4652D"/>
                      </a:solidFill>
                      <a:prstDash val="solid"/>
                      <a:round/>
                      <a:headEnd type="none" w="med" len="med"/>
                      <a:tailEnd type="none" w="med" len="med"/>
                    </a:lnL>
                    <a:lnR w="12700" cap="flat" cmpd="sng" algn="ctr">
                      <a:solidFill>
                        <a:srgbClr val="C4652D"/>
                      </a:solidFill>
                      <a:prstDash val="solid"/>
                      <a:round/>
                      <a:headEnd type="none" w="med" len="med"/>
                      <a:tailEnd type="none" w="med" len="med"/>
                    </a:lnR>
                    <a:lnT w="12700" cap="flat" cmpd="sng" algn="ctr">
                      <a:solidFill>
                        <a:srgbClr val="C4652D"/>
                      </a:solidFill>
                      <a:prstDash val="solid"/>
                      <a:round/>
                      <a:headEnd type="none" w="med" len="med"/>
                      <a:tailEnd type="none" w="med" len="med"/>
                    </a:lnT>
                    <a:lnB w="12700" cap="flat" cmpd="sng" algn="ctr">
                      <a:solidFill>
                        <a:srgbClr val="C4652D"/>
                      </a:solidFill>
                      <a:prstDash val="solid"/>
                      <a:round/>
                      <a:headEnd type="none" w="med" len="med"/>
                      <a:tailEnd type="none" w="med" len="med"/>
                    </a:lnB>
                    <a:lnTlToBr>
                      <a:noFill/>
                    </a:lnTlToBr>
                    <a:lnBlToTr>
                      <a:noFill/>
                    </a:lnBlToTr>
                    <a:solidFill>
                      <a:srgbClr val="C4652D">
                        <a:alpha val="20000"/>
                      </a:srgb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dirty="0" smtClean="0">
                        <a:ln>
                          <a:noFill/>
                        </a:ln>
                        <a:solidFill>
                          <a:schemeClr val="accent4">
                            <a:lumMod val="40000"/>
                            <a:lumOff val="60000"/>
                          </a:schemeClr>
                        </a:solidFill>
                        <a:effectLst/>
                        <a:latin typeface="Georgia" panose="02040502050405020303" pitchFamily="18" charset="0"/>
                        <a:cs typeface="Arial" panose="020B0604020202020204" pitchFamily="34" charset="0"/>
                      </a:endParaRPr>
                    </a:p>
                  </a:txBody>
                  <a:tcPr horzOverflow="overflow">
                    <a:lnL w="12700" cap="flat" cmpd="sng" algn="ctr">
                      <a:solidFill>
                        <a:srgbClr val="C4652D"/>
                      </a:solidFill>
                      <a:prstDash val="solid"/>
                      <a:round/>
                      <a:headEnd type="none" w="med" len="med"/>
                      <a:tailEnd type="none" w="med" len="med"/>
                    </a:lnL>
                    <a:lnR w="12700" cap="flat" cmpd="sng" algn="ctr">
                      <a:solidFill>
                        <a:srgbClr val="C4652D"/>
                      </a:solidFill>
                      <a:prstDash val="solid"/>
                      <a:round/>
                      <a:headEnd type="none" w="med" len="med"/>
                      <a:tailEnd type="none" w="med" len="med"/>
                    </a:lnR>
                    <a:lnT w="12700" cap="flat" cmpd="sng" algn="ctr">
                      <a:solidFill>
                        <a:srgbClr val="C4652D"/>
                      </a:solidFill>
                      <a:prstDash val="solid"/>
                      <a:round/>
                      <a:headEnd type="none" w="med" len="med"/>
                      <a:tailEnd type="none" w="med" len="med"/>
                    </a:lnT>
                    <a:lnB w="12700" cap="flat" cmpd="sng" algn="ctr">
                      <a:solidFill>
                        <a:srgbClr val="C4652D"/>
                      </a:solidFill>
                      <a:prstDash val="solid"/>
                      <a:round/>
                      <a:headEnd type="none" w="med" len="med"/>
                      <a:tailEnd type="none" w="med" len="med"/>
                    </a:lnB>
                    <a:lnTlToBr>
                      <a:noFill/>
                    </a:lnTlToBr>
                    <a:lnBlToTr>
                      <a:noFill/>
                    </a:lnBlToTr>
                    <a:solidFill>
                      <a:srgbClr val="C4652D">
                        <a:alpha val="20000"/>
                      </a:srgbClr>
                    </a:solidFill>
                  </a:tcPr>
                </a:tc>
                <a:extLst>
                  <a:ext uri="{0D108BD9-81ED-4DB2-BD59-A6C34878D82A}">
                    <a16:rowId xmlns:a16="http://schemas.microsoft.com/office/drawing/2014/main" val="10004"/>
                  </a:ext>
                </a:extLst>
              </a:tr>
              <a:tr h="4191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800" b="0" i="0" u="none" strike="noStrike" cap="none" normalizeH="0" baseline="0" smtClean="0">
                          <a:ln>
                            <a:noFill/>
                          </a:ln>
                          <a:solidFill>
                            <a:schemeClr val="tx1"/>
                          </a:solidFill>
                          <a:effectLst/>
                          <a:latin typeface="Georgia" panose="02040502050405020303" pitchFamily="18" charset="0"/>
                          <a:cs typeface="Arial" panose="020B0604020202020204" pitchFamily="34" charset="0"/>
                        </a:rPr>
                        <a:t>  Dividends</a:t>
                      </a:r>
                    </a:p>
                  </a:txBody>
                  <a:tcPr horzOverflow="overflow">
                    <a:lnL w="12700" cap="flat" cmpd="sng" algn="ctr">
                      <a:solidFill>
                        <a:srgbClr val="C4652D"/>
                      </a:solidFill>
                      <a:prstDash val="solid"/>
                      <a:round/>
                      <a:headEnd type="none" w="med" len="med"/>
                      <a:tailEnd type="none" w="med" len="med"/>
                    </a:lnL>
                    <a:lnR w="12700" cap="flat" cmpd="sng" algn="ctr">
                      <a:solidFill>
                        <a:srgbClr val="C4652D"/>
                      </a:solidFill>
                      <a:prstDash val="solid"/>
                      <a:round/>
                      <a:headEnd type="none" w="med" len="med"/>
                      <a:tailEnd type="none" w="med" len="med"/>
                    </a:lnR>
                    <a:lnT w="12700" cap="flat" cmpd="sng" algn="ctr">
                      <a:solidFill>
                        <a:srgbClr val="C4652D"/>
                      </a:solidFill>
                      <a:prstDash val="solid"/>
                      <a:round/>
                      <a:headEnd type="none" w="med" len="med"/>
                      <a:tailEnd type="none" w="med" len="med"/>
                    </a:lnT>
                    <a:lnB w="12700" cap="flat" cmpd="sng" algn="ctr">
                      <a:solidFill>
                        <a:srgbClr val="C4652D"/>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dirty="0" smtClean="0">
                        <a:ln>
                          <a:noFill/>
                        </a:ln>
                        <a:solidFill>
                          <a:schemeClr val="accent5">
                            <a:lumMod val="20000"/>
                            <a:lumOff val="80000"/>
                          </a:schemeClr>
                        </a:solidFill>
                        <a:effectLst/>
                        <a:latin typeface="Georgia" panose="02040502050405020303" pitchFamily="18" charset="0"/>
                        <a:cs typeface="Arial" panose="020B0604020202020204" pitchFamily="34" charset="0"/>
                      </a:endParaRPr>
                    </a:p>
                  </a:txBody>
                  <a:tcPr horzOverflow="overflow">
                    <a:lnL w="12700" cap="flat" cmpd="sng" algn="ctr">
                      <a:solidFill>
                        <a:srgbClr val="C4652D"/>
                      </a:solidFill>
                      <a:prstDash val="solid"/>
                      <a:round/>
                      <a:headEnd type="none" w="med" len="med"/>
                      <a:tailEnd type="none" w="med" len="med"/>
                    </a:lnL>
                    <a:lnR w="12700" cap="flat" cmpd="sng" algn="ctr">
                      <a:solidFill>
                        <a:srgbClr val="C4652D"/>
                      </a:solidFill>
                      <a:prstDash val="solid"/>
                      <a:round/>
                      <a:headEnd type="none" w="med" len="med"/>
                      <a:tailEnd type="none" w="med" len="med"/>
                    </a:lnR>
                    <a:lnT w="12700" cap="flat" cmpd="sng" algn="ctr">
                      <a:solidFill>
                        <a:srgbClr val="C4652D"/>
                      </a:solidFill>
                      <a:prstDash val="solid"/>
                      <a:round/>
                      <a:headEnd type="none" w="med" len="med"/>
                      <a:tailEnd type="none" w="med" len="med"/>
                    </a:lnT>
                    <a:lnB w="12700" cap="flat" cmpd="sng" algn="ctr">
                      <a:solidFill>
                        <a:srgbClr val="C4652D"/>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dirty="0" smtClean="0">
                        <a:ln>
                          <a:noFill/>
                        </a:ln>
                        <a:solidFill>
                          <a:schemeClr val="bg1"/>
                        </a:solidFill>
                        <a:effectLst/>
                        <a:latin typeface="Georgia" panose="02040502050405020303" pitchFamily="18" charset="0"/>
                        <a:cs typeface="Arial" panose="020B0604020202020204" pitchFamily="34" charset="0"/>
                      </a:endParaRPr>
                    </a:p>
                  </a:txBody>
                  <a:tcPr horzOverflow="overflow">
                    <a:lnL w="12700" cap="flat" cmpd="sng" algn="ctr">
                      <a:solidFill>
                        <a:srgbClr val="C4652D"/>
                      </a:solidFill>
                      <a:prstDash val="solid"/>
                      <a:round/>
                      <a:headEnd type="none" w="med" len="med"/>
                      <a:tailEnd type="none" w="med" len="med"/>
                    </a:lnL>
                    <a:lnR w="12700" cap="flat" cmpd="sng" algn="ctr">
                      <a:solidFill>
                        <a:srgbClr val="C4652D"/>
                      </a:solidFill>
                      <a:prstDash val="solid"/>
                      <a:round/>
                      <a:headEnd type="none" w="med" len="med"/>
                      <a:tailEnd type="none" w="med" len="med"/>
                    </a:lnR>
                    <a:lnT w="12700" cap="flat" cmpd="sng" algn="ctr">
                      <a:solidFill>
                        <a:srgbClr val="C4652D"/>
                      </a:solidFill>
                      <a:prstDash val="solid"/>
                      <a:round/>
                      <a:headEnd type="none" w="med" len="med"/>
                      <a:tailEnd type="none" w="med" len="med"/>
                    </a:lnT>
                    <a:lnB w="12700" cap="flat" cmpd="sng" algn="ctr">
                      <a:solidFill>
                        <a:srgbClr val="C4652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191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800" b="0" i="0" u="none" strike="noStrike" cap="none" normalizeH="0" baseline="0" smtClean="0">
                          <a:ln>
                            <a:noFill/>
                          </a:ln>
                          <a:solidFill>
                            <a:schemeClr val="tx1"/>
                          </a:solidFill>
                          <a:effectLst/>
                          <a:latin typeface="Georgia" panose="02040502050405020303" pitchFamily="18" charset="0"/>
                          <a:cs typeface="Arial" panose="020B0604020202020204" pitchFamily="34" charset="0"/>
                        </a:rPr>
                        <a:t>  Revenues</a:t>
                      </a:r>
                    </a:p>
                  </a:txBody>
                  <a:tcPr horzOverflow="overflow">
                    <a:lnL w="12700" cap="flat" cmpd="sng" algn="ctr">
                      <a:solidFill>
                        <a:srgbClr val="C4652D"/>
                      </a:solidFill>
                      <a:prstDash val="solid"/>
                      <a:round/>
                      <a:headEnd type="none" w="med" len="med"/>
                      <a:tailEnd type="none" w="med" len="med"/>
                    </a:lnL>
                    <a:lnR w="12700" cap="flat" cmpd="sng" algn="ctr">
                      <a:solidFill>
                        <a:srgbClr val="C4652D"/>
                      </a:solidFill>
                      <a:prstDash val="solid"/>
                      <a:round/>
                      <a:headEnd type="none" w="med" len="med"/>
                      <a:tailEnd type="none" w="med" len="med"/>
                    </a:lnR>
                    <a:lnT w="12700" cap="flat" cmpd="sng" algn="ctr">
                      <a:solidFill>
                        <a:srgbClr val="C4652D"/>
                      </a:solidFill>
                      <a:prstDash val="solid"/>
                      <a:round/>
                      <a:headEnd type="none" w="med" len="med"/>
                      <a:tailEnd type="none" w="med" len="med"/>
                    </a:lnT>
                    <a:lnB w="12700" cap="flat" cmpd="sng" algn="ctr">
                      <a:solidFill>
                        <a:srgbClr val="C4652D"/>
                      </a:solidFill>
                      <a:prstDash val="solid"/>
                      <a:round/>
                      <a:headEnd type="none" w="med" len="med"/>
                      <a:tailEnd type="none" w="med" len="med"/>
                    </a:lnB>
                    <a:lnTlToBr>
                      <a:noFill/>
                    </a:lnTlToBr>
                    <a:lnBlToTr>
                      <a:noFill/>
                    </a:lnBlToTr>
                    <a:solidFill>
                      <a:srgbClr val="C4652D">
                        <a:alpha val="20000"/>
                      </a:srgb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smtClean="0">
                        <a:ln>
                          <a:noFill/>
                        </a:ln>
                        <a:solidFill>
                          <a:schemeClr val="bg1"/>
                        </a:solidFill>
                        <a:effectLst/>
                        <a:latin typeface="Georgia" panose="02040502050405020303" pitchFamily="18" charset="0"/>
                        <a:cs typeface="Arial" panose="020B0604020202020204" pitchFamily="34" charset="0"/>
                      </a:endParaRPr>
                    </a:p>
                  </a:txBody>
                  <a:tcPr horzOverflow="overflow">
                    <a:lnL w="12700" cap="flat" cmpd="sng" algn="ctr">
                      <a:solidFill>
                        <a:srgbClr val="C4652D"/>
                      </a:solidFill>
                      <a:prstDash val="solid"/>
                      <a:round/>
                      <a:headEnd type="none" w="med" len="med"/>
                      <a:tailEnd type="none" w="med" len="med"/>
                    </a:lnL>
                    <a:lnR w="12700" cap="flat" cmpd="sng" algn="ctr">
                      <a:solidFill>
                        <a:srgbClr val="C4652D"/>
                      </a:solidFill>
                      <a:prstDash val="solid"/>
                      <a:round/>
                      <a:headEnd type="none" w="med" len="med"/>
                      <a:tailEnd type="none" w="med" len="med"/>
                    </a:lnR>
                    <a:lnT w="12700" cap="flat" cmpd="sng" algn="ctr">
                      <a:solidFill>
                        <a:srgbClr val="C4652D"/>
                      </a:solidFill>
                      <a:prstDash val="solid"/>
                      <a:round/>
                      <a:headEnd type="none" w="med" len="med"/>
                      <a:tailEnd type="none" w="med" len="med"/>
                    </a:lnT>
                    <a:lnB w="12700" cap="flat" cmpd="sng" algn="ctr">
                      <a:solidFill>
                        <a:srgbClr val="C4652D"/>
                      </a:solidFill>
                      <a:prstDash val="solid"/>
                      <a:round/>
                      <a:headEnd type="none" w="med" len="med"/>
                      <a:tailEnd type="none" w="med" len="med"/>
                    </a:lnB>
                    <a:lnTlToBr>
                      <a:noFill/>
                    </a:lnTlToBr>
                    <a:lnBlToTr>
                      <a:noFill/>
                    </a:lnBlToTr>
                    <a:solidFill>
                      <a:srgbClr val="C4652D">
                        <a:alpha val="20000"/>
                      </a:srgb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dirty="0" smtClean="0">
                        <a:ln>
                          <a:noFill/>
                        </a:ln>
                        <a:solidFill>
                          <a:schemeClr val="accent4">
                            <a:lumMod val="40000"/>
                            <a:lumOff val="60000"/>
                          </a:schemeClr>
                        </a:solidFill>
                        <a:effectLst/>
                        <a:latin typeface="Georgia" panose="02040502050405020303" pitchFamily="18" charset="0"/>
                        <a:cs typeface="Arial" panose="020B0604020202020204" pitchFamily="34" charset="0"/>
                      </a:endParaRPr>
                    </a:p>
                  </a:txBody>
                  <a:tcPr horzOverflow="overflow">
                    <a:lnL w="12700" cap="flat" cmpd="sng" algn="ctr">
                      <a:solidFill>
                        <a:srgbClr val="C4652D"/>
                      </a:solidFill>
                      <a:prstDash val="solid"/>
                      <a:round/>
                      <a:headEnd type="none" w="med" len="med"/>
                      <a:tailEnd type="none" w="med" len="med"/>
                    </a:lnL>
                    <a:lnR w="12700" cap="flat" cmpd="sng" algn="ctr">
                      <a:solidFill>
                        <a:srgbClr val="C4652D"/>
                      </a:solidFill>
                      <a:prstDash val="solid"/>
                      <a:round/>
                      <a:headEnd type="none" w="med" len="med"/>
                      <a:tailEnd type="none" w="med" len="med"/>
                    </a:lnR>
                    <a:lnT w="12700" cap="flat" cmpd="sng" algn="ctr">
                      <a:solidFill>
                        <a:srgbClr val="C4652D"/>
                      </a:solidFill>
                      <a:prstDash val="solid"/>
                      <a:round/>
                      <a:headEnd type="none" w="med" len="med"/>
                      <a:tailEnd type="none" w="med" len="med"/>
                    </a:lnT>
                    <a:lnB w="12700" cap="flat" cmpd="sng" algn="ctr">
                      <a:solidFill>
                        <a:srgbClr val="C4652D"/>
                      </a:solidFill>
                      <a:prstDash val="solid"/>
                      <a:round/>
                      <a:headEnd type="none" w="med" len="med"/>
                      <a:tailEnd type="none" w="med" len="med"/>
                    </a:lnB>
                    <a:lnTlToBr>
                      <a:noFill/>
                    </a:lnTlToBr>
                    <a:lnBlToTr>
                      <a:noFill/>
                    </a:lnBlToTr>
                    <a:solidFill>
                      <a:srgbClr val="C4652D">
                        <a:alpha val="20000"/>
                      </a:srgbClr>
                    </a:solidFill>
                  </a:tcPr>
                </a:tc>
                <a:extLst>
                  <a:ext uri="{0D108BD9-81ED-4DB2-BD59-A6C34878D82A}">
                    <a16:rowId xmlns:a16="http://schemas.microsoft.com/office/drawing/2014/main" val="10006"/>
                  </a:ext>
                </a:extLst>
              </a:tr>
              <a:tr h="4191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800" b="0" i="0" u="none" strike="noStrike" cap="none" normalizeH="0" baseline="0" smtClean="0">
                          <a:ln>
                            <a:noFill/>
                          </a:ln>
                          <a:solidFill>
                            <a:schemeClr val="tx1"/>
                          </a:solidFill>
                          <a:effectLst/>
                          <a:latin typeface="Georgia" panose="02040502050405020303" pitchFamily="18" charset="0"/>
                          <a:cs typeface="Arial" panose="020B0604020202020204" pitchFamily="34" charset="0"/>
                        </a:rPr>
                        <a:t>  Expenses</a:t>
                      </a:r>
                    </a:p>
                  </a:txBody>
                  <a:tcPr horzOverflow="overflow">
                    <a:lnL w="12700" cap="flat" cmpd="sng" algn="ctr">
                      <a:solidFill>
                        <a:srgbClr val="C4652D"/>
                      </a:solidFill>
                      <a:prstDash val="solid"/>
                      <a:round/>
                      <a:headEnd type="none" w="med" len="med"/>
                      <a:tailEnd type="none" w="med" len="med"/>
                    </a:lnL>
                    <a:lnR w="12700" cap="flat" cmpd="sng" algn="ctr">
                      <a:solidFill>
                        <a:srgbClr val="C4652D"/>
                      </a:solidFill>
                      <a:prstDash val="solid"/>
                      <a:round/>
                      <a:headEnd type="none" w="med" len="med"/>
                      <a:tailEnd type="none" w="med" len="med"/>
                    </a:lnR>
                    <a:lnT w="12700" cap="flat" cmpd="sng" algn="ctr">
                      <a:solidFill>
                        <a:srgbClr val="C4652D"/>
                      </a:solidFill>
                      <a:prstDash val="solid"/>
                      <a:round/>
                      <a:headEnd type="none" w="med" len="med"/>
                      <a:tailEnd type="none" w="med" len="med"/>
                    </a:lnT>
                    <a:lnB w="12700" cap="flat" cmpd="sng" algn="ctr">
                      <a:solidFill>
                        <a:srgbClr val="C4652D"/>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dirty="0" smtClean="0">
                        <a:ln>
                          <a:noFill/>
                        </a:ln>
                        <a:solidFill>
                          <a:schemeClr val="accent5">
                            <a:lumMod val="20000"/>
                            <a:lumOff val="80000"/>
                          </a:schemeClr>
                        </a:solidFill>
                        <a:effectLst/>
                        <a:latin typeface="Georgia" panose="02040502050405020303" pitchFamily="18" charset="0"/>
                        <a:cs typeface="Arial" panose="020B0604020202020204" pitchFamily="34" charset="0"/>
                      </a:endParaRPr>
                    </a:p>
                  </a:txBody>
                  <a:tcPr horzOverflow="overflow">
                    <a:lnL w="12700" cap="flat" cmpd="sng" algn="ctr">
                      <a:solidFill>
                        <a:srgbClr val="C4652D"/>
                      </a:solidFill>
                      <a:prstDash val="solid"/>
                      <a:round/>
                      <a:headEnd type="none" w="med" len="med"/>
                      <a:tailEnd type="none" w="med" len="med"/>
                    </a:lnL>
                    <a:lnR w="12700" cap="flat" cmpd="sng" algn="ctr">
                      <a:solidFill>
                        <a:srgbClr val="C4652D"/>
                      </a:solidFill>
                      <a:prstDash val="solid"/>
                      <a:round/>
                      <a:headEnd type="none" w="med" len="med"/>
                      <a:tailEnd type="none" w="med" len="med"/>
                    </a:lnR>
                    <a:lnT w="12700" cap="flat" cmpd="sng" algn="ctr">
                      <a:solidFill>
                        <a:srgbClr val="C4652D"/>
                      </a:solidFill>
                      <a:prstDash val="solid"/>
                      <a:round/>
                      <a:headEnd type="none" w="med" len="med"/>
                      <a:tailEnd type="none" w="med" len="med"/>
                    </a:lnT>
                    <a:lnB w="12700" cap="flat" cmpd="sng" algn="ctr">
                      <a:solidFill>
                        <a:srgbClr val="C4652D"/>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dirty="0" smtClean="0">
                        <a:ln>
                          <a:noFill/>
                        </a:ln>
                        <a:solidFill>
                          <a:schemeClr val="bg1"/>
                        </a:solidFill>
                        <a:effectLst/>
                        <a:latin typeface="Georgia" panose="02040502050405020303" pitchFamily="18" charset="0"/>
                        <a:cs typeface="Arial" panose="020B0604020202020204" pitchFamily="34" charset="0"/>
                      </a:endParaRPr>
                    </a:p>
                  </a:txBody>
                  <a:tcPr horzOverflow="overflow">
                    <a:lnL w="12700" cap="flat" cmpd="sng" algn="ctr">
                      <a:solidFill>
                        <a:srgbClr val="C4652D"/>
                      </a:solidFill>
                      <a:prstDash val="solid"/>
                      <a:round/>
                      <a:headEnd type="none" w="med" len="med"/>
                      <a:tailEnd type="none" w="med" len="med"/>
                    </a:lnL>
                    <a:lnR w="12700" cap="flat" cmpd="sng" algn="ctr">
                      <a:solidFill>
                        <a:srgbClr val="C4652D"/>
                      </a:solidFill>
                      <a:prstDash val="solid"/>
                      <a:round/>
                      <a:headEnd type="none" w="med" len="med"/>
                      <a:tailEnd type="none" w="med" len="med"/>
                    </a:lnR>
                    <a:lnT w="12700" cap="flat" cmpd="sng" algn="ctr">
                      <a:solidFill>
                        <a:srgbClr val="C4652D"/>
                      </a:solidFill>
                      <a:prstDash val="solid"/>
                      <a:round/>
                      <a:headEnd type="none" w="med" len="med"/>
                      <a:tailEnd type="none" w="med" len="med"/>
                    </a:lnT>
                    <a:lnB w="12700" cap="flat" cmpd="sng" algn="ctr">
                      <a:solidFill>
                        <a:srgbClr val="C4652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41001" name="Footer Placeholder 4"/>
          <p:cNvSpPr txBox="1"/>
          <p:nvPr/>
        </p:nvSpPr>
        <p:spPr bwMode="auto">
          <a:xfrm>
            <a:off x="2438400" y="6553200"/>
            <a:ext cx="4343400" cy="304800"/>
          </a:xfrm>
          <a:prstGeom prst="rect">
            <a:avLst/>
          </a:prstGeom>
          <a:noFill/>
          <a:ln w="9525">
            <a:noFill/>
            <a:miter lim="800000"/>
          </a:ln>
        </p:spPr>
        <p:txBody>
          <a:bodyPr anchor="b"/>
          <a:lstStyle/>
          <a:p>
            <a:pPr algn="r"/>
            <a:r>
              <a:rPr lang="en-US" sz="1000">
                <a:solidFill>
                  <a:schemeClr val="accent2"/>
                </a:solidFill>
              </a:rPr>
              <a:t>Copyright ©2014 Pearson Education</a:t>
            </a:r>
          </a:p>
        </p:txBody>
      </p:sp>
      <p:sp>
        <p:nvSpPr>
          <p:cNvPr id="41002" name="Slide Number Placeholder 5"/>
          <p:cNvSpPr>
            <a:spLocks noGrp="1"/>
          </p:cNvSpPr>
          <p:nvPr>
            <p:ph type="sldNum" sz="quarter" idx="11"/>
          </p:nvPr>
        </p:nvSpPr>
        <p:spPr bwMode="auto">
          <a:xfrm>
            <a:off x="8382000" y="6491288"/>
            <a:ext cx="762000" cy="366712"/>
          </a:xfrm>
          <a:noFill/>
          <a:ln>
            <a:miter lim="800000"/>
          </a:ln>
        </p:spPr>
        <p:txBody>
          <a:bodyPr/>
          <a:lstStyle/>
          <a:p>
            <a:fld id="{BF2C6678-4F71-4C3D-9F2B-65CAB3D85628}" type="slidenum">
              <a:rPr lang="en-US" sz="1000" smtClean="0">
                <a:solidFill>
                  <a:schemeClr val="accent2"/>
                </a:solidFill>
                <a:latin typeface="Arial" panose="020B0604020202020204" pitchFamily="34" charset="0"/>
                <a:cs typeface="Arial" panose="020B0604020202020204" pitchFamily="34" charset="0"/>
              </a:rPr>
              <a:t>30</a:t>
            </a:fld>
            <a:endParaRPr lang="en-US" sz="1000" smtClean="0">
              <a:solidFill>
                <a:schemeClr val="accent2"/>
              </a:solidFill>
              <a:latin typeface="Arial" panose="020B0604020202020204" pitchFamily="34" charset="0"/>
              <a:cs typeface="Arial" panose="020B0604020202020204" pitchFamily="34" charset="0"/>
            </a:endParaRPr>
          </a:p>
        </p:txBody>
      </p:sp>
      <p:sp>
        <p:nvSpPr>
          <p:cNvPr id="6" name="TextBox 5"/>
          <p:cNvSpPr txBox="1"/>
          <p:nvPr/>
        </p:nvSpPr>
        <p:spPr>
          <a:xfrm>
            <a:off x="1066800" y="1828800"/>
            <a:ext cx="8077200" cy="369332"/>
          </a:xfrm>
          <a:prstGeom prst="rect">
            <a:avLst/>
          </a:prstGeom>
          <a:noFill/>
        </p:spPr>
        <p:txBody>
          <a:bodyPr wrap="square" rtlCol="0">
            <a:spAutoFit/>
          </a:bodyPr>
          <a:lstStyle/>
          <a:p>
            <a:r>
              <a:rPr lang="en-US" dirty="0" smtClean="0"/>
              <a:t>Take 1 minute to fill out what is the normal balance of each type of account</a:t>
            </a:r>
            <a:endParaRPr lang="en-US" dirty="0"/>
          </a:p>
        </p:txBody>
      </p:sp>
    </p:spTree>
    <p:extLst>
      <p:ext uri="{BB962C8B-B14F-4D97-AF65-F5344CB8AC3E}">
        <p14:creationId xmlns:p14="http://schemas.microsoft.com/office/powerpoint/2010/main" val="246404044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smtClean="0">
                <a:latin typeface="+mj-lt"/>
              </a:rPr>
              <a:t>Flow </a:t>
            </a:r>
            <a:r>
              <a:rPr lang="en-US" sz="3600" dirty="0">
                <a:latin typeface="+mj-lt"/>
              </a:rPr>
              <a:t>of Accounting Data</a:t>
            </a:r>
          </a:p>
        </p:txBody>
      </p:sp>
      <p:pic>
        <p:nvPicPr>
          <p:cNvPr id="12290" name="Picture 2" descr="An illustration shows that after a transaction occurs, the transaction is analyzed, entered in the journal, and the amounts are posted to ledger accounts."/>
          <p:cNvPicPr>
            <a:picLocks noGrp="1" noChangeAspect="1" noChangeArrowheads="1"/>
          </p:cNvPicPr>
          <p:nvPr>
            <p:ph idx="1"/>
          </p:nvPr>
        </p:nvPicPr>
        <p:blipFill>
          <a:blip r:embed="rId3" cstate="print"/>
          <a:stretch>
            <a:fillRect/>
          </a:stretch>
        </p:blipFill>
        <p:spPr bwMode="auto">
          <a:xfrm>
            <a:off x="457200" y="2099696"/>
            <a:ext cx="8229600" cy="3526971"/>
          </a:xfrm>
          <a:prstGeom prst="rect">
            <a:avLst/>
          </a:prstGeom>
          <a:noFill/>
          <a:ln w="9525">
            <a:noFill/>
            <a:miter lim="800000"/>
            <a:headEnd/>
            <a:tailEnd/>
          </a:ln>
          <a:effectLst/>
        </p:spPr>
      </p:pic>
    </p:spTree>
    <p:extLst>
      <p:ext uri="{BB962C8B-B14F-4D97-AF65-F5344CB8AC3E}">
        <p14:creationId xmlns:p14="http://schemas.microsoft.com/office/powerpoint/2010/main" val="330468314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dirty="0">
                <a:latin typeface="+mj-lt"/>
              </a:rPr>
              <a:t>Record (Journalize and Post) Transactions in the </a:t>
            </a:r>
            <a:r>
              <a:rPr lang="en-IN" sz="3600" dirty="0" smtClean="0">
                <a:latin typeface="+mj-lt"/>
              </a:rPr>
              <a:t>Books</a:t>
            </a:r>
            <a:endParaRPr lang="en-US" sz="2000" b="0" dirty="0">
              <a:latin typeface="+mj-lt"/>
            </a:endParaRPr>
          </a:p>
        </p:txBody>
      </p:sp>
      <p:sp>
        <p:nvSpPr>
          <p:cNvPr id="3" name="Content Placeholder 2"/>
          <p:cNvSpPr>
            <a:spLocks noGrp="1"/>
          </p:cNvSpPr>
          <p:nvPr>
            <p:ph idx="1"/>
          </p:nvPr>
        </p:nvSpPr>
        <p:spPr>
          <a:xfrm>
            <a:off x="457200" y="1600200"/>
            <a:ext cx="8305800" cy="4525963"/>
          </a:xfrm>
        </p:spPr>
        <p:txBody>
          <a:bodyPr/>
          <a:lstStyle/>
          <a:p>
            <a:pPr marL="0" indent="0">
              <a:buNone/>
            </a:pPr>
            <a:r>
              <a:rPr lang="en-US" sz="2600" b="1" dirty="0"/>
              <a:t>Journal</a:t>
            </a:r>
          </a:p>
          <a:p>
            <a:pPr marL="256032" indent="-256032">
              <a:buSzPct val="100000"/>
            </a:pPr>
            <a:r>
              <a:rPr lang="en-US" sz="2600" u="sng" dirty="0"/>
              <a:t>Chronological</a:t>
            </a:r>
            <a:r>
              <a:rPr lang="en-US" sz="2600" dirty="0"/>
              <a:t> record of transactions</a:t>
            </a:r>
          </a:p>
          <a:p>
            <a:pPr marL="256032" indent="-256032">
              <a:buSzPct val="100000"/>
            </a:pPr>
            <a:r>
              <a:rPr lang="en-US" sz="2600" dirty="0"/>
              <a:t>Three steps:</a:t>
            </a:r>
          </a:p>
          <a:p>
            <a:pPr marL="457200" lvl="1" indent="-457200">
              <a:spcBef>
                <a:spcPts val="1500"/>
              </a:spcBef>
              <a:buSzPct val="100000"/>
              <a:buFont typeface="+mj-lt"/>
              <a:buAutoNum type="arabicPeriod"/>
              <a:defRPr/>
            </a:pPr>
            <a:r>
              <a:rPr lang="en-US" altLang="en-US" sz="2600" dirty="0"/>
              <a:t>Specify each </a:t>
            </a:r>
            <a:r>
              <a:rPr lang="en-US" altLang="en-US" sz="2600" u="sng" dirty="0"/>
              <a:t>account</a:t>
            </a:r>
            <a:r>
              <a:rPr lang="en-US" altLang="en-US" sz="2600" dirty="0"/>
              <a:t> affected by the transaction and classify by type</a:t>
            </a:r>
          </a:p>
          <a:p>
            <a:pPr marL="457200" lvl="1" indent="-457200">
              <a:spcBef>
                <a:spcPts val="1500"/>
              </a:spcBef>
              <a:buSzPct val="100000"/>
              <a:buFont typeface="+mj-lt"/>
              <a:buAutoNum type="arabicPeriod"/>
              <a:defRPr/>
            </a:pPr>
            <a:r>
              <a:rPr lang="en-US" altLang="en-US" sz="2600" dirty="0"/>
              <a:t>Determine if each account is </a:t>
            </a:r>
            <a:r>
              <a:rPr lang="en-US" altLang="en-US" sz="2600" u="sng" dirty="0"/>
              <a:t>increased or decreased </a:t>
            </a:r>
            <a:r>
              <a:rPr lang="en-US" altLang="en-US" sz="2600" dirty="0"/>
              <a:t>(</a:t>
            </a:r>
            <a:r>
              <a:rPr lang="en-US" altLang="en-US" sz="2600" dirty="0">
                <a:solidFill>
                  <a:srgbClr val="FF0000"/>
                </a:solidFill>
              </a:rPr>
              <a:t>debit or credit</a:t>
            </a:r>
            <a:r>
              <a:rPr lang="en-US" altLang="en-US" sz="2600" dirty="0"/>
              <a:t>)</a:t>
            </a:r>
          </a:p>
          <a:p>
            <a:pPr marL="457200" lvl="1" indent="-457200">
              <a:spcBef>
                <a:spcPts val="1500"/>
              </a:spcBef>
              <a:buSzPct val="100000"/>
              <a:buFont typeface="+mj-lt"/>
              <a:buAutoNum type="arabicPeriod"/>
              <a:defRPr/>
            </a:pPr>
            <a:r>
              <a:rPr lang="en-US" altLang="en-US" sz="2600" dirty="0"/>
              <a:t>Record in the journal</a:t>
            </a:r>
            <a:endParaRPr lang="en-US" sz="260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dirty="0">
                <a:latin typeface="+mj-lt"/>
              </a:rPr>
              <a:t>Record (Journalize and Post) Transactions in the </a:t>
            </a:r>
            <a:r>
              <a:rPr lang="en-IN" sz="3600" dirty="0" smtClean="0">
                <a:latin typeface="+mj-lt"/>
              </a:rPr>
              <a:t>Books</a:t>
            </a:r>
            <a:endParaRPr lang="en-US" sz="2000" b="0" dirty="0">
              <a:latin typeface="+mj-lt"/>
            </a:endParaRPr>
          </a:p>
        </p:txBody>
      </p:sp>
      <p:sp>
        <p:nvSpPr>
          <p:cNvPr id="3" name="Content Placeholder 2"/>
          <p:cNvSpPr>
            <a:spLocks noGrp="1"/>
          </p:cNvSpPr>
          <p:nvPr>
            <p:ph idx="1"/>
          </p:nvPr>
        </p:nvSpPr>
        <p:spPr>
          <a:xfrm>
            <a:off x="304800" y="1600201"/>
            <a:ext cx="8610600" cy="2057400"/>
          </a:xfrm>
        </p:spPr>
        <p:txBody>
          <a:bodyPr/>
          <a:lstStyle/>
          <a:p>
            <a:pPr marL="0" indent="0" eaLnBrk="0" fontAlgn="base" hangingPunct="0">
              <a:spcAft>
                <a:spcPct val="0"/>
              </a:spcAft>
              <a:buClr>
                <a:srgbClr val="E70000">
                  <a:lumMod val="50000"/>
                </a:srgbClr>
              </a:buClr>
              <a:buSzPct val="80000"/>
              <a:buNone/>
            </a:pPr>
            <a:r>
              <a:rPr lang="en-US" sz="2400" dirty="0">
                <a:solidFill>
                  <a:srgbClr val="000000"/>
                </a:solidFill>
              </a:rPr>
              <a:t>Steps to journalize the first transaction of </a:t>
            </a:r>
            <a:r>
              <a:rPr lang="en-US" sz="2400" dirty="0" err="1"/>
              <a:t>RedLotus</a:t>
            </a:r>
            <a:r>
              <a:rPr lang="en-US" sz="2400" dirty="0"/>
              <a:t> Security</a:t>
            </a:r>
            <a:endParaRPr lang="en-US" sz="2400" dirty="0">
              <a:solidFill>
                <a:srgbClr val="000000"/>
              </a:solidFill>
            </a:endParaRPr>
          </a:p>
          <a:p>
            <a:pPr marL="0" indent="0" eaLnBrk="0" fontAlgn="base" hangingPunct="0">
              <a:spcAft>
                <a:spcPct val="0"/>
              </a:spcAft>
              <a:buClr>
                <a:schemeClr val="bg2"/>
              </a:buClr>
              <a:buSzPct val="100000"/>
              <a:buNone/>
            </a:pPr>
            <a:r>
              <a:rPr lang="en-US" sz="2400" b="1" dirty="0">
                <a:solidFill>
                  <a:srgbClr val="000000"/>
                </a:solidFill>
              </a:rPr>
              <a:t>Step 1 </a:t>
            </a:r>
            <a:r>
              <a:rPr lang="en-US" sz="2400" dirty="0">
                <a:solidFill>
                  <a:srgbClr val="000000"/>
                </a:solidFill>
              </a:rPr>
              <a:t>Business receives $50,000 cash and issues stock	   </a:t>
            </a:r>
          </a:p>
          <a:p>
            <a:pPr marL="0" indent="0" eaLnBrk="0" fontAlgn="base" hangingPunct="0">
              <a:spcAft>
                <a:spcPct val="0"/>
              </a:spcAft>
              <a:buClr>
                <a:schemeClr val="bg2"/>
              </a:buClr>
              <a:buSzPct val="100000"/>
              <a:buNone/>
            </a:pPr>
            <a:r>
              <a:rPr lang="en-US" sz="2400" b="1" dirty="0">
                <a:solidFill>
                  <a:srgbClr val="000000"/>
                </a:solidFill>
              </a:rPr>
              <a:t>Step 2 </a:t>
            </a:r>
            <a:r>
              <a:rPr lang="en-US" sz="2400" dirty="0">
                <a:solidFill>
                  <a:srgbClr val="000000"/>
                </a:solidFill>
              </a:rPr>
              <a:t>Both Cash and Common Stock increase</a:t>
            </a:r>
          </a:p>
          <a:p>
            <a:pPr marL="0" indent="0" eaLnBrk="0" fontAlgn="base" hangingPunct="0">
              <a:spcAft>
                <a:spcPct val="0"/>
              </a:spcAft>
              <a:buClr>
                <a:schemeClr val="bg2"/>
              </a:buClr>
              <a:buSzPct val="100000"/>
              <a:buNone/>
            </a:pPr>
            <a:r>
              <a:rPr lang="en-US" sz="2400" b="1" dirty="0">
                <a:solidFill>
                  <a:srgbClr val="000000"/>
                </a:solidFill>
              </a:rPr>
              <a:t>Step 3 </a:t>
            </a:r>
            <a:r>
              <a:rPr lang="en-US" sz="2400" dirty="0">
                <a:solidFill>
                  <a:srgbClr val="000000"/>
                </a:solidFill>
              </a:rPr>
              <a:t>Journalize the transaction:</a:t>
            </a:r>
            <a:endParaRPr lang="en-US"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3810000"/>
            <a:ext cx="7609249" cy="2406283"/>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smtClean="0">
                <a:latin typeface="+mj-lt"/>
              </a:rPr>
              <a:t>Journal </a:t>
            </a:r>
            <a:r>
              <a:rPr lang="en-US" sz="3600" dirty="0">
                <a:latin typeface="+mj-lt"/>
              </a:rPr>
              <a:t>Entry and </a:t>
            </a:r>
            <a:r>
              <a:rPr lang="en-US" sz="3600" dirty="0">
                <a:solidFill>
                  <a:srgbClr val="FF0000"/>
                </a:solidFill>
                <a:latin typeface="+mj-lt"/>
              </a:rPr>
              <a:t>Posting</a:t>
            </a:r>
            <a:r>
              <a:rPr lang="en-US" sz="3600" dirty="0">
                <a:latin typeface="+mj-lt"/>
              </a:rPr>
              <a:t> to the Accounts</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3190" y="1966393"/>
            <a:ext cx="7856753" cy="3656733"/>
          </a:xfrm>
          <a:prstGeom prst="rect">
            <a:avLst/>
          </a:prstGeom>
        </p:spPr>
      </p:pic>
    </p:spTree>
    <p:extLst>
      <p:ext uri="{BB962C8B-B14F-4D97-AF65-F5344CB8AC3E}">
        <p14:creationId xmlns:p14="http://schemas.microsoft.com/office/powerpoint/2010/main" val="404761405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latin typeface="+mj-lt"/>
              </a:rPr>
              <a:t>The Ledger</a:t>
            </a:r>
            <a:endParaRPr lang="en-US" sz="3200" dirty="0">
              <a:latin typeface="+mj-lt"/>
            </a:endParaRPr>
          </a:p>
        </p:txBody>
      </p:sp>
      <p:pic>
        <p:nvPicPr>
          <p:cNvPr id="1126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1828800" y="1736704"/>
            <a:ext cx="5397938" cy="4405354"/>
          </a:xfrm>
          <a:prstGeom prst="rect">
            <a:avLst/>
          </a:prstGeom>
          <a:noFill/>
          <a:ln w="9525">
            <a:noFill/>
            <a:miter lim="800000"/>
            <a:headEnd/>
            <a:tailEnd/>
          </a:ln>
          <a:effectLst/>
        </p:spPr>
      </p:pic>
    </p:spTree>
    <p:extLst>
      <p:ext uri="{BB962C8B-B14F-4D97-AF65-F5344CB8AC3E}">
        <p14:creationId xmlns:p14="http://schemas.microsoft.com/office/powerpoint/2010/main" val="335624287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smtClean="0">
                <a:latin typeface="+mj-lt"/>
              </a:rPr>
              <a:t>Record Journals</a:t>
            </a:r>
            <a:br>
              <a:rPr lang="en-US" sz="3600" dirty="0" smtClean="0">
                <a:latin typeface="+mj-lt"/>
              </a:rPr>
            </a:br>
            <a:r>
              <a:rPr lang="en-US" sz="3600" dirty="0" smtClean="0">
                <a:latin typeface="+mj-lt"/>
              </a:rPr>
              <a:t>Transaction </a:t>
            </a:r>
            <a:r>
              <a:rPr lang="en-US" sz="3600" dirty="0">
                <a:latin typeface="+mj-lt"/>
              </a:rPr>
              <a:t>1 Analysis</a:t>
            </a:r>
            <a:endParaRPr lang="en-US" sz="2000" b="0" dirty="0">
              <a:latin typeface="+mj-lt"/>
            </a:endParaRPr>
          </a:p>
        </p:txBody>
      </p:sp>
      <p:sp>
        <p:nvSpPr>
          <p:cNvPr id="3" name="Content Placeholder 2"/>
          <p:cNvSpPr>
            <a:spLocks noGrp="1"/>
          </p:cNvSpPr>
          <p:nvPr>
            <p:ph idx="1"/>
          </p:nvPr>
        </p:nvSpPr>
        <p:spPr>
          <a:xfrm>
            <a:off x="457200" y="1600201"/>
            <a:ext cx="8229600" cy="457200"/>
          </a:xfrm>
        </p:spPr>
        <p:txBody>
          <a:bodyPr/>
          <a:lstStyle/>
          <a:p>
            <a:pPr marL="0" indent="0">
              <a:buNone/>
            </a:pPr>
            <a:r>
              <a:rPr lang="en-US" sz="2400" dirty="0">
                <a:cs typeface="Arial" panose="020B0604020202020204" pitchFamily="34" charset="0"/>
              </a:rPr>
              <a:t>(1) Received $50,000 cash and issued stock to the owners</a:t>
            </a:r>
            <a:endParaRPr lang="en-US" dirty="0"/>
          </a:p>
        </p:txBody>
      </p:sp>
      <p:pic>
        <p:nvPicPr>
          <p:cNvPr id="5"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159" y="2057402"/>
            <a:ext cx="7275441" cy="369121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mj-lt"/>
              </a:rPr>
              <a:t>Transaction 2 Analysis</a:t>
            </a:r>
            <a:endParaRPr lang="en-US" sz="3600" b="0" dirty="0">
              <a:latin typeface="+mj-lt"/>
            </a:endParaRPr>
          </a:p>
        </p:txBody>
      </p:sp>
      <p:sp>
        <p:nvSpPr>
          <p:cNvPr id="3" name="Content Placeholder 2"/>
          <p:cNvSpPr>
            <a:spLocks noGrp="1"/>
          </p:cNvSpPr>
          <p:nvPr>
            <p:ph idx="1"/>
          </p:nvPr>
        </p:nvSpPr>
        <p:spPr>
          <a:xfrm>
            <a:off x="457200" y="1600201"/>
            <a:ext cx="8229600" cy="457200"/>
          </a:xfrm>
        </p:spPr>
        <p:txBody>
          <a:bodyPr/>
          <a:lstStyle/>
          <a:p>
            <a:pPr marL="0" indent="0">
              <a:buNone/>
            </a:pPr>
            <a:r>
              <a:rPr lang="en-US" sz="2400" dirty="0">
                <a:cs typeface="Arial" panose="020B0604020202020204" pitchFamily="34" charset="0"/>
              </a:rPr>
              <a:t>(2) Paid $40,000 cash for land</a:t>
            </a:r>
            <a:endParaRPr 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mj-lt"/>
              </a:rPr>
              <a:t>Transaction 3 Analysis</a:t>
            </a:r>
            <a:endParaRPr lang="en-US" sz="2000" dirty="0">
              <a:latin typeface="+mj-lt"/>
            </a:endParaRPr>
          </a:p>
        </p:txBody>
      </p:sp>
      <p:sp>
        <p:nvSpPr>
          <p:cNvPr id="6" name="Content Placeholder 5"/>
          <p:cNvSpPr>
            <a:spLocks noGrp="1"/>
          </p:cNvSpPr>
          <p:nvPr>
            <p:ph idx="1"/>
          </p:nvPr>
        </p:nvSpPr>
        <p:spPr>
          <a:xfrm>
            <a:off x="457200" y="1600201"/>
            <a:ext cx="8229600" cy="409469"/>
          </a:xfrm>
        </p:spPr>
        <p:txBody>
          <a:bodyPr/>
          <a:lstStyle/>
          <a:p>
            <a:pPr marL="0" indent="0">
              <a:buNone/>
            </a:pPr>
            <a:r>
              <a:rPr lang="en-US" sz="2400" dirty="0">
                <a:cs typeface="Arial" panose="020B0604020202020204" pitchFamily="34" charset="0"/>
              </a:rPr>
              <a:t>(3) Purchased supplies for $3,700 on account</a:t>
            </a:r>
            <a:endParaRPr 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mj-lt"/>
              </a:rPr>
              <a:t>Transaction 4 Analysis</a:t>
            </a:r>
            <a:endParaRPr lang="en-US" sz="2000" dirty="0">
              <a:latin typeface="+mj-lt"/>
            </a:endParaRPr>
          </a:p>
        </p:txBody>
      </p:sp>
      <p:sp>
        <p:nvSpPr>
          <p:cNvPr id="3" name="Content Placeholder 2"/>
          <p:cNvSpPr>
            <a:spLocks noGrp="1"/>
          </p:cNvSpPr>
          <p:nvPr>
            <p:ph idx="1"/>
          </p:nvPr>
        </p:nvSpPr>
        <p:spPr>
          <a:xfrm>
            <a:off x="457200" y="1600201"/>
            <a:ext cx="8229600" cy="457200"/>
          </a:xfrm>
        </p:spPr>
        <p:txBody>
          <a:bodyPr/>
          <a:lstStyle/>
          <a:p>
            <a:pPr marL="0" indent="0">
              <a:buNone/>
            </a:pPr>
            <a:r>
              <a:rPr lang="en-US" sz="2400" dirty="0">
                <a:cs typeface="Arial" panose="020B0604020202020204" pitchFamily="34" charset="0"/>
              </a:rPr>
              <a:t>(4) Performed services and received cash of $7,000</a:t>
            </a:r>
            <a:endParaRPr lang="en-US" sz="2400"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mj-lt"/>
              </a:rPr>
              <a:t>Transaction 5 Analysis</a:t>
            </a:r>
            <a:endParaRPr lang="en-US" sz="2000" dirty="0">
              <a:latin typeface="+mj-lt"/>
            </a:endParaRPr>
          </a:p>
        </p:txBody>
      </p:sp>
      <p:sp>
        <p:nvSpPr>
          <p:cNvPr id="3" name="Content Placeholder 2"/>
          <p:cNvSpPr>
            <a:spLocks noGrp="1"/>
          </p:cNvSpPr>
          <p:nvPr>
            <p:ph idx="1"/>
          </p:nvPr>
        </p:nvSpPr>
        <p:spPr>
          <a:xfrm>
            <a:off x="457200" y="1600201"/>
            <a:ext cx="8229600" cy="457200"/>
          </a:xfrm>
        </p:spPr>
        <p:txBody>
          <a:bodyPr/>
          <a:lstStyle/>
          <a:p>
            <a:pPr marL="0" indent="0">
              <a:buNone/>
            </a:pPr>
            <a:r>
              <a:rPr lang="en-US" sz="2400" dirty="0">
                <a:latin typeface="+mj-lt"/>
                <a:cs typeface="Arial" panose="020B0604020202020204" pitchFamily="34" charset="0"/>
              </a:rPr>
              <a:t>(5) Performed services for UPS on account, $3,000</a:t>
            </a:r>
            <a:endParaRPr lang="en-US" sz="2400" dirty="0">
              <a:latin typeface="+mj-lt"/>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mj-lt"/>
              </a:rPr>
              <a:t>Transaction 6 Analysis</a:t>
            </a:r>
            <a:endParaRPr lang="en-US" sz="2000" dirty="0">
              <a:latin typeface="+mj-lt"/>
            </a:endParaRPr>
          </a:p>
        </p:txBody>
      </p:sp>
      <p:sp>
        <p:nvSpPr>
          <p:cNvPr id="3" name="Content Placeholder 2"/>
          <p:cNvSpPr>
            <a:spLocks noGrp="1"/>
          </p:cNvSpPr>
          <p:nvPr>
            <p:ph idx="1"/>
          </p:nvPr>
        </p:nvSpPr>
        <p:spPr>
          <a:xfrm>
            <a:off x="457200" y="1600201"/>
            <a:ext cx="8229600" cy="685800"/>
          </a:xfrm>
        </p:spPr>
        <p:txBody>
          <a:bodyPr/>
          <a:lstStyle/>
          <a:p>
            <a:pPr marL="0" indent="0">
              <a:buNone/>
            </a:pPr>
            <a:r>
              <a:rPr lang="en-US" sz="2400" dirty="0">
                <a:cs typeface="Arial" panose="020B0604020202020204" pitchFamily="34" charset="0"/>
              </a:rPr>
              <a:t>(6) Paid cash expenses: rent, $1,100; employee salary, $1,200; utilities, $400</a:t>
            </a:r>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mj-lt"/>
              </a:rPr>
              <a:t>Transaction 7 Analysis</a:t>
            </a:r>
            <a:endParaRPr lang="en-US" sz="2000" dirty="0">
              <a:latin typeface="+mj-lt"/>
            </a:endParaRPr>
          </a:p>
        </p:txBody>
      </p:sp>
      <p:sp>
        <p:nvSpPr>
          <p:cNvPr id="3" name="Content Placeholder 2"/>
          <p:cNvSpPr>
            <a:spLocks noGrp="1"/>
          </p:cNvSpPr>
          <p:nvPr>
            <p:ph idx="1"/>
          </p:nvPr>
        </p:nvSpPr>
        <p:spPr>
          <a:xfrm>
            <a:off x="457200" y="1600201"/>
            <a:ext cx="8229600" cy="457200"/>
          </a:xfrm>
        </p:spPr>
        <p:txBody>
          <a:bodyPr/>
          <a:lstStyle/>
          <a:p>
            <a:pPr marL="0" indent="0">
              <a:lnSpc>
                <a:spcPct val="125000"/>
              </a:lnSpc>
              <a:buSzPct val="80000"/>
              <a:buNone/>
            </a:pPr>
            <a:r>
              <a:rPr lang="en-US" sz="2400" dirty="0">
                <a:cs typeface="Arial" panose="020B0604020202020204" pitchFamily="34" charset="0"/>
              </a:rPr>
              <a:t>(7) Paid $1,900 on the payable created in transaction 3</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mj-lt"/>
              </a:rPr>
              <a:t>Transaction 8 Analysis</a:t>
            </a:r>
            <a:endParaRPr lang="en-US" sz="2000" dirty="0">
              <a:latin typeface="+mj-lt"/>
            </a:endParaRPr>
          </a:p>
        </p:txBody>
      </p:sp>
      <p:sp>
        <p:nvSpPr>
          <p:cNvPr id="3" name="Content Placeholder 2"/>
          <p:cNvSpPr>
            <a:spLocks noGrp="1"/>
          </p:cNvSpPr>
          <p:nvPr>
            <p:ph idx="1"/>
          </p:nvPr>
        </p:nvSpPr>
        <p:spPr/>
        <p:txBody>
          <a:bodyPr/>
          <a:lstStyle/>
          <a:p>
            <a:pPr marL="0" indent="0">
              <a:buNone/>
            </a:pPr>
            <a:r>
              <a:rPr lang="en-US" sz="2400" dirty="0">
                <a:cs typeface="Arial" panose="020B0604020202020204" pitchFamily="34" charset="0"/>
              </a:rPr>
              <a:t>(8) Stockholder of </a:t>
            </a:r>
            <a:r>
              <a:rPr lang="en-US" sz="2400" dirty="0" err="1"/>
              <a:t>RedLotus</a:t>
            </a:r>
            <a:r>
              <a:rPr lang="en-US" sz="2400" dirty="0">
                <a:cs typeface="Arial" panose="020B0604020202020204" pitchFamily="34" charset="0"/>
              </a:rPr>
              <a:t> remodeled her home with personal funds</a:t>
            </a:r>
            <a:endParaRPr lang="en-US" sz="2400" dirty="0"/>
          </a:p>
        </p:txBody>
      </p:sp>
      <p:sp>
        <p:nvSpPr>
          <p:cNvPr id="4" name="内容占位符 3"/>
          <p:cNvSpPr>
            <a:spLocks noGrp="1"/>
          </p:cNvSpPr>
          <p:nvPr>
            <p:ph idx="13"/>
          </p:nvPr>
        </p:nvSpPr>
        <p:spPr/>
        <p:txBody>
          <a:bodyPr/>
          <a:lstStyle/>
          <a:p>
            <a:endParaRPr lang="zh-CN" alt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mj-lt"/>
              </a:rPr>
              <a:t>Transaction 9 Analysis</a:t>
            </a:r>
            <a:endParaRPr lang="en-US" sz="2000" dirty="0">
              <a:latin typeface="+mj-lt"/>
            </a:endParaRPr>
          </a:p>
        </p:txBody>
      </p:sp>
      <p:sp>
        <p:nvSpPr>
          <p:cNvPr id="3" name="Content Placeholder 2"/>
          <p:cNvSpPr>
            <a:spLocks noGrp="1"/>
          </p:cNvSpPr>
          <p:nvPr>
            <p:ph idx="1"/>
          </p:nvPr>
        </p:nvSpPr>
        <p:spPr>
          <a:xfrm>
            <a:off x="457200" y="1600201"/>
            <a:ext cx="8229600" cy="380999"/>
          </a:xfrm>
        </p:spPr>
        <p:txBody>
          <a:bodyPr/>
          <a:lstStyle/>
          <a:p>
            <a:pPr marL="0" indent="0">
              <a:buNone/>
            </a:pPr>
            <a:r>
              <a:rPr lang="en-US" sz="2400" dirty="0">
                <a:cs typeface="Arial" panose="020B0604020202020204" pitchFamily="34" charset="0"/>
              </a:rPr>
              <a:t>(9) Received $1,000 on account</a:t>
            </a:r>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mj-lt"/>
              </a:rPr>
              <a:t>Transaction 10 Analysis</a:t>
            </a:r>
            <a:endParaRPr lang="en-US" sz="2000" dirty="0">
              <a:latin typeface="+mj-lt"/>
            </a:endParaRPr>
          </a:p>
        </p:txBody>
      </p:sp>
      <p:sp>
        <p:nvSpPr>
          <p:cNvPr id="3" name="Content Placeholder 2"/>
          <p:cNvSpPr>
            <a:spLocks noGrp="1"/>
          </p:cNvSpPr>
          <p:nvPr>
            <p:ph idx="1"/>
          </p:nvPr>
        </p:nvSpPr>
        <p:spPr>
          <a:xfrm>
            <a:off x="457200" y="1600201"/>
            <a:ext cx="8229600" cy="802222"/>
          </a:xfrm>
        </p:spPr>
        <p:txBody>
          <a:bodyPr/>
          <a:lstStyle/>
          <a:p>
            <a:pPr marL="0" indent="0">
              <a:buNone/>
            </a:pPr>
            <a:r>
              <a:rPr lang="en-US" sz="2400" dirty="0">
                <a:cs typeface="Arial" panose="020B0604020202020204" pitchFamily="34" charset="0"/>
              </a:rPr>
              <a:t>(10) Sold land for cash at the land’s cost of $22,000 </a:t>
            </a:r>
            <a:r>
              <a:rPr lang="en-US" sz="2400" dirty="0"/>
              <a:t>and a gain of $2,000 is recognized</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mj-lt"/>
              </a:rPr>
              <a:t>Transaction 11 Analysis</a:t>
            </a:r>
            <a:endParaRPr lang="en-US" sz="2000" dirty="0">
              <a:latin typeface="+mj-lt"/>
            </a:endParaRPr>
          </a:p>
        </p:txBody>
      </p:sp>
      <p:sp>
        <p:nvSpPr>
          <p:cNvPr id="3" name="Content Placeholder 2"/>
          <p:cNvSpPr>
            <a:spLocks noGrp="1"/>
          </p:cNvSpPr>
          <p:nvPr>
            <p:ph idx="1"/>
          </p:nvPr>
        </p:nvSpPr>
        <p:spPr>
          <a:xfrm>
            <a:off x="457200" y="1600201"/>
            <a:ext cx="8229600" cy="457200"/>
          </a:xfrm>
        </p:spPr>
        <p:txBody>
          <a:bodyPr/>
          <a:lstStyle/>
          <a:p>
            <a:pPr marL="0" indent="0">
              <a:buNone/>
            </a:pPr>
            <a:r>
              <a:rPr lang="en-US" sz="2400" dirty="0">
                <a:cs typeface="Arial" panose="020B0604020202020204" pitchFamily="34" charset="0"/>
              </a:rPr>
              <a:t>(11) Declared and paid a dividend of $2,100 to shareholders</a:t>
            </a:r>
            <a:endParaRPr lang="en-US" sz="2400"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4298" y="228600"/>
            <a:ext cx="8229600" cy="1097280"/>
          </a:xfrm>
        </p:spPr>
        <p:txBody>
          <a:bodyPr/>
          <a:lstStyle/>
          <a:p>
            <a:r>
              <a:rPr lang="en-US" sz="3600" dirty="0" err="1" smtClean="0">
                <a:latin typeface="+mj-lt"/>
              </a:rPr>
              <a:t>RedLotus</a:t>
            </a:r>
            <a:r>
              <a:rPr lang="en-US" sz="3600" dirty="0" smtClean="0">
                <a:latin typeface="+mj-lt"/>
              </a:rPr>
              <a:t> Security’s </a:t>
            </a:r>
            <a:r>
              <a:rPr lang="en-US" sz="3600" dirty="0">
                <a:solidFill>
                  <a:srgbClr val="FF0000"/>
                </a:solidFill>
                <a:latin typeface="+mj-lt"/>
              </a:rPr>
              <a:t>Ledger</a:t>
            </a:r>
            <a:r>
              <a:rPr lang="en-US" sz="3600" dirty="0">
                <a:latin typeface="+mj-lt"/>
              </a:rPr>
              <a:t> Accounts after Posting</a:t>
            </a:r>
            <a:endParaRPr lang="en-US" dirty="0">
              <a:latin typeface="+mj-lt"/>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4298" y="1472116"/>
            <a:ext cx="7893902" cy="4359666"/>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dirty="0">
                <a:latin typeface="+mj-lt"/>
              </a:rPr>
              <a:t>Construct and Use a </a:t>
            </a:r>
            <a:r>
              <a:rPr lang="en-IN" sz="3600" dirty="0">
                <a:solidFill>
                  <a:srgbClr val="FF0000"/>
                </a:solidFill>
                <a:latin typeface="+mj-lt"/>
              </a:rPr>
              <a:t>Trial Balance</a:t>
            </a:r>
            <a:endParaRPr lang="en-US" dirty="0">
              <a:solidFill>
                <a:srgbClr val="FF0000"/>
              </a:solidFill>
              <a:latin typeface="+mj-lt"/>
            </a:endParaRPr>
          </a:p>
        </p:txBody>
      </p:sp>
      <p:sp>
        <p:nvSpPr>
          <p:cNvPr id="3" name="Content Placeholder 2"/>
          <p:cNvSpPr>
            <a:spLocks noGrp="1"/>
          </p:cNvSpPr>
          <p:nvPr>
            <p:ph idx="1"/>
          </p:nvPr>
        </p:nvSpPr>
        <p:spPr/>
        <p:txBody>
          <a:bodyPr/>
          <a:lstStyle/>
          <a:p>
            <a:pPr marL="0" indent="0">
              <a:buNone/>
            </a:pPr>
            <a:r>
              <a:rPr lang="en-US" sz="2600" b="1" dirty="0"/>
              <a:t>Trial Balance</a:t>
            </a:r>
            <a:endParaRPr lang="en-US" sz="2600" dirty="0"/>
          </a:p>
          <a:p>
            <a:pPr marL="256032" lvl="1" indent="-256032">
              <a:spcBef>
                <a:spcPts val="1500"/>
              </a:spcBef>
              <a:buClr>
                <a:schemeClr val="bg2"/>
              </a:buClr>
              <a:buSzPct val="100000"/>
              <a:buFont typeface="Arial" pitchFamily="34" charset="0"/>
              <a:buChar char="•"/>
            </a:pPr>
            <a:r>
              <a:rPr lang="en-US" altLang="en-US" sz="2600" dirty="0"/>
              <a:t>Lists </a:t>
            </a:r>
            <a:r>
              <a:rPr lang="en-US" altLang="zh-CN" sz="2400" u="sng" dirty="0">
                <a:latin typeface="Times New Roman" panose="02020603050405020304" pitchFamily="18" charset="0"/>
                <a:cs typeface="Times New Roman" panose="02020603050405020304" pitchFamily="18" charset="0"/>
              </a:rPr>
              <a:t> </a:t>
            </a:r>
            <a:r>
              <a:rPr lang="en-US" altLang="zh-CN" sz="2400" u="sng" dirty="0" smtClean="0">
                <a:latin typeface="Times New Roman" panose="02020603050405020304" pitchFamily="18" charset="0"/>
                <a:cs typeface="Times New Roman" panose="02020603050405020304" pitchFamily="18" charset="0"/>
              </a:rPr>
              <a:t>                      </a:t>
            </a:r>
            <a:r>
              <a:rPr lang="en-US" altLang="en-US" sz="2600" dirty="0" smtClean="0"/>
              <a:t>with </a:t>
            </a:r>
            <a:r>
              <a:rPr lang="en-US" altLang="en-US" sz="2600" dirty="0"/>
              <a:t>their balances</a:t>
            </a:r>
          </a:p>
          <a:p>
            <a:pPr marL="256032" lvl="1" indent="-256032">
              <a:spcBef>
                <a:spcPts val="1500"/>
              </a:spcBef>
              <a:buClr>
                <a:schemeClr val="bg2"/>
              </a:buClr>
              <a:buSzPct val="100000"/>
              <a:buFont typeface="Arial" pitchFamily="34" charset="0"/>
              <a:buChar char="•"/>
            </a:pPr>
            <a:r>
              <a:rPr lang="en-US" altLang="en-US" sz="2600" dirty="0"/>
              <a:t>Assets listed first, then liabilities and shareholders’ equity</a:t>
            </a:r>
          </a:p>
          <a:p>
            <a:pPr marL="256032" lvl="1" indent="-256032">
              <a:spcBef>
                <a:spcPts val="1500"/>
              </a:spcBef>
              <a:buClr>
                <a:schemeClr val="bg2"/>
              </a:buClr>
              <a:buSzPct val="100000"/>
              <a:buFont typeface="Arial" pitchFamily="34" charset="0"/>
              <a:buChar char="•"/>
            </a:pPr>
            <a:r>
              <a:rPr lang="en-US" altLang="en-US" sz="2600" dirty="0"/>
              <a:t>Shows that debits </a:t>
            </a:r>
            <a:r>
              <a:rPr lang="en-US" altLang="zh-CN" sz="2800" u="sng" dirty="0">
                <a:latin typeface="Times New Roman" panose="02020603050405020304" pitchFamily="18" charset="0"/>
                <a:cs typeface="Times New Roman" panose="02020603050405020304" pitchFamily="18" charset="0"/>
              </a:rPr>
              <a:t>       </a:t>
            </a:r>
            <a:r>
              <a:rPr lang="en-US" altLang="zh-CN" sz="2800" u="sng" dirty="0" smtClean="0">
                <a:latin typeface="Times New Roman" panose="02020603050405020304" pitchFamily="18" charset="0"/>
                <a:cs typeface="Times New Roman" panose="02020603050405020304" pitchFamily="18" charset="0"/>
              </a:rPr>
              <a:t>     </a:t>
            </a:r>
            <a:r>
              <a:rPr lang="en-US" altLang="en-US" sz="2600" dirty="0" smtClean="0"/>
              <a:t> </a:t>
            </a:r>
            <a:r>
              <a:rPr lang="en-US" altLang="en-US" sz="2600" dirty="0"/>
              <a:t>credits</a:t>
            </a:r>
          </a:p>
          <a:p>
            <a:pPr marL="256032" lvl="1" indent="-256032">
              <a:spcBef>
                <a:spcPts val="1500"/>
              </a:spcBef>
              <a:buClr>
                <a:schemeClr val="bg2"/>
              </a:buClr>
              <a:buSzPct val="100000"/>
              <a:buFont typeface="Arial" pitchFamily="34" charset="0"/>
              <a:buChar char="•"/>
            </a:pPr>
            <a:r>
              <a:rPr lang="en-US" altLang="en-US" sz="2600" dirty="0"/>
              <a:t>Usually prepared at the end of the period</a:t>
            </a:r>
          </a:p>
          <a:p>
            <a:pPr marL="256032" lvl="1" indent="-256032">
              <a:spcBef>
                <a:spcPts val="1500"/>
              </a:spcBef>
              <a:buClr>
                <a:schemeClr val="bg2"/>
              </a:buClr>
              <a:buSzPct val="100000"/>
              <a:buFont typeface="Arial" pitchFamily="34" charset="0"/>
              <a:buChar char="•"/>
            </a:pPr>
            <a:r>
              <a:rPr lang="en-US" altLang="en-US" sz="2600" dirty="0"/>
              <a:t>Facilitates preparation of the financial statements</a:t>
            </a:r>
            <a:endParaRPr lang="en-US" sz="2600"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smtClean="0">
                <a:latin typeface="+mj-lt"/>
              </a:rPr>
              <a:t>Trial </a:t>
            </a:r>
            <a:r>
              <a:rPr lang="en-US" sz="3600" dirty="0">
                <a:latin typeface="+mj-lt"/>
              </a:rPr>
              <a:t>Balance</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7519" y="1447800"/>
            <a:ext cx="7435507" cy="4625456"/>
          </a:xfrm>
          <a:prstGeom prst="rect">
            <a:avLst/>
          </a:prstGeom>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mj-lt"/>
              </a:rPr>
              <a:t>Analyzing Accounts </a:t>
            </a:r>
            <a:r>
              <a:rPr lang="en-US" sz="2000" b="0" dirty="0">
                <a:latin typeface="+mj-lt"/>
              </a:rPr>
              <a:t>(1 of 3)</a:t>
            </a:r>
          </a:p>
        </p:txBody>
      </p:sp>
      <p:sp>
        <p:nvSpPr>
          <p:cNvPr id="3" name="Content Placeholder 2"/>
          <p:cNvSpPr>
            <a:spLocks noGrp="1"/>
          </p:cNvSpPr>
          <p:nvPr>
            <p:ph idx="1"/>
          </p:nvPr>
        </p:nvSpPr>
        <p:spPr>
          <a:xfrm>
            <a:off x="457200" y="1600201"/>
            <a:ext cx="8229600" cy="2133600"/>
          </a:xfrm>
        </p:spPr>
        <p:txBody>
          <a:bodyPr/>
          <a:lstStyle/>
          <a:p>
            <a:pPr marL="0" indent="0">
              <a:buNone/>
            </a:pPr>
            <a:r>
              <a:rPr lang="en-US" sz="2400" dirty="0">
                <a:cs typeface="Arial" panose="020B0604020202020204" pitchFamily="34" charset="0"/>
              </a:rPr>
              <a:t>Suppose </a:t>
            </a:r>
            <a:r>
              <a:rPr lang="en-US" sz="2400" dirty="0" err="1"/>
              <a:t>RedLotus</a:t>
            </a:r>
            <a:r>
              <a:rPr lang="en-US" sz="2400" dirty="0">
                <a:cs typeface="Arial" panose="020B0604020202020204" pitchFamily="34" charset="0"/>
              </a:rPr>
              <a:t>’ began May with cash of $33,000. During May, </a:t>
            </a:r>
            <a:r>
              <a:rPr lang="en-US" sz="2400" dirty="0" err="1"/>
              <a:t>RedLotus</a:t>
            </a:r>
            <a:r>
              <a:rPr lang="en-US" sz="2400" dirty="0">
                <a:cs typeface="Arial" panose="020B0604020202020204" pitchFamily="34" charset="0"/>
              </a:rPr>
              <a:t>’ received cash of $8,000 and ended the month with a cash balance of $35,000.</a:t>
            </a:r>
          </a:p>
          <a:p>
            <a:pPr marL="0" indent="0">
              <a:buNone/>
            </a:pPr>
            <a:r>
              <a:rPr lang="en-US" sz="2400" dirty="0">
                <a:cs typeface="Arial" panose="020B0604020202020204" pitchFamily="34" charset="0"/>
              </a:rPr>
              <a:t>You can compute total cash payments by analyzing </a:t>
            </a:r>
            <a:r>
              <a:rPr lang="en-US" sz="2400" dirty="0" err="1"/>
              <a:t>RedLotus</a:t>
            </a:r>
            <a:r>
              <a:rPr lang="en-US" sz="2400" dirty="0">
                <a:cs typeface="Arial" panose="020B0604020202020204" pitchFamily="34" charset="0"/>
              </a:rPr>
              <a:t>’ Cash account:</a:t>
            </a:r>
            <a:endParaRPr lang="en-US" sz="2400"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4887" y="3810000"/>
            <a:ext cx="7510924" cy="2368754"/>
          </a:xfrm>
          <a:prstGeom prst="rect">
            <a:avLst/>
          </a:prstGeom>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mj-lt"/>
              </a:rPr>
              <a:t>Analyzing Accounts </a:t>
            </a:r>
            <a:r>
              <a:rPr lang="en-US" sz="2000" b="0" dirty="0">
                <a:latin typeface="+mj-lt"/>
              </a:rPr>
              <a:t>(2 of 3)</a:t>
            </a:r>
          </a:p>
        </p:txBody>
      </p:sp>
      <p:sp>
        <p:nvSpPr>
          <p:cNvPr id="3" name="Content Placeholder 2"/>
          <p:cNvSpPr>
            <a:spLocks noGrp="1"/>
          </p:cNvSpPr>
          <p:nvPr>
            <p:ph idx="1"/>
          </p:nvPr>
        </p:nvSpPr>
        <p:spPr>
          <a:xfrm>
            <a:off x="457200" y="1600201"/>
            <a:ext cx="8229600" cy="1219200"/>
          </a:xfrm>
        </p:spPr>
        <p:txBody>
          <a:bodyPr/>
          <a:lstStyle/>
          <a:p>
            <a:pPr marL="0" indent="0">
              <a:buNone/>
            </a:pPr>
            <a:r>
              <a:rPr lang="en-US" sz="2400" dirty="0">
                <a:cs typeface="Arial" panose="020B0604020202020204" pitchFamily="34" charset="0"/>
              </a:rPr>
              <a:t>You can compute either sales on account or cash collections on account by analyzing the Accounts Receivable account (using assumed amounts):</a:t>
            </a:r>
            <a:endParaRPr lang="en-US" sz="24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3270388"/>
            <a:ext cx="8077200" cy="2009544"/>
          </a:xfrm>
          <a:prstGeom prst="rect">
            <a:avLst/>
          </a:prstGeom>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mj-lt"/>
              </a:rPr>
              <a:t>Analyzing Accounts </a:t>
            </a:r>
            <a:r>
              <a:rPr lang="en-US" sz="2000" b="0" dirty="0">
                <a:latin typeface="+mj-lt"/>
              </a:rPr>
              <a:t>(3 of 3)</a:t>
            </a:r>
          </a:p>
        </p:txBody>
      </p:sp>
      <p:sp>
        <p:nvSpPr>
          <p:cNvPr id="3" name="Content Placeholder 2"/>
          <p:cNvSpPr>
            <a:spLocks noGrp="1"/>
          </p:cNvSpPr>
          <p:nvPr>
            <p:ph idx="1"/>
          </p:nvPr>
        </p:nvSpPr>
        <p:spPr>
          <a:xfrm>
            <a:off x="457200" y="1600201"/>
            <a:ext cx="8229600" cy="838200"/>
          </a:xfrm>
        </p:spPr>
        <p:txBody>
          <a:bodyPr/>
          <a:lstStyle/>
          <a:p>
            <a:pPr marL="0" indent="0">
              <a:buNone/>
            </a:pPr>
            <a:r>
              <a:rPr lang="en-US" sz="2400" dirty="0">
                <a:cs typeface="Arial" panose="020B0604020202020204" pitchFamily="34" charset="0"/>
              </a:rPr>
              <a:t>You can determine how much you paid on account by analyzing Accounts Payable (using assumed amounts):</a:t>
            </a:r>
            <a:endParaRPr lang="en-US" sz="2400" dirty="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121491" y="3352800"/>
            <a:ext cx="6901018" cy="186438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457200" y="685800"/>
            <a:ext cx="8229600" cy="1069975"/>
          </a:xfrm>
        </p:spPr>
        <p:txBody>
          <a:bodyPr/>
          <a:lstStyle/>
          <a:p>
            <a:pPr eaLnBrk="1" hangingPunct="1"/>
            <a:r>
              <a:rPr lang="en-US" smtClean="0"/>
              <a:t>Correcting Accounting Errors</a:t>
            </a:r>
          </a:p>
        </p:txBody>
      </p:sp>
      <p:graphicFrame>
        <p:nvGraphicFramePr>
          <p:cNvPr id="6" name="Diagram 5"/>
          <p:cNvGraphicFramePr/>
          <p:nvPr/>
        </p:nvGraphicFramePr>
        <p:xfrm>
          <a:off x="1143000" y="2057400"/>
          <a:ext cx="73914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8916" name="Footer Placeholder 4"/>
          <p:cNvSpPr txBox="1"/>
          <p:nvPr/>
        </p:nvSpPr>
        <p:spPr bwMode="auto">
          <a:xfrm>
            <a:off x="2438400" y="6553200"/>
            <a:ext cx="4343400" cy="304800"/>
          </a:xfrm>
          <a:prstGeom prst="rect">
            <a:avLst/>
          </a:prstGeom>
          <a:noFill/>
          <a:ln w="9525">
            <a:noFill/>
            <a:miter lim="800000"/>
          </a:ln>
        </p:spPr>
        <p:txBody>
          <a:bodyPr anchor="b"/>
          <a:lstStyle/>
          <a:p>
            <a:pPr algn="r"/>
            <a:r>
              <a:rPr lang="en-US" sz="1000">
                <a:solidFill>
                  <a:schemeClr val="accent2"/>
                </a:solidFill>
              </a:rPr>
              <a:t>Copyright ©2014 Pearson Education</a:t>
            </a:r>
          </a:p>
        </p:txBody>
      </p:sp>
      <p:sp>
        <p:nvSpPr>
          <p:cNvPr id="38917" name="Slide Number Placeholder 5"/>
          <p:cNvSpPr>
            <a:spLocks noGrp="1"/>
          </p:cNvSpPr>
          <p:nvPr>
            <p:ph type="sldNum" sz="quarter" idx="11"/>
          </p:nvPr>
        </p:nvSpPr>
        <p:spPr bwMode="auto">
          <a:xfrm>
            <a:off x="8382000" y="6491288"/>
            <a:ext cx="762000" cy="366712"/>
          </a:xfrm>
          <a:noFill/>
          <a:ln>
            <a:miter lim="800000"/>
          </a:ln>
        </p:spPr>
        <p:txBody>
          <a:bodyPr/>
          <a:lstStyle/>
          <a:p>
            <a:fld id="{9C25EBFC-45C3-4EBD-98BA-B790E1F30889}" type="slidenum">
              <a:rPr lang="en-US" sz="1000" smtClean="0">
                <a:solidFill>
                  <a:schemeClr val="accent2"/>
                </a:solidFill>
                <a:latin typeface="Arial" panose="020B0604020202020204" pitchFamily="34" charset="0"/>
                <a:cs typeface="Arial" panose="020B0604020202020204" pitchFamily="34" charset="0"/>
              </a:rPr>
              <a:t>53</a:t>
            </a:fld>
            <a:endParaRPr lang="en-US" sz="1000" smtClean="0">
              <a:solidFill>
                <a:schemeClr val="accent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2249089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smtClean="0">
                <a:latin typeface="+mj-lt"/>
              </a:rPr>
              <a:t>Account </a:t>
            </a:r>
            <a:r>
              <a:rPr lang="en-US" sz="3600" dirty="0">
                <a:latin typeface="+mj-lt"/>
              </a:rPr>
              <a:t>in Four-Column Format</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6754" y="1828800"/>
            <a:ext cx="8370491" cy="3125427"/>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smtClean="0"/>
              <a:t>©2010 Pearson Prentice Hall. All rights reserved.</a:t>
            </a:r>
            <a:endParaRPr lang="en-US"/>
          </a:p>
        </p:txBody>
      </p:sp>
      <p:sp>
        <p:nvSpPr>
          <p:cNvPr id="3" name="灯片编号占位符 2"/>
          <p:cNvSpPr>
            <a:spLocks noGrp="1"/>
          </p:cNvSpPr>
          <p:nvPr>
            <p:ph type="sldNum" sz="quarter" idx="11"/>
          </p:nvPr>
        </p:nvSpPr>
        <p:spPr/>
        <p:txBody>
          <a:bodyPr/>
          <a:lstStyle/>
          <a:p>
            <a:pPr>
              <a:defRPr/>
            </a:pPr>
            <a:r>
              <a:rPr lang="en-US" smtClean="0"/>
              <a:t>1-</a:t>
            </a:r>
            <a:fld id="{D2362BE1-FB08-4E63-8B5A-5F7179461BBE}" type="slidenum">
              <a:rPr lang="en-US" smtClean="0"/>
              <a:t>55</a:t>
            </a:fld>
            <a:endParaRPr lang="en-US"/>
          </a:p>
        </p:txBody>
      </p:sp>
      <p:sp>
        <p:nvSpPr>
          <p:cNvPr id="5" name="TextBox 4"/>
          <p:cNvSpPr txBox="1"/>
          <p:nvPr/>
        </p:nvSpPr>
        <p:spPr>
          <a:xfrm>
            <a:off x="502920" y="1981200"/>
            <a:ext cx="8496300" cy="6370975"/>
          </a:xfrm>
          <a:prstGeom prst="rect">
            <a:avLst/>
          </a:prstGeom>
          <a:noFill/>
        </p:spPr>
        <p:txBody>
          <a:bodyPr wrap="square" rtlCol="0">
            <a:spAutoFit/>
          </a:bodyPr>
          <a:lstStyle/>
          <a:p>
            <a:pPr marL="342900" indent="-342900" eaLnBrk="1" hangingPunct="1">
              <a:buFont typeface="Arial" panose="020B0604020202020204" pitchFamily="34" charset="0"/>
              <a:buChar char="•"/>
            </a:pPr>
            <a:r>
              <a:rPr lang="en-US" altLang="zh-CN" sz="2400" dirty="0"/>
              <a:t>Accounting </a:t>
            </a:r>
            <a:r>
              <a:rPr lang="en-US" altLang="zh-CN" sz="2400" dirty="0" smtClean="0"/>
              <a:t>is based </a:t>
            </a:r>
            <a:r>
              <a:rPr lang="en-US" altLang="zh-CN" sz="2400" dirty="0"/>
              <a:t>on a </a:t>
            </a:r>
            <a:r>
              <a:rPr lang="en-US" altLang="zh-CN" sz="2400" u="sng" dirty="0"/>
              <a:t>double-entry</a:t>
            </a:r>
            <a:r>
              <a:rPr lang="en-US" altLang="zh-CN" sz="2400" dirty="0"/>
              <a:t> </a:t>
            </a:r>
            <a:r>
              <a:rPr lang="en-US" altLang="zh-CN" sz="2400" dirty="0" smtClean="0"/>
              <a:t>system:</a:t>
            </a:r>
            <a:r>
              <a:rPr lang="en-US" altLang="zh-CN" sz="2400" dirty="0"/>
              <a:t> </a:t>
            </a:r>
            <a:r>
              <a:rPr lang="en-US" altLang="zh-CN" sz="2400" dirty="0" smtClean="0"/>
              <a:t>Each </a:t>
            </a:r>
            <a:r>
              <a:rPr lang="en-US" altLang="zh-CN" sz="2400" dirty="0"/>
              <a:t>transaction affects </a:t>
            </a:r>
            <a:r>
              <a:rPr lang="en-US" altLang="zh-CN" sz="2400" u="sng" dirty="0"/>
              <a:t>at least two </a:t>
            </a:r>
            <a:r>
              <a:rPr lang="en-US" altLang="zh-CN" sz="2400" dirty="0" smtClean="0"/>
              <a:t>accounts.</a:t>
            </a:r>
            <a:endParaRPr lang="en-US" altLang="zh-CN" sz="2400" dirty="0"/>
          </a:p>
          <a:p>
            <a:pPr marL="342900" indent="-342900">
              <a:buFont typeface="Arial" panose="020B0604020202020204" pitchFamily="34" charset="0"/>
              <a:buChar char="•"/>
            </a:pPr>
            <a:endParaRPr lang="en-US" altLang="zh-CN" sz="2400" dirty="0"/>
          </a:p>
          <a:p>
            <a:pPr marL="342900" indent="-342900">
              <a:buFont typeface="Arial" panose="020B0604020202020204" pitchFamily="34" charset="0"/>
              <a:buChar char="•"/>
            </a:pPr>
            <a:r>
              <a:rPr lang="en-US" altLang="zh-CN" sz="2400" dirty="0" smtClean="0"/>
              <a:t>Rules </a:t>
            </a:r>
            <a:r>
              <a:rPr lang="en-US" altLang="zh-CN" sz="2400" dirty="0"/>
              <a:t>of debit and </a:t>
            </a:r>
            <a:r>
              <a:rPr lang="en-US" altLang="zh-CN" sz="2400" dirty="0" smtClean="0"/>
              <a:t>credit (normal balance?)</a:t>
            </a:r>
          </a:p>
          <a:p>
            <a:pPr marL="342900" indent="-342900" eaLnBrk="1" hangingPunct="1">
              <a:buFont typeface="Wingdings" panose="05000000000000000000" pitchFamily="2" charset="2"/>
              <a:buChar char="Ø"/>
            </a:pPr>
            <a:r>
              <a:rPr lang="en-US" altLang="zh-CN" sz="2400" dirty="0" smtClean="0">
                <a:ea typeface="MS PGothic" panose="020B0600070205080204" pitchFamily="34" charset="-128"/>
              </a:rPr>
              <a:t>Assets=Liability </a:t>
            </a:r>
            <a:r>
              <a:rPr lang="en-US" altLang="zh-CN" sz="2400" dirty="0">
                <a:ea typeface="MS PGothic" panose="020B0600070205080204" pitchFamily="34" charset="-128"/>
              </a:rPr>
              <a:t>+ </a:t>
            </a:r>
            <a:r>
              <a:rPr lang="en-US" altLang="zh-CN" sz="2400" dirty="0" smtClean="0">
                <a:ea typeface="MS PGothic" panose="020B0600070205080204" pitchFamily="34" charset="-128"/>
              </a:rPr>
              <a:t>Equity</a:t>
            </a:r>
          </a:p>
          <a:p>
            <a:pPr marL="342900" indent="-342900" eaLnBrk="1" hangingPunct="1">
              <a:buFont typeface="Wingdings" panose="05000000000000000000" pitchFamily="2" charset="2"/>
              <a:buChar char="Ø"/>
            </a:pPr>
            <a:r>
              <a:rPr lang="en-US" altLang="zh-CN" sz="2400" dirty="0" smtClean="0">
                <a:solidFill>
                  <a:srgbClr val="FF0000"/>
                </a:solidFill>
                <a:ea typeface="MS PGothic" panose="020B0600070205080204" pitchFamily="34" charset="-128"/>
              </a:rPr>
              <a:t>Debit       Credit     </a:t>
            </a:r>
            <a:r>
              <a:rPr lang="en-US" altLang="zh-CN" sz="2400" dirty="0" err="1" smtClean="0">
                <a:solidFill>
                  <a:srgbClr val="FF0000"/>
                </a:solidFill>
                <a:ea typeface="MS PGothic" panose="020B0600070205080204" pitchFamily="34" charset="-128"/>
              </a:rPr>
              <a:t>Credit</a:t>
            </a:r>
            <a:endParaRPr lang="en-US" altLang="zh-CN" sz="2400" dirty="0" smtClean="0">
              <a:solidFill>
                <a:srgbClr val="FF0000"/>
              </a:solidFill>
              <a:ea typeface="MS PGothic" panose="020B0600070205080204" pitchFamily="34" charset="-128"/>
            </a:endParaRPr>
          </a:p>
          <a:p>
            <a:pPr marL="342900" indent="-342900" eaLnBrk="1" hangingPunct="1">
              <a:buFont typeface="Wingdings" panose="05000000000000000000" pitchFamily="2" charset="2"/>
              <a:buChar char="Ø"/>
            </a:pPr>
            <a:r>
              <a:rPr lang="en-US" altLang="zh-CN" sz="2400" dirty="0" smtClean="0">
                <a:ea typeface="MS PGothic" panose="020B0600070205080204" pitchFamily="34" charset="-128"/>
              </a:rPr>
              <a:t>Net income=Revenue-Expenses</a:t>
            </a:r>
          </a:p>
          <a:p>
            <a:pPr marL="342900" indent="-342900" eaLnBrk="1" hangingPunct="1">
              <a:buFont typeface="Wingdings" panose="05000000000000000000" pitchFamily="2" charset="2"/>
              <a:buChar char="Ø"/>
            </a:pPr>
            <a:r>
              <a:rPr lang="en-US" altLang="zh-CN" sz="2400" dirty="0" smtClean="0">
                <a:solidFill>
                  <a:srgbClr val="FF0000"/>
                </a:solidFill>
                <a:ea typeface="MS PGothic" panose="020B0600070205080204" pitchFamily="34" charset="-128"/>
              </a:rPr>
              <a:t>Credit            </a:t>
            </a:r>
            <a:r>
              <a:rPr lang="en-US" altLang="zh-CN" sz="2400" dirty="0" err="1" smtClean="0">
                <a:solidFill>
                  <a:srgbClr val="FF0000"/>
                </a:solidFill>
                <a:ea typeface="MS PGothic" panose="020B0600070205080204" pitchFamily="34" charset="-128"/>
              </a:rPr>
              <a:t>Credit</a:t>
            </a:r>
            <a:r>
              <a:rPr lang="en-US" altLang="zh-CN" sz="2400" dirty="0" smtClean="0">
                <a:solidFill>
                  <a:srgbClr val="FF0000"/>
                </a:solidFill>
                <a:ea typeface="MS PGothic" panose="020B0600070205080204" pitchFamily="34" charset="-128"/>
              </a:rPr>
              <a:t>       Debit</a:t>
            </a:r>
            <a:endParaRPr lang="en-US" altLang="zh-CN" sz="2400" dirty="0">
              <a:solidFill>
                <a:srgbClr val="FF0000"/>
              </a:solidFill>
              <a:ea typeface="MS PGothic" panose="020B0600070205080204" pitchFamily="34" charset="-128"/>
            </a:endParaRPr>
          </a:p>
          <a:p>
            <a:pPr marL="342900" indent="-342900">
              <a:buFont typeface="Arial" panose="020B0604020202020204" pitchFamily="34" charset="0"/>
              <a:buChar char="•"/>
            </a:pPr>
            <a:endParaRPr lang="en-US" altLang="zh-CN" sz="2400" dirty="0" smtClean="0"/>
          </a:p>
          <a:p>
            <a:pPr marL="342900" indent="-342900">
              <a:buFont typeface="Arial" panose="020B0604020202020204" pitchFamily="34" charset="0"/>
              <a:buChar char="•"/>
            </a:pPr>
            <a:r>
              <a:rPr lang="en-US" altLang="zh-CN" sz="2400" dirty="0"/>
              <a:t>Accounting </a:t>
            </a:r>
            <a:r>
              <a:rPr lang="en-US" altLang="zh-CN" sz="2400" dirty="0" smtClean="0"/>
              <a:t>process:</a:t>
            </a:r>
            <a:endParaRPr lang="en-US" altLang="zh-CN" sz="2400" dirty="0"/>
          </a:p>
          <a:p>
            <a:r>
              <a:rPr lang="en-US" altLang="zh-CN" sz="2400" dirty="0" smtClean="0"/>
              <a:t>Transactions </a:t>
            </a:r>
            <a:r>
              <a:rPr lang="en-US" altLang="zh-CN" sz="2400" dirty="0">
                <a:sym typeface="Wingdings" panose="05000000000000000000" pitchFamily="2" charset="2"/>
              </a:rPr>
              <a:t> </a:t>
            </a:r>
            <a:r>
              <a:rPr lang="en-US" altLang="zh-CN" sz="2400" dirty="0" smtClean="0"/>
              <a:t>Journals </a:t>
            </a:r>
            <a:r>
              <a:rPr lang="en-US" altLang="zh-CN" sz="2400" dirty="0">
                <a:sym typeface="Wingdings" panose="05000000000000000000" pitchFamily="2" charset="2"/>
              </a:rPr>
              <a:t> ledger  trial balance  financial statements  business </a:t>
            </a:r>
            <a:r>
              <a:rPr lang="en-US" altLang="zh-CN" sz="2400" dirty="0" smtClean="0">
                <a:sym typeface="Wingdings" panose="05000000000000000000" pitchFamily="2" charset="2"/>
              </a:rPr>
              <a:t>decisions</a:t>
            </a:r>
            <a:endParaRPr lang="en-US" altLang="zh-CN" sz="2400" dirty="0">
              <a:sym typeface="Wingdings" panose="05000000000000000000" pitchFamily="2" charset="2"/>
            </a:endParaRPr>
          </a:p>
          <a:p>
            <a:pPr marL="342900" indent="-342900">
              <a:buFont typeface="Arial" panose="020B0604020202020204" pitchFamily="34" charset="0"/>
              <a:buChar char="•"/>
            </a:pPr>
            <a:endParaRPr lang="en-US" altLang="zh-CN" sz="2400" dirty="0" smtClean="0"/>
          </a:p>
          <a:p>
            <a:pPr marL="342900" indent="-342900">
              <a:buFont typeface="Arial" panose="020B0604020202020204" pitchFamily="34" charset="0"/>
              <a:buChar char="•"/>
            </a:pPr>
            <a:endParaRPr lang="en-US" altLang="zh-CN" sz="2400" dirty="0"/>
          </a:p>
          <a:p>
            <a:endParaRPr lang="en-US" altLang="zh-CN" dirty="0" smtClean="0"/>
          </a:p>
          <a:p>
            <a:endParaRPr lang="en-US" altLang="zh-CN" dirty="0"/>
          </a:p>
          <a:p>
            <a:endParaRPr lang="en-US" altLang="zh-CN" dirty="0" smtClean="0"/>
          </a:p>
          <a:p>
            <a:endParaRPr lang="zh-CN" altLang="en-US" dirty="0"/>
          </a:p>
        </p:txBody>
      </p:sp>
      <p:sp>
        <p:nvSpPr>
          <p:cNvPr id="7" name="Title 1"/>
          <p:cNvSpPr txBox="1"/>
          <p:nvPr/>
        </p:nvSpPr>
        <p:spPr bwMode="auto">
          <a:xfrm>
            <a:off x="472440" y="914400"/>
            <a:ext cx="8229600" cy="1066800"/>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Trebuchet MS" panose="020B0603020202020204" pitchFamily="34" charset="0"/>
              </a:defRPr>
            </a:lvl2pPr>
            <a:lvl3pPr algn="l" rtl="0" eaLnBrk="0" fontAlgn="base" hangingPunct="0">
              <a:spcBef>
                <a:spcPct val="0"/>
              </a:spcBef>
              <a:spcAft>
                <a:spcPct val="0"/>
              </a:spcAft>
              <a:defRPr sz="4000">
                <a:solidFill>
                  <a:schemeClr val="tx2"/>
                </a:solidFill>
                <a:latin typeface="Trebuchet MS" panose="020B0603020202020204" pitchFamily="34" charset="0"/>
              </a:defRPr>
            </a:lvl3pPr>
            <a:lvl4pPr algn="l" rtl="0" eaLnBrk="0" fontAlgn="base" hangingPunct="0">
              <a:spcBef>
                <a:spcPct val="0"/>
              </a:spcBef>
              <a:spcAft>
                <a:spcPct val="0"/>
              </a:spcAft>
              <a:defRPr sz="4000">
                <a:solidFill>
                  <a:schemeClr val="tx2"/>
                </a:solidFill>
                <a:latin typeface="Trebuchet MS" panose="020B0603020202020204" pitchFamily="34" charset="0"/>
              </a:defRPr>
            </a:lvl4pPr>
            <a:lvl5pPr algn="l" rtl="0" eaLnBrk="0" fontAlgn="base" hangingPunct="0">
              <a:spcBef>
                <a:spcPct val="0"/>
              </a:spcBef>
              <a:spcAft>
                <a:spcPct val="0"/>
              </a:spcAft>
              <a:defRPr sz="4000">
                <a:solidFill>
                  <a:schemeClr val="tx2"/>
                </a:solidFill>
                <a:latin typeface="Trebuchet MS" panose="020B0603020202020204" pitchFamily="34" charset="0"/>
              </a:defRPr>
            </a:lvl5pPr>
            <a:lvl6pPr marL="457200" algn="l" rtl="0" eaLnBrk="0" fontAlgn="base" hangingPunct="0">
              <a:spcBef>
                <a:spcPct val="0"/>
              </a:spcBef>
              <a:spcAft>
                <a:spcPct val="0"/>
              </a:spcAft>
              <a:defRPr sz="4000">
                <a:solidFill>
                  <a:schemeClr val="tx2"/>
                </a:solidFill>
                <a:latin typeface="Trebuchet MS" panose="020B0603020202020204" pitchFamily="34" charset="0"/>
              </a:defRPr>
            </a:lvl6pPr>
            <a:lvl7pPr marL="914400" algn="l" rtl="0" eaLnBrk="0" fontAlgn="base" hangingPunct="0">
              <a:spcBef>
                <a:spcPct val="0"/>
              </a:spcBef>
              <a:spcAft>
                <a:spcPct val="0"/>
              </a:spcAft>
              <a:defRPr sz="4000">
                <a:solidFill>
                  <a:schemeClr val="tx2"/>
                </a:solidFill>
                <a:latin typeface="Trebuchet MS" panose="020B0603020202020204" pitchFamily="34" charset="0"/>
              </a:defRPr>
            </a:lvl7pPr>
            <a:lvl8pPr marL="1371600" algn="l" rtl="0" eaLnBrk="0" fontAlgn="base" hangingPunct="0">
              <a:spcBef>
                <a:spcPct val="0"/>
              </a:spcBef>
              <a:spcAft>
                <a:spcPct val="0"/>
              </a:spcAft>
              <a:defRPr sz="4000">
                <a:solidFill>
                  <a:schemeClr val="tx2"/>
                </a:solidFill>
                <a:latin typeface="Trebuchet MS" panose="020B0603020202020204" pitchFamily="34" charset="0"/>
              </a:defRPr>
            </a:lvl8pPr>
            <a:lvl9pPr marL="1828800" algn="l" rtl="0" eaLnBrk="0" fontAlgn="base" hangingPunct="0">
              <a:spcBef>
                <a:spcPct val="0"/>
              </a:spcBef>
              <a:spcAft>
                <a:spcPct val="0"/>
              </a:spcAft>
              <a:defRPr sz="4000">
                <a:solidFill>
                  <a:schemeClr val="tx2"/>
                </a:solidFill>
                <a:latin typeface="Trebuchet MS" panose="020B0603020202020204" pitchFamily="34" charset="0"/>
              </a:defRPr>
            </a:lvl9pPr>
          </a:lstStyle>
          <a:p>
            <a:pPr eaLnBrk="1" hangingPunct="1"/>
            <a:r>
              <a:rPr lang="en-US" kern="0" dirty="0" smtClean="0"/>
              <a:t>Review of Chapter 2</a:t>
            </a:r>
          </a:p>
        </p:txBody>
      </p:sp>
    </p:spTree>
    <p:extLst>
      <p:ext uri="{BB962C8B-B14F-4D97-AF65-F5344CB8AC3E}">
        <p14:creationId xmlns:p14="http://schemas.microsoft.com/office/powerpoint/2010/main" val="125763032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smtClean="0"/>
              <a:t>©2010 Pearson Prentice Hall. All rights reserved.</a:t>
            </a:r>
            <a:endParaRPr lang="en-US"/>
          </a:p>
        </p:txBody>
      </p:sp>
      <p:sp>
        <p:nvSpPr>
          <p:cNvPr id="3" name="灯片编号占位符 2"/>
          <p:cNvSpPr>
            <a:spLocks noGrp="1"/>
          </p:cNvSpPr>
          <p:nvPr>
            <p:ph type="sldNum" sz="quarter" idx="11"/>
          </p:nvPr>
        </p:nvSpPr>
        <p:spPr/>
        <p:txBody>
          <a:bodyPr/>
          <a:lstStyle/>
          <a:p>
            <a:pPr>
              <a:defRPr/>
            </a:pPr>
            <a:r>
              <a:rPr lang="en-US" smtClean="0"/>
              <a:t>1-</a:t>
            </a:r>
            <a:fld id="{D2362BE1-FB08-4E63-8B5A-5F7179461BBE}" type="slidenum">
              <a:rPr lang="en-US" smtClean="0"/>
              <a:t>56</a:t>
            </a:fld>
            <a:endParaRPr lang="en-US"/>
          </a:p>
        </p:txBody>
      </p:sp>
      <p:sp>
        <p:nvSpPr>
          <p:cNvPr id="5" name="TextBox 4"/>
          <p:cNvSpPr txBox="1"/>
          <p:nvPr/>
        </p:nvSpPr>
        <p:spPr>
          <a:xfrm>
            <a:off x="472440" y="2362200"/>
            <a:ext cx="8496300" cy="3785652"/>
          </a:xfrm>
          <a:prstGeom prst="rect">
            <a:avLst/>
          </a:prstGeom>
          <a:noFill/>
        </p:spPr>
        <p:txBody>
          <a:bodyPr wrap="square" rtlCol="0">
            <a:spAutoFit/>
          </a:bodyPr>
          <a:lstStyle/>
          <a:p>
            <a:pPr marL="342900" indent="-342900">
              <a:buFont typeface="Arial" panose="020B0604020202020204" pitchFamily="34" charset="0"/>
              <a:buChar char="•"/>
            </a:pPr>
            <a:r>
              <a:rPr lang="en-US" altLang="zh-CN" sz="2400" dirty="0">
                <a:sym typeface="Wingdings" panose="05000000000000000000" pitchFamily="2" charset="2"/>
              </a:rPr>
              <a:t>A</a:t>
            </a:r>
            <a:r>
              <a:rPr lang="en-US" altLang="zh-CN" sz="2400" dirty="0" smtClean="0">
                <a:sym typeface="Wingdings" panose="05000000000000000000" pitchFamily="2" charset="2"/>
              </a:rPr>
              <a:t>ccrual accounting.</a:t>
            </a:r>
          </a:p>
          <a:p>
            <a:pPr marL="342900" indent="-342900">
              <a:buFont typeface="Arial" panose="020B0604020202020204" pitchFamily="34" charset="0"/>
              <a:buChar char="•"/>
            </a:pPr>
            <a:r>
              <a:rPr lang="en-US" altLang="zh-CN" sz="2400" dirty="0" smtClean="0">
                <a:sym typeface="Wingdings" panose="05000000000000000000" pitchFamily="2" charset="2"/>
              </a:rPr>
              <a:t>Revenue recognition and matching principles.</a:t>
            </a:r>
          </a:p>
          <a:p>
            <a:pPr marL="342900" indent="-342900">
              <a:buFont typeface="Arial" panose="020B0604020202020204" pitchFamily="34" charset="0"/>
              <a:buChar char="•"/>
            </a:pPr>
            <a:r>
              <a:rPr lang="en-US" altLang="zh-CN" sz="2400" dirty="0" smtClean="0">
                <a:sym typeface="Wingdings" panose="05000000000000000000" pitchFamily="2" charset="2"/>
              </a:rPr>
              <a:t>Prepare the financial statements.</a:t>
            </a:r>
          </a:p>
          <a:p>
            <a:pPr marL="342900" indent="-342900">
              <a:buFont typeface="Arial" panose="020B0604020202020204" pitchFamily="34" charset="0"/>
              <a:buChar char="•"/>
            </a:pPr>
            <a:r>
              <a:rPr lang="en-US" altLang="zh-CN" sz="2400" dirty="0">
                <a:sym typeface="Wingdings" panose="05000000000000000000" pitchFamily="2" charset="2"/>
              </a:rPr>
              <a:t>A</a:t>
            </a:r>
            <a:r>
              <a:rPr lang="en-US" altLang="zh-CN" sz="2400" dirty="0" smtClean="0">
                <a:sym typeface="Wingdings" panose="05000000000000000000" pitchFamily="2" charset="2"/>
              </a:rPr>
              <a:t>djust the accounts.</a:t>
            </a:r>
          </a:p>
          <a:p>
            <a:pPr marL="342900" indent="-342900">
              <a:buFont typeface="Arial" panose="020B0604020202020204" pitchFamily="34" charset="0"/>
              <a:buChar char="•"/>
            </a:pPr>
            <a:r>
              <a:rPr lang="en-US" altLang="zh-CN" sz="2400" dirty="0" smtClean="0">
                <a:sym typeface="Wingdings" panose="05000000000000000000" pitchFamily="2" charset="2"/>
              </a:rPr>
              <a:t>Close the book.</a:t>
            </a:r>
          </a:p>
          <a:p>
            <a:endParaRPr lang="en-US" altLang="zh-CN" sz="2400" dirty="0" smtClean="0"/>
          </a:p>
          <a:p>
            <a:endParaRPr lang="en-US" altLang="zh-CN" sz="2400" dirty="0"/>
          </a:p>
          <a:p>
            <a:endParaRPr lang="en-US" altLang="zh-CN" dirty="0" smtClean="0"/>
          </a:p>
          <a:p>
            <a:endParaRPr lang="en-US" altLang="zh-CN" dirty="0"/>
          </a:p>
          <a:p>
            <a:endParaRPr lang="en-US" altLang="zh-CN" dirty="0" smtClean="0"/>
          </a:p>
          <a:p>
            <a:endParaRPr lang="zh-CN" altLang="en-US" dirty="0"/>
          </a:p>
        </p:txBody>
      </p:sp>
      <p:sp>
        <p:nvSpPr>
          <p:cNvPr id="7" name="Title 1"/>
          <p:cNvSpPr txBox="1"/>
          <p:nvPr/>
        </p:nvSpPr>
        <p:spPr bwMode="auto">
          <a:xfrm>
            <a:off x="457200" y="1143000"/>
            <a:ext cx="8229600" cy="1066800"/>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Trebuchet MS" panose="020B0603020202020204" pitchFamily="34" charset="0"/>
              </a:defRPr>
            </a:lvl2pPr>
            <a:lvl3pPr algn="l" rtl="0" eaLnBrk="0" fontAlgn="base" hangingPunct="0">
              <a:spcBef>
                <a:spcPct val="0"/>
              </a:spcBef>
              <a:spcAft>
                <a:spcPct val="0"/>
              </a:spcAft>
              <a:defRPr sz="4000">
                <a:solidFill>
                  <a:schemeClr val="tx2"/>
                </a:solidFill>
                <a:latin typeface="Trebuchet MS" panose="020B0603020202020204" pitchFamily="34" charset="0"/>
              </a:defRPr>
            </a:lvl3pPr>
            <a:lvl4pPr algn="l" rtl="0" eaLnBrk="0" fontAlgn="base" hangingPunct="0">
              <a:spcBef>
                <a:spcPct val="0"/>
              </a:spcBef>
              <a:spcAft>
                <a:spcPct val="0"/>
              </a:spcAft>
              <a:defRPr sz="4000">
                <a:solidFill>
                  <a:schemeClr val="tx2"/>
                </a:solidFill>
                <a:latin typeface="Trebuchet MS" panose="020B0603020202020204" pitchFamily="34" charset="0"/>
              </a:defRPr>
            </a:lvl4pPr>
            <a:lvl5pPr algn="l" rtl="0" eaLnBrk="0" fontAlgn="base" hangingPunct="0">
              <a:spcBef>
                <a:spcPct val="0"/>
              </a:spcBef>
              <a:spcAft>
                <a:spcPct val="0"/>
              </a:spcAft>
              <a:defRPr sz="4000">
                <a:solidFill>
                  <a:schemeClr val="tx2"/>
                </a:solidFill>
                <a:latin typeface="Trebuchet MS" panose="020B0603020202020204" pitchFamily="34" charset="0"/>
              </a:defRPr>
            </a:lvl5pPr>
            <a:lvl6pPr marL="457200" algn="l" rtl="0" eaLnBrk="0" fontAlgn="base" hangingPunct="0">
              <a:spcBef>
                <a:spcPct val="0"/>
              </a:spcBef>
              <a:spcAft>
                <a:spcPct val="0"/>
              </a:spcAft>
              <a:defRPr sz="4000">
                <a:solidFill>
                  <a:schemeClr val="tx2"/>
                </a:solidFill>
                <a:latin typeface="Trebuchet MS" panose="020B0603020202020204" pitchFamily="34" charset="0"/>
              </a:defRPr>
            </a:lvl6pPr>
            <a:lvl7pPr marL="914400" algn="l" rtl="0" eaLnBrk="0" fontAlgn="base" hangingPunct="0">
              <a:spcBef>
                <a:spcPct val="0"/>
              </a:spcBef>
              <a:spcAft>
                <a:spcPct val="0"/>
              </a:spcAft>
              <a:defRPr sz="4000">
                <a:solidFill>
                  <a:schemeClr val="tx2"/>
                </a:solidFill>
                <a:latin typeface="Trebuchet MS" panose="020B0603020202020204" pitchFamily="34" charset="0"/>
              </a:defRPr>
            </a:lvl7pPr>
            <a:lvl8pPr marL="1371600" algn="l" rtl="0" eaLnBrk="0" fontAlgn="base" hangingPunct="0">
              <a:spcBef>
                <a:spcPct val="0"/>
              </a:spcBef>
              <a:spcAft>
                <a:spcPct val="0"/>
              </a:spcAft>
              <a:defRPr sz="4000">
                <a:solidFill>
                  <a:schemeClr val="tx2"/>
                </a:solidFill>
                <a:latin typeface="Trebuchet MS" panose="020B0603020202020204" pitchFamily="34" charset="0"/>
              </a:defRPr>
            </a:lvl8pPr>
            <a:lvl9pPr marL="1828800" algn="l" rtl="0" eaLnBrk="0" fontAlgn="base" hangingPunct="0">
              <a:spcBef>
                <a:spcPct val="0"/>
              </a:spcBef>
              <a:spcAft>
                <a:spcPct val="0"/>
              </a:spcAft>
              <a:defRPr sz="4000">
                <a:solidFill>
                  <a:schemeClr val="tx2"/>
                </a:solidFill>
                <a:latin typeface="Trebuchet MS" panose="020B0603020202020204" pitchFamily="34" charset="0"/>
              </a:defRPr>
            </a:lvl9pPr>
          </a:lstStyle>
          <a:p>
            <a:pPr eaLnBrk="1" hangingPunct="1"/>
            <a:r>
              <a:rPr lang="en-US" kern="0" dirty="0" smtClean="0"/>
              <a:t>What will we learn in Chapter 3?</a:t>
            </a:r>
          </a:p>
        </p:txBody>
      </p:sp>
    </p:spTree>
    <p:extLst>
      <p:ext uri="{BB962C8B-B14F-4D97-AF65-F5344CB8AC3E}">
        <p14:creationId xmlns:p14="http://schemas.microsoft.com/office/powerpoint/2010/main" val="956897281"/>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e920a358ae2ba7ab5e8e8b128b1b07ef3a6fdf9"/>
</p:tagLst>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5070</TotalTime>
  <Words>3016</Words>
  <Application>Microsoft Office PowerPoint</Application>
  <PresentationFormat>全屏显示(4:3)</PresentationFormat>
  <Paragraphs>380</Paragraphs>
  <Slides>56</Slides>
  <Notes>33</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56</vt:i4>
      </vt:variant>
    </vt:vector>
  </HeadingPairs>
  <TitlesOfParts>
    <vt:vector size="66" baseType="lpstr">
      <vt:lpstr>Aharoni</vt:lpstr>
      <vt:lpstr>ＭＳ Ｐゴシック</vt:lpstr>
      <vt:lpstr>ＭＳ Ｐゴシック</vt:lpstr>
      <vt:lpstr>黑体</vt:lpstr>
      <vt:lpstr>Arial</vt:lpstr>
      <vt:lpstr>Georgia</vt:lpstr>
      <vt:lpstr>Times New Roman</vt:lpstr>
      <vt:lpstr>Verdana</vt:lpstr>
      <vt:lpstr>Wingdings</vt:lpstr>
      <vt:lpstr>508 Lecture</vt:lpstr>
      <vt:lpstr>Financial Accounting, IFRS</vt:lpstr>
      <vt:lpstr>Chapter 1 Review</vt:lpstr>
      <vt:lpstr>Chapter 1 Review</vt:lpstr>
      <vt:lpstr>PowerPoint 演示文稿</vt:lpstr>
      <vt:lpstr>Transactions</vt:lpstr>
      <vt:lpstr>PowerPoint 演示文稿</vt:lpstr>
      <vt:lpstr>PowerPoint 演示文稿</vt:lpstr>
      <vt:lpstr>Assets</vt:lpstr>
      <vt:lpstr>Liabilities</vt:lpstr>
      <vt:lpstr>Shareholders’ Equity</vt:lpstr>
      <vt:lpstr>Chart of Accounts: RedLotus Security </vt:lpstr>
      <vt:lpstr>Transaction 1</vt:lpstr>
      <vt:lpstr>Transaction 2</vt:lpstr>
      <vt:lpstr>Transaction 3</vt:lpstr>
      <vt:lpstr>Transaction 4</vt:lpstr>
      <vt:lpstr>Transaction 5</vt:lpstr>
      <vt:lpstr>Transaction 6</vt:lpstr>
      <vt:lpstr>Transaction 7</vt:lpstr>
      <vt:lpstr>Transaction 8</vt:lpstr>
      <vt:lpstr>Transaction 9</vt:lpstr>
      <vt:lpstr>Transaction 10</vt:lpstr>
      <vt:lpstr>Transaction 11</vt:lpstr>
      <vt:lpstr>Transaction Analysis: RedLotus Security</vt:lpstr>
      <vt:lpstr>Double-Entry Accounting</vt:lpstr>
      <vt:lpstr>PowerPoint 演示文稿</vt:lpstr>
      <vt:lpstr>T-Account</vt:lpstr>
      <vt:lpstr>Rules of Debit and Credit</vt:lpstr>
      <vt:lpstr>Expansion of the Accounting Equation</vt:lpstr>
      <vt:lpstr>Rules of Debit and Credit</vt:lpstr>
      <vt:lpstr>Normal Balances of Accounts</vt:lpstr>
      <vt:lpstr>Flow of Accounting Data</vt:lpstr>
      <vt:lpstr>Record (Journalize and Post) Transactions in the Books</vt:lpstr>
      <vt:lpstr>Record (Journalize and Post) Transactions in the Books</vt:lpstr>
      <vt:lpstr>Journal Entry and Posting to the Accounts</vt:lpstr>
      <vt:lpstr>The Ledger</vt:lpstr>
      <vt:lpstr>Record Journals Transaction 1 Analysis</vt:lpstr>
      <vt:lpstr>Transaction 2 Analysis</vt:lpstr>
      <vt:lpstr>Transaction 3 Analysis</vt:lpstr>
      <vt:lpstr>Transaction 4 Analysis</vt:lpstr>
      <vt:lpstr>Transaction 5 Analysis</vt:lpstr>
      <vt:lpstr>Transaction 6 Analysis</vt:lpstr>
      <vt:lpstr>Transaction 7 Analysis</vt:lpstr>
      <vt:lpstr>Transaction 8 Analysis</vt:lpstr>
      <vt:lpstr>Transaction 9 Analysis</vt:lpstr>
      <vt:lpstr>Transaction 10 Analysis</vt:lpstr>
      <vt:lpstr>Transaction 11 Analysis</vt:lpstr>
      <vt:lpstr>RedLotus Security’s Ledger Accounts after Posting</vt:lpstr>
      <vt:lpstr>Construct and Use a Trial Balance</vt:lpstr>
      <vt:lpstr>Trial Balance</vt:lpstr>
      <vt:lpstr>Analyzing Accounts (1 of 3)</vt:lpstr>
      <vt:lpstr>Analyzing Accounts (2 of 3)</vt:lpstr>
      <vt:lpstr>Analyzing Accounts (3 of 3)</vt:lpstr>
      <vt:lpstr>Correcting Accounting Errors</vt:lpstr>
      <vt:lpstr>Account in Four-Column Format</vt:lpstr>
      <vt:lpstr>PowerPoint 演示文稿</vt:lpstr>
      <vt:lpstr>PowerPoint 演示文稿</vt:lpstr>
    </vt:vector>
  </TitlesOfParts>
  <Company>SPi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Accounting, Eleventh Edition</dc:title>
  <dc:subject>Business</dc:subject>
  <dc:creator>Harrison/Horngren/Thomas/Tietz</dc:creator>
  <cp:keywords>Financial Accounting</cp:keywords>
  <cp:lastModifiedBy>Admin</cp:lastModifiedBy>
  <cp:revision>1053</cp:revision>
  <dcterms:created xsi:type="dcterms:W3CDTF">2014-07-14T20:04:21Z</dcterms:created>
  <dcterms:modified xsi:type="dcterms:W3CDTF">2025-10-10T08:21:23Z</dcterms:modified>
</cp:coreProperties>
</file>